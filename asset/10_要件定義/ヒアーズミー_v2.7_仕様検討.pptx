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3" r:id="rId4"/>
    <p:sldId id="260" r:id="rId5"/>
    <p:sldId id="262" r:id="rId6"/>
    <p:sldId id="264" r:id="rId7"/>
    <p:sldId id="272" r:id="rId8"/>
    <p:sldId id="266" r:id="rId9"/>
    <p:sldId id="268" r:id="rId10"/>
    <p:sldId id="265" r:id="rId11"/>
    <p:sldId id="269" r:id="rId12"/>
    <p:sldId id="270" r:id="rId13"/>
    <p:sldId id="271"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1D1"/>
    <a:srgbClr val="CCEC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32" autoAdjust="0"/>
    <p:restoredTop sz="94660"/>
  </p:normalViewPr>
  <p:slideViewPr>
    <p:cSldViewPr snapToGrid="0">
      <p:cViewPr>
        <p:scale>
          <a:sx n="66" d="100"/>
          <a:sy n="66" d="100"/>
        </p:scale>
        <p:origin x="3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6F87C424-54AF-41AD-B79A-FE8767C5AD8A}" type="datetimeFigureOut">
              <a:rPr kumimoji="1" lang="ja-JP" altLang="en-US" smtClean="0"/>
              <a:t>2022/12/1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5D7FFEB5-17CA-4401-87CD-5BC0F2B7809B}" type="slidenum">
              <a:rPr kumimoji="1" lang="ja-JP" altLang="en-US" smtClean="0"/>
              <a:t>‹#›</a:t>
            </a:fld>
            <a:endParaRPr kumimoji="1" lang="ja-JP" altLang="en-US"/>
          </a:p>
        </p:txBody>
      </p:sp>
    </p:spTree>
    <p:extLst>
      <p:ext uri="{BB962C8B-B14F-4D97-AF65-F5344CB8AC3E}">
        <p14:creationId xmlns:p14="http://schemas.microsoft.com/office/powerpoint/2010/main" val="3020892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6F87C424-54AF-41AD-B79A-FE8767C5AD8A}" type="datetimeFigureOut">
              <a:rPr kumimoji="1" lang="ja-JP" altLang="en-US" smtClean="0"/>
              <a:t>2022/12/1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5D7FFEB5-17CA-4401-87CD-5BC0F2B7809B}" type="slidenum">
              <a:rPr kumimoji="1" lang="ja-JP" altLang="en-US" smtClean="0"/>
              <a:t>‹#›</a:t>
            </a:fld>
            <a:endParaRPr kumimoji="1" lang="ja-JP" altLang="en-US"/>
          </a:p>
        </p:txBody>
      </p:sp>
    </p:spTree>
    <p:extLst>
      <p:ext uri="{BB962C8B-B14F-4D97-AF65-F5344CB8AC3E}">
        <p14:creationId xmlns:p14="http://schemas.microsoft.com/office/powerpoint/2010/main" val="3752658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6F87C424-54AF-41AD-B79A-FE8767C5AD8A}" type="datetimeFigureOut">
              <a:rPr kumimoji="1" lang="ja-JP" altLang="en-US" smtClean="0"/>
              <a:t>2022/12/1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5D7FFEB5-17CA-4401-87CD-5BC0F2B7809B}" type="slidenum">
              <a:rPr kumimoji="1" lang="ja-JP" altLang="en-US" smtClean="0"/>
              <a:t>‹#›</a:t>
            </a:fld>
            <a:endParaRPr kumimoji="1" lang="ja-JP" altLang="en-US"/>
          </a:p>
        </p:txBody>
      </p:sp>
    </p:spTree>
    <p:extLst>
      <p:ext uri="{BB962C8B-B14F-4D97-AF65-F5344CB8AC3E}">
        <p14:creationId xmlns:p14="http://schemas.microsoft.com/office/powerpoint/2010/main" val="1657744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6F87C424-54AF-41AD-B79A-FE8767C5AD8A}" type="datetimeFigureOut">
              <a:rPr kumimoji="1" lang="ja-JP" altLang="en-US" smtClean="0"/>
              <a:t>2022/12/1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5D7FFEB5-17CA-4401-87CD-5BC0F2B7809B}" type="slidenum">
              <a:rPr kumimoji="1" lang="ja-JP" altLang="en-US" smtClean="0"/>
              <a:t>‹#›</a:t>
            </a:fld>
            <a:endParaRPr kumimoji="1" lang="ja-JP" altLang="en-US"/>
          </a:p>
        </p:txBody>
      </p:sp>
    </p:spTree>
    <p:extLst>
      <p:ext uri="{BB962C8B-B14F-4D97-AF65-F5344CB8AC3E}">
        <p14:creationId xmlns:p14="http://schemas.microsoft.com/office/powerpoint/2010/main" val="3063769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6F87C424-54AF-41AD-B79A-FE8767C5AD8A}" type="datetimeFigureOut">
              <a:rPr kumimoji="1" lang="ja-JP" altLang="en-US" smtClean="0"/>
              <a:t>2022/12/1</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5D7FFEB5-17CA-4401-87CD-5BC0F2B7809B}" type="slidenum">
              <a:rPr kumimoji="1" lang="ja-JP" altLang="en-US" smtClean="0"/>
              <a:t>‹#›</a:t>
            </a:fld>
            <a:endParaRPr kumimoji="1" lang="ja-JP" altLang="en-US"/>
          </a:p>
        </p:txBody>
      </p:sp>
    </p:spTree>
    <p:extLst>
      <p:ext uri="{BB962C8B-B14F-4D97-AF65-F5344CB8AC3E}">
        <p14:creationId xmlns:p14="http://schemas.microsoft.com/office/powerpoint/2010/main" val="1823049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6F87C424-54AF-41AD-B79A-FE8767C5AD8A}" type="datetimeFigureOut">
              <a:rPr kumimoji="1" lang="ja-JP" altLang="en-US" smtClean="0"/>
              <a:t>2022/12/1</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5D7FFEB5-17CA-4401-87CD-5BC0F2B7809B}" type="slidenum">
              <a:rPr kumimoji="1" lang="ja-JP" altLang="en-US" smtClean="0"/>
              <a:t>‹#›</a:t>
            </a:fld>
            <a:endParaRPr kumimoji="1" lang="ja-JP" altLang="en-US"/>
          </a:p>
        </p:txBody>
      </p:sp>
    </p:spTree>
    <p:extLst>
      <p:ext uri="{BB962C8B-B14F-4D97-AF65-F5344CB8AC3E}">
        <p14:creationId xmlns:p14="http://schemas.microsoft.com/office/powerpoint/2010/main" val="2758866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6F87C424-54AF-41AD-B79A-FE8767C5AD8A}" type="datetimeFigureOut">
              <a:rPr kumimoji="1" lang="ja-JP" altLang="en-US" smtClean="0"/>
              <a:t>2022/12/1</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5D7FFEB5-17CA-4401-87CD-5BC0F2B7809B}" type="slidenum">
              <a:rPr kumimoji="1" lang="ja-JP" altLang="en-US" smtClean="0"/>
              <a:t>‹#›</a:t>
            </a:fld>
            <a:endParaRPr kumimoji="1" lang="ja-JP" altLang="en-US"/>
          </a:p>
        </p:txBody>
      </p:sp>
    </p:spTree>
    <p:extLst>
      <p:ext uri="{BB962C8B-B14F-4D97-AF65-F5344CB8AC3E}">
        <p14:creationId xmlns:p14="http://schemas.microsoft.com/office/powerpoint/2010/main" val="3161996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6F87C424-54AF-41AD-B79A-FE8767C5AD8A}" type="datetimeFigureOut">
              <a:rPr kumimoji="1" lang="ja-JP" altLang="en-US" smtClean="0"/>
              <a:t>2022/12/1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5D7FFEB5-17CA-4401-87CD-5BC0F2B7809B}" type="slidenum">
              <a:rPr kumimoji="1" lang="ja-JP" altLang="en-US" smtClean="0"/>
              <a:t>‹#›</a:t>
            </a:fld>
            <a:endParaRPr kumimoji="1" lang="ja-JP" altLang="en-US"/>
          </a:p>
        </p:txBody>
      </p:sp>
    </p:spTree>
    <p:extLst>
      <p:ext uri="{BB962C8B-B14F-4D97-AF65-F5344CB8AC3E}">
        <p14:creationId xmlns:p14="http://schemas.microsoft.com/office/powerpoint/2010/main" val="1676011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6F87C424-54AF-41AD-B79A-FE8767C5AD8A}" type="datetimeFigureOut">
              <a:rPr kumimoji="1" lang="ja-JP" altLang="en-US" smtClean="0"/>
              <a:t>2022/12/1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5D7FFEB5-17CA-4401-87CD-5BC0F2B7809B}" type="slidenum">
              <a:rPr kumimoji="1" lang="ja-JP" altLang="en-US" smtClean="0"/>
              <a:t>‹#›</a:t>
            </a:fld>
            <a:endParaRPr kumimoji="1" lang="ja-JP" altLang="en-US"/>
          </a:p>
        </p:txBody>
      </p:sp>
    </p:spTree>
    <p:extLst>
      <p:ext uri="{BB962C8B-B14F-4D97-AF65-F5344CB8AC3E}">
        <p14:creationId xmlns:p14="http://schemas.microsoft.com/office/powerpoint/2010/main" val="786024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6F87C424-54AF-41AD-B79A-FE8767C5AD8A}" type="datetimeFigureOut">
              <a:rPr kumimoji="1" lang="ja-JP" altLang="en-US" smtClean="0"/>
              <a:t>2022/12/1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5D7FFEB5-17CA-4401-87CD-5BC0F2B7809B}" type="slidenum">
              <a:rPr kumimoji="1" lang="ja-JP" altLang="en-US" smtClean="0"/>
              <a:t>‹#›</a:t>
            </a:fld>
            <a:endParaRPr kumimoji="1" lang="ja-JP" altLang="en-US"/>
          </a:p>
        </p:txBody>
      </p:sp>
    </p:spTree>
    <p:extLst>
      <p:ext uri="{BB962C8B-B14F-4D97-AF65-F5344CB8AC3E}">
        <p14:creationId xmlns:p14="http://schemas.microsoft.com/office/powerpoint/2010/main" val="4266627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6F87C424-54AF-41AD-B79A-FE8767C5AD8A}" type="datetimeFigureOut">
              <a:rPr kumimoji="1" lang="ja-JP" altLang="en-US" smtClean="0"/>
              <a:t>2022/12/1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5D7FFEB5-17CA-4401-87CD-5BC0F2B7809B}" type="slidenum">
              <a:rPr kumimoji="1" lang="ja-JP" altLang="en-US" smtClean="0"/>
              <a:t>‹#›</a:t>
            </a:fld>
            <a:endParaRPr kumimoji="1" lang="ja-JP" altLang="en-US"/>
          </a:p>
        </p:txBody>
      </p:sp>
    </p:spTree>
    <p:extLst>
      <p:ext uri="{BB962C8B-B14F-4D97-AF65-F5344CB8AC3E}">
        <p14:creationId xmlns:p14="http://schemas.microsoft.com/office/powerpoint/2010/main" val="79834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7C424-54AF-41AD-B79A-FE8767C5AD8A}" type="datetimeFigureOut">
              <a:rPr kumimoji="1" lang="ja-JP" altLang="en-US" smtClean="0"/>
              <a:t>2022/12/1</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7FFEB5-17CA-4401-87CD-5BC0F2B7809B}" type="slidenum">
              <a:rPr kumimoji="1" lang="ja-JP" altLang="en-US" smtClean="0"/>
              <a:t>‹#›</a:t>
            </a:fld>
            <a:endParaRPr kumimoji="1" lang="ja-JP" altLang="en-US"/>
          </a:p>
        </p:txBody>
      </p:sp>
    </p:spTree>
    <p:extLst>
      <p:ext uri="{BB962C8B-B14F-4D97-AF65-F5344CB8AC3E}">
        <p14:creationId xmlns:p14="http://schemas.microsoft.com/office/powerpoint/2010/main" val="622816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stretch>
            <a:fillRect/>
          </a:stretch>
        </p:blipFill>
        <p:spPr>
          <a:xfrm>
            <a:off x="1526064" y="1064686"/>
            <a:ext cx="8772669" cy="5374123"/>
          </a:xfrm>
          <a:prstGeom prst="rect">
            <a:avLst/>
          </a:prstGeom>
        </p:spPr>
      </p:pic>
      <p:sp>
        <p:nvSpPr>
          <p:cNvPr id="5" name="テキスト ボックス 4"/>
          <p:cNvSpPr txBox="1"/>
          <p:nvPr/>
        </p:nvSpPr>
        <p:spPr>
          <a:xfrm>
            <a:off x="1562464" y="4584209"/>
            <a:ext cx="875899" cy="230832"/>
          </a:xfrm>
          <a:prstGeom prst="rect">
            <a:avLst/>
          </a:prstGeom>
          <a:noFill/>
        </p:spPr>
        <p:txBody>
          <a:bodyPr wrap="square" rtlCol="0">
            <a:spAutoFit/>
          </a:bodyPr>
          <a:lstStyle/>
          <a:p>
            <a:r>
              <a:rPr kumimoji="1" lang="ja-JP" altLang="en-US" sz="900" b="1" dirty="0" smtClean="0">
                <a:solidFill>
                  <a:schemeClr val="bg1"/>
                </a:solidFill>
                <a:latin typeface="メイリオ" panose="020B0604030504040204" pitchFamily="50" charset="-128"/>
                <a:ea typeface="メイリオ" panose="020B0604030504040204" pitchFamily="50" charset="-128"/>
              </a:rPr>
              <a:t>設定</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6" name="テキスト ボックス 5"/>
          <p:cNvSpPr txBox="1"/>
          <p:nvPr/>
        </p:nvSpPr>
        <p:spPr>
          <a:xfrm>
            <a:off x="1562464" y="5082496"/>
            <a:ext cx="1318164" cy="230832"/>
          </a:xfrm>
          <a:prstGeom prst="rect">
            <a:avLst/>
          </a:prstGeom>
          <a:noFill/>
        </p:spPr>
        <p:txBody>
          <a:bodyPr wrap="square" rtlCol="0">
            <a:spAutoFit/>
          </a:bodyPr>
          <a:lstStyle/>
          <a:p>
            <a:r>
              <a:rPr kumimoji="1" lang="ja-JP" altLang="en-US" sz="900" b="1" dirty="0" smtClean="0">
                <a:solidFill>
                  <a:schemeClr val="tx1">
                    <a:lumMod val="65000"/>
                    <a:lumOff val="35000"/>
                  </a:schemeClr>
                </a:solidFill>
                <a:latin typeface="メイリオ" panose="020B0604030504040204" pitchFamily="50" charset="-128"/>
                <a:ea typeface="メイリオ" panose="020B0604030504040204" pitchFamily="50" charset="-128"/>
              </a:rPr>
              <a:t>セキュリティ</a:t>
            </a:r>
            <a:endPar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 name="正方形/長方形 7"/>
          <p:cNvSpPr/>
          <p:nvPr/>
        </p:nvSpPr>
        <p:spPr>
          <a:xfrm>
            <a:off x="4038600" y="2133027"/>
            <a:ext cx="5526858" cy="2491784"/>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p:cNvSpPr txBox="1"/>
          <p:nvPr/>
        </p:nvSpPr>
        <p:spPr>
          <a:xfrm>
            <a:off x="4316053" y="2265807"/>
            <a:ext cx="3403519" cy="246221"/>
          </a:xfrm>
          <a:prstGeom prst="rect">
            <a:avLst/>
          </a:prstGeom>
          <a:noFill/>
        </p:spPr>
        <p:txBody>
          <a:bodyPr wrap="square" rtlCol="0">
            <a:spAutoFit/>
          </a:bodyPr>
          <a:lstStyle/>
          <a:p>
            <a:r>
              <a:rPr lang="ja-JP" altLang="en-US" sz="1000" dirty="0" smtClean="0">
                <a:latin typeface="メイリオ" panose="020B0604030504040204" pitchFamily="50" charset="-128"/>
                <a:ea typeface="メイリオ" panose="020B0604030504040204" pitchFamily="50" charset="-128"/>
              </a:rPr>
              <a:t>ヒアーズミーにアクセスする</a:t>
            </a:r>
            <a:r>
              <a:rPr lang="en-US" altLang="ja-JP" sz="1000" dirty="0" smtClean="0">
                <a:latin typeface="メイリオ" panose="020B0604030504040204" pitchFamily="50" charset="-128"/>
                <a:ea typeface="メイリオ" panose="020B0604030504040204" pitchFamily="50" charset="-128"/>
              </a:rPr>
              <a:t>IP</a:t>
            </a:r>
            <a:r>
              <a:rPr lang="ja-JP" altLang="en-US" sz="1000" dirty="0" smtClean="0">
                <a:latin typeface="メイリオ" panose="020B0604030504040204" pitchFamily="50" charset="-128"/>
                <a:ea typeface="メイリオ" panose="020B0604030504040204" pitchFamily="50" charset="-128"/>
              </a:rPr>
              <a:t>アドレスを制限</a:t>
            </a:r>
            <a:endParaRPr kumimoji="1" lang="ja-JP" altLang="en-US" sz="1000" dirty="0">
              <a:latin typeface="メイリオ" panose="020B0604030504040204" pitchFamily="50" charset="-128"/>
              <a:ea typeface="メイリオ" panose="020B0604030504040204" pitchFamily="50" charset="-128"/>
            </a:endParaRPr>
          </a:p>
        </p:txBody>
      </p:sp>
      <p:sp>
        <p:nvSpPr>
          <p:cNvPr id="18" name="テキスト ボックス 17"/>
          <p:cNvSpPr txBox="1"/>
          <p:nvPr/>
        </p:nvSpPr>
        <p:spPr>
          <a:xfrm>
            <a:off x="4038600" y="1886806"/>
            <a:ext cx="1674330" cy="276999"/>
          </a:xfrm>
          <a:prstGeom prst="rect">
            <a:avLst/>
          </a:prstGeom>
          <a:noFill/>
        </p:spPr>
        <p:txBody>
          <a:bodyPr wrap="square" rtlCol="0">
            <a:spAutoFit/>
          </a:bodyPr>
          <a:lstStyle/>
          <a:p>
            <a:r>
              <a:rPr kumimoji="1" lang="en-US" altLang="ja-JP" sz="1200" b="1" dirty="0" smtClean="0">
                <a:solidFill>
                  <a:schemeClr val="tx1">
                    <a:lumMod val="65000"/>
                    <a:lumOff val="35000"/>
                  </a:schemeClr>
                </a:solidFill>
                <a:latin typeface="メイリオ" panose="020B0604030504040204" pitchFamily="50" charset="-128"/>
                <a:ea typeface="メイリオ" panose="020B0604030504040204" pitchFamily="50" charset="-128"/>
              </a:rPr>
              <a:t>IP</a:t>
            </a:r>
            <a:r>
              <a:rPr kumimoji="1" lang="ja-JP" altLang="en-US" sz="1200" b="1" dirty="0" smtClean="0">
                <a:solidFill>
                  <a:schemeClr val="tx1">
                    <a:lumMod val="65000"/>
                    <a:lumOff val="35000"/>
                  </a:schemeClr>
                </a:solidFill>
                <a:latin typeface="メイリオ" panose="020B0604030504040204" pitchFamily="50" charset="-128"/>
                <a:ea typeface="メイリオ" panose="020B0604030504040204" pitchFamily="50" charset="-128"/>
              </a:rPr>
              <a:t>アドレス制限</a:t>
            </a:r>
            <a:endParaRPr kumimoji="1" lang="ja-JP" altLang="en-US" sz="12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1" name="角丸四角形 20"/>
          <p:cNvSpPr/>
          <p:nvPr/>
        </p:nvSpPr>
        <p:spPr>
          <a:xfrm>
            <a:off x="4462506" y="3552777"/>
            <a:ext cx="2036807" cy="216000"/>
          </a:xfrm>
          <a:prstGeom prst="roundRect">
            <a:avLst>
              <a:gd name="adj" fmla="val 10788"/>
            </a:avLst>
          </a:prstGeom>
          <a:solidFill>
            <a:schemeClr val="bg1"/>
          </a:solidFill>
          <a:ln w="6350">
            <a:solidFill>
              <a:schemeClr val="bg1">
                <a:lumMod val="75000"/>
              </a:schemeClr>
            </a:solidFill>
          </a:ln>
          <a:effectLst>
            <a:innerShdw blurRad="12700" dist="12700" dir="18900000">
              <a:schemeClr val="bg1">
                <a:lumMod val="6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角丸四角形 25"/>
          <p:cNvSpPr/>
          <p:nvPr/>
        </p:nvSpPr>
        <p:spPr>
          <a:xfrm>
            <a:off x="6566475" y="3552777"/>
            <a:ext cx="1155214" cy="216000"/>
          </a:xfrm>
          <a:prstGeom prst="roundRect">
            <a:avLst>
              <a:gd name="adj" fmla="val 10788"/>
            </a:avLst>
          </a:prstGeom>
          <a:solidFill>
            <a:schemeClr val="bg1"/>
          </a:solidFill>
          <a:ln w="6350">
            <a:solidFill>
              <a:schemeClr val="bg1">
                <a:lumMod val="75000"/>
              </a:schemeClr>
            </a:solidFill>
          </a:ln>
          <a:effectLst>
            <a:innerShdw blurRad="12700" dist="12700" dir="18900000">
              <a:schemeClr val="bg1">
                <a:lumMod val="6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p:cNvSpPr txBox="1"/>
          <p:nvPr/>
        </p:nvSpPr>
        <p:spPr>
          <a:xfrm>
            <a:off x="7719573" y="3568678"/>
            <a:ext cx="190500" cy="246221"/>
          </a:xfrm>
          <a:prstGeom prst="rect">
            <a:avLst/>
          </a:prstGeom>
          <a:noFill/>
        </p:spPr>
        <p:txBody>
          <a:bodyPr wrap="square" rtlCol="0">
            <a:spAutoFit/>
          </a:bodyPr>
          <a:lstStyle/>
          <a:p>
            <a:r>
              <a:rPr kumimoji="1" lang="en-US" altLang="ja-JP" sz="1000" b="1" dirty="0" smtClean="0">
                <a:latin typeface="メイリオ" panose="020B0604030504040204" pitchFamily="50" charset="-128"/>
                <a:ea typeface="メイリオ" panose="020B0604030504040204" pitchFamily="50" charset="-128"/>
              </a:rPr>
              <a:t>×</a:t>
            </a:r>
            <a:endParaRPr kumimoji="1" lang="ja-JP" altLang="en-US" sz="1000" b="1" dirty="0">
              <a:latin typeface="メイリオ" panose="020B0604030504040204" pitchFamily="50" charset="-128"/>
              <a:ea typeface="メイリオ" panose="020B0604030504040204" pitchFamily="50" charset="-128"/>
            </a:endParaRPr>
          </a:p>
        </p:txBody>
      </p:sp>
      <p:sp>
        <p:nvSpPr>
          <p:cNvPr id="41" name="テキスト ボックス 40"/>
          <p:cNvSpPr txBox="1"/>
          <p:nvPr/>
        </p:nvSpPr>
        <p:spPr>
          <a:xfrm>
            <a:off x="5544705" y="1928811"/>
            <a:ext cx="3440005" cy="230832"/>
          </a:xfrm>
          <a:prstGeom prst="rect">
            <a:avLst/>
          </a:prstGeom>
          <a:noFill/>
        </p:spPr>
        <p:txBody>
          <a:bodyPr wrap="square" rtlCol="0">
            <a:spAutoFit/>
          </a:bodyPr>
          <a:lstStyle/>
          <a:p>
            <a:r>
              <a:rPr kumimoji="1" lang="ja-JP" altLang="en-US" sz="900" dirty="0" smtClean="0"/>
              <a:t>現在ご利用中の</a:t>
            </a:r>
            <a:r>
              <a:rPr kumimoji="1" lang="en-US" altLang="ja-JP" sz="900" dirty="0" smtClean="0"/>
              <a:t>IP</a:t>
            </a:r>
            <a:r>
              <a:rPr kumimoji="1" lang="ja-JP" altLang="en-US" sz="900" dirty="0" smtClean="0"/>
              <a:t>アドレス</a:t>
            </a:r>
            <a:r>
              <a:rPr kumimoji="1" lang="en-US" altLang="ja-JP" sz="900" dirty="0" smtClean="0"/>
              <a:t>(XXX.XXX.XXX.XXX)</a:t>
            </a:r>
            <a:endParaRPr kumimoji="1" lang="ja-JP" altLang="en-US" sz="900" dirty="0"/>
          </a:p>
        </p:txBody>
      </p:sp>
      <p:sp>
        <p:nvSpPr>
          <p:cNvPr id="42" name="テキスト ボックス 41"/>
          <p:cNvSpPr txBox="1"/>
          <p:nvPr/>
        </p:nvSpPr>
        <p:spPr>
          <a:xfrm>
            <a:off x="4462505" y="3562026"/>
            <a:ext cx="2004487" cy="215444"/>
          </a:xfrm>
          <a:prstGeom prst="rect">
            <a:avLst/>
          </a:prstGeom>
          <a:noFill/>
        </p:spPr>
        <p:txBody>
          <a:bodyPr wrap="square" rtlCol="0">
            <a:spAutoFit/>
          </a:bodyPr>
          <a:lstStyle/>
          <a:p>
            <a:r>
              <a:rPr kumimoji="1" lang="ja-JP" altLang="en-US" sz="800" dirty="0" smtClean="0">
                <a:solidFill>
                  <a:schemeClr val="bg1">
                    <a:lumMod val="75000"/>
                  </a:schemeClr>
                </a:solidFill>
              </a:rPr>
              <a:t>名称（例：山田太郎、○○支社）</a:t>
            </a:r>
            <a:endParaRPr kumimoji="1" lang="ja-JP" altLang="en-US" sz="800" dirty="0">
              <a:solidFill>
                <a:schemeClr val="bg1">
                  <a:lumMod val="75000"/>
                </a:schemeClr>
              </a:solidFill>
            </a:endParaRPr>
          </a:p>
        </p:txBody>
      </p:sp>
      <p:sp>
        <p:nvSpPr>
          <p:cNvPr id="43" name="テキスト ボックス 42"/>
          <p:cNvSpPr txBox="1"/>
          <p:nvPr/>
        </p:nvSpPr>
        <p:spPr>
          <a:xfrm>
            <a:off x="6543123" y="3568316"/>
            <a:ext cx="1280078" cy="215444"/>
          </a:xfrm>
          <a:prstGeom prst="rect">
            <a:avLst/>
          </a:prstGeom>
          <a:noFill/>
        </p:spPr>
        <p:txBody>
          <a:bodyPr wrap="square" rtlCol="0">
            <a:spAutoFit/>
          </a:bodyPr>
          <a:lstStyle/>
          <a:p>
            <a:r>
              <a:rPr lang="en-US" altLang="ja-JP" sz="800" dirty="0" smtClean="0">
                <a:solidFill>
                  <a:schemeClr val="bg1">
                    <a:lumMod val="75000"/>
                  </a:schemeClr>
                </a:solidFill>
              </a:rPr>
              <a:t>IP</a:t>
            </a:r>
            <a:r>
              <a:rPr lang="ja-JP" altLang="en-US" sz="800" dirty="0" smtClean="0">
                <a:solidFill>
                  <a:schemeClr val="bg1">
                    <a:lumMod val="75000"/>
                  </a:schemeClr>
                </a:solidFill>
              </a:rPr>
              <a:t>アドレス</a:t>
            </a:r>
            <a:endParaRPr kumimoji="1" lang="ja-JP" altLang="en-US" sz="800" dirty="0">
              <a:solidFill>
                <a:schemeClr val="bg1">
                  <a:lumMod val="75000"/>
                </a:schemeClr>
              </a:solidFill>
            </a:endParaRPr>
          </a:p>
        </p:txBody>
      </p:sp>
      <p:sp>
        <p:nvSpPr>
          <p:cNvPr id="49" name="四角形吹き出し 48"/>
          <p:cNvSpPr/>
          <p:nvPr/>
        </p:nvSpPr>
        <p:spPr>
          <a:xfrm>
            <a:off x="9063192" y="1285725"/>
            <a:ext cx="3419345" cy="767074"/>
          </a:xfrm>
          <a:prstGeom prst="wedgeRectCallout">
            <a:avLst>
              <a:gd name="adj1" fmla="val -74669"/>
              <a:gd name="adj2" fmla="val 48815"/>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smtClean="0">
                <a:solidFill>
                  <a:schemeClr val="tx1"/>
                </a:solidFill>
              </a:rPr>
              <a:t>アクセス元の</a:t>
            </a:r>
            <a:r>
              <a:rPr kumimoji="1" lang="en-US" altLang="ja-JP" sz="1400" dirty="0" smtClean="0">
                <a:solidFill>
                  <a:schemeClr val="tx1"/>
                </a:solidFill>
              </a:rPr>
              <a:t>IP</a:t>
            </a:r>
            <a:r>
              <a:rPr kumimoji="1" lang="ja-JP" altLang="en-US" sz="1400" dirty="0" smtClean="0">
                <a:solidFill>
                  <a:schemeClr val="tx1"/>
                </a:solidFill>
              </a:rPr>
              <a:t>アドレスを表示</a:t>
            </a:r>
            <a:endParaRPr kumimoji="1" lang="en-US" altLang="ja-JP" sz="1400" dirty="0" smtClean="0">
              <a:solidFill>
                <a:schemeClr val="tx1"/>
              </a:solidFill>
            </a:endParaRPr>
          </a:p>
          <a:p>
            <a:r>
              <a:rPr lang="ja-JP" altLang="en-US" sz="1400" dirty="0" smtClean="0">
                <a:solidFill>
                  <a:schemeClr val="tx1"/>
                </a:solidFill>
              </a:rPr>
              <a:t>（自分の</a:t>
            </a:r>
            <a:r>
              <a:rPr lang="en-US" altLang="ja-JP" sz="1400" dirty="0" smtClean="0">
                <a:solidFill>
                  <a:schemeClr val="tx1"/>
                </a:solidFill>
              </a:rPr>
              <a:t>IP</a:t>
            </a:r>
            <a:r>
              <a:rPr lang="ja-JP" altLang="en-US" sz="1400" dirty="0" smtClean="0">
                <a:solidFill>
                  <a:schemeClr val="tx1"/>
                </a:solidFill>
              </a:rPr>
              <a:t>を含め忘れないようにする）</a:t>
            </a:r>
            <a:endParaRPr kumimoji="1" lang="ja-JP" altLang="en-US" sz="1400" dirty="0">
              <a:solidFill>
                <a:schemeClr val="tx1"/>
              </a:solidFill>
            </a:endParaRPr>
          </a:p>
        </p:txBody>
      </p:sp>
      <p:sp>
        <p:nvSpPr>
          <p:cNvPr id="50" name="四角形吹き出し 49"/>
          <p:cNvSpPr/>
          <p:nvPr/>
        </p:nvSpPr>
        <p:spPr>
          <a:xfrm>
            <a:off x="8321089" y="3023768"/>
            <a:ext cx="3436712" cy="583962"/>
          </a:xfrm>
          <a:prstGeom prst="wedgeRectCallout">
            <a:avLst>
              <a:gd name="adj1" fmla="val -61522"/>
              <a:gd name="adj2" fmla="val 16188"/>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400" dirty="0" smtClean="0">
                <a:solidFill>
                  <a:schemeClr val="tx1"/>
                </a:solidFill>
              </a:rPr>
              <a:t>×</a:t>
            </a:r>
            <a:r>
              <a:rPr kumimoji="1" lang="ja-JP" altLang="en-US" sz="1400" dirty="0" smtClean="0">
                <a:solidFill>
                  <a:schemeClr val="tx1"/>
                </a:solidFill>
              </a:rPr>
              <a:t>で削除</a:t>
            </a:r>
            <a:endParaRPr kumimoji="1" lang="en-US" altLang="ja-JP" sz="1400" dirty="0" smtClean="0">
              <a:solidFill>
                <a:schemeClr val="tx1"/>
              </a:solidFill>
            </a:endParaRPr>
          </a:p>
          <a:p>
            <a:r>
              <a:rPr lang="ja-JP" altLang="en-US" sz="1400" dirty="0" smtClean="0">
                <a:solidFill>
                  <a:schemeClr val="tx1"/>
                </a:solidFill>
              </a:rPr>
              <a:t>（入力フォームを空にする）</a:t>
            </a:r>
            <a:endParaRPr kumimoji="1" lang="ja-JP" altLang="en-US" sz="1400" dirty="0">
              <a:solidFill>
                <a:schemeClr val="tx1"/>
              </a:solidFill>
            </a:endParaRPr>
          </a:p>
        </p:txBody>
      </p:sp>
      <p:sp>
        <p:nvSpPr>
          <p:cNvPr id="51" name="正方形/長方形 50"/>
          <p:cNvSpPr/>
          <p:nvPr/>
        </p:nvSpPr>
        <p:spPr>
          <a:xfrm>
            <a:off x="4505325" y="4171285"/>
            <a:ext cx="756000" cy="216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p:cNvSpPr txBox="1"/>
          <p:nvPr/>
        </p:nvSpPr>
        <p:spPr>
          <a:xfrm>
            <a:off x="4512586" y="4162720"/>
            <a:ext cx="799755" cy="230832"/>
          </a:xfrm>
          <a:prstGeom prst="rect">
            <a:avLst/>
          </a:prstGeom>
          <a:noFill/>
        </p:spPr>
        <p:txBody>
          <a:bodyPr wrap="square" rtlCol="0">
            <a:spAutoFit/>
          </a:bodyPr>
          <a:lstStyle/>
          <a:p>
            <a:r>
              <a:rPr lang="ja-JP" altLang="en-US" sz="900" b="1" dirty="0">
                <a:solidFill>
                  <a:schemeClr val="bg1"/>
                </a:solidFill>
              </a:rPr>
              <a:t>サーバ</a:t>
            </a:r>
            <a:r>
              <a:rPr kumimoji="1" lang="ja-JP" altLang="en-US" sz="900" b="1" dirty="0" smtClean="0">
                <a:solidFill>
                  <a:schemeClr val="bg1"/>
                </a:solidFill>
              </a:rPr>
              <a:t>保存</a:t>
            </a:r>
            <a:endParaRPr kumimoji="1" lang="ja-JP" altLang="en-US" sz="900" b="1" dirty="0">
              <a:solidFill>
                <a:schemeClr val="bg1"/>
              </a:solidFill>
            </a:endParaRPr>
          </a:p>
        </p:txBody>
      </p:sp>
      <p:sp>
        <p:nvSpPr>
          <p:cNvPr id="53" name="テキスト ボックス 52"/>
          <p:cNvSpPr txBox="1"/>
          <p:nvPr/>
        </p:nvSpPr>
        <p:spPr>
          <a:xfrm>
            <a:off x="1526064" y="695354"/>
            <a:ext cx="2864130" cy="369332"/>
          </a:xfrm>
          <a:prstGeom prst="rect">
            <a:avLst/>
          </a:prstGeom>
          <a:noFill/>
        </p:spPr>
        <p:txBody>
          <a:bodyPr wrap="square" rtlCol="0">
            <a:spAutoFit/>
          </a:bodyPr>
          <a:lstStyle/>
          <a:p>
            <a:r>
              <a:rPr kumimoji="1"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管理ツール</a:t>
            </a:r>
            <a:endParaRPr kumimoji="1" lang="ja-JP" altLang="en-US"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4" name="四角形吹き出し 53"/>
          <p:cNvSpPr/>
          <p:nvPr/>
        </p:nvSpPr>
        <p:spPr>
          <a:xfrm>
            <a:off x="8321090" y="3665897"/>
            <a:ext cx="3436711" cy="1084209"/>
          </a:xfrm>
          <a:prstGeom prst="wedgeRectCallout">
            <a:avLst>
              <a:gd name="adj1" fmla="val -75176"/>
              <a:gd name="adj2" fmla="val -48694"/>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smtClean="0">
                <a:solidFill>
                  <a:schemeClr val="tx1"/>
                </a:solidFill>
              </a:rPr>
              <a:t>編集する場合はフォーム内の情報を直接書き換える。</a:t>
            </a:r>
            <a:endParaRPr kumimoji="1" lang="en-US" altLang="ja-JP" sz="1400" dirty="0" smtClean="0">
              <a:solidFill>
                <a:schemeClr val="tx1"/>
              </a:solidFill>
            </a:endParaRPr>
          </a:p>
          <a:p>
            <a:r>
              <a:rPr lang="ja-JP" altLang="en-US" sz="1400" dirty="0" smtClean="0">
                <a:solidFill>
                  <a:schemeClr val="tx1"/>
                </a:solidFill>
              </a:rPr>
              <a:t>（書き換えたことが分かるように背景色を付けるなどした方が良いか？）</a:t>
            </a:r>
            <a:endParaRPr kumimoji="1" lang="ja-JP" altLang="en-US" sz="1400" dirty="0">
              <a:solidFill>
                <a:schemeClr val="tx1"/>
              </a:solidFill>
            </a:endParaRPr>
          </a:p>
        </p:txBody>
      </p:sp>
      <p:sp>
        <p:nvSpPr>
          <p:cNvPr id="55" name="四角形吹き出し 54"/>
          <p:cNvSpPr/>
          <p:nvPr/>
        </p:nvSpPr>
        <p:spPr>
          <a:xfrm>
            <a:off x="3530778" y="4806003"/>
            <a:ext cx="4703523" cy="607892"/>
          </a:xfrm>
          <a:prstGeom prst="wedgeRectCallout">
            <a:avLst>
              <a:gd name="adj1" fmla="val -24667"/>
              <a:gd name="adj2" fmla="val -128701"/>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smtClean="0">
                <a:solidFill>
                  <a:schemeClr val="tx1"/>
                </a:solidFill>
              </a:rPr>
              <a:t>「サーバ保存</a:t>
            </a:r>
            <a:r>
              <a:rPr kumimoji="1" lang="ja-JP" altLang="en-US" sz="1400" dirty="0" smtClean="0">
                <a:solidFill>
                  <a:schemeClr val="tx1"/>
                </a:solidFill>
              </a:rPr>
              <a:t>」ボタンクリックで、入力内容を保存する。</a:t>
            </a:r>
            <a:endParaRPr kumimoji="1" lang="en-US" altLang="ja-JP" sz="1400" dirty="0" smtClean="0">
              <a:solidFill>
                <a:schemeClr val="tx1"/>
              </a:solidFill>
            </a:endParaRPr>
          </a:p>
          <a:p>
            <a:r>
              <a:rPr lang="ja-JP" altLang="en-US" sz="1400" dirty="0">
                <a:solidFill>
                  <a:schemeClr val="tx1"/>
                </a:solidFill>
              </a:rPr>
              <a:t>保存しない</a:t>
            </a:r>
            <a:r>
              <a:rPr lang="ja-JP" altLang="en-US" sz="1400" dirty="0" smtClean="0">
                <a:solidFill>
                  <a:schemeClr val="tx1"/>
                </a:solidFill>
              </a:rPr>
              <a:t>まま別の画面に</a:t>
            </a:r>
            <a:r>
              <a:rPr lang="ja-JP" altLang="en-US" sz="1400" dirty="0">
                <a:solidFill>
                  <a:schemeClr val="tx1"/>
                </a:solidFill>
              </a:rPr>
              <a:t>移動</a:t>
            </a:r>
            <a:r>
              <a:rPr lang="ja-JP" altLang="en-US" sz="1400" dirty="0" smtClean="0">
                <a:solidFill>
                  <a:schemeClr val="tx1"/>
                </a:solidFill>
              </a:rPr>
              <a:t>しようとすると警告する。</a:t>
            </a:r>
            <a:endParaRPr kumimoji="1" lang="ja-JP" altLang="en-US" sz="1400" dirty="0">
              <a:solidFill>
                <a:schemeClr val="tx1"/>
              </a:solidFill>
            </a:endParaRPr>
          </a:p>
        </p:txBody>
      </p:sp>
      <p:sp>
        <p:nvSpPr>
          <p:cNvPr id="58" name="四角形吹き出し 57"/>
          <p:cNvSpPr/>
          <p:nvPr/>
        </p:nvSpPr>
        <p:spPr>
          <a:xfrm>
            <a:off x="3518483" y="5524901"/>
            <a:ext cx="4698451" cy="1691230"/>
          </a:xfrm>
          <a:prstGeom prst="wedgeRectCallout">
            <a:avLst>
              <a:gd name="adj1" fmla="val -22599"/>
              <a:gd name="adj2" fmla="val -18605"/>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dirty="0" smtClean="0">
                <a:solidFill>
                  <a:schemeClr val="tx1"/>
                </a:solidFill>
              </a:rPr>
              <a:t>保存する際、</a:t>
            </a:r>
            <a:r>
              <a:rPr lang="en-US" altLang="ja-JP" sz="1400" dirty="0" smtClean="0">
                <a:solidFill>
                  <a:schemeClr val="tx1"/>
                </a:solidFill>
              </a:rPr>
              <a:t>IP</a:t>
            </a:r>
            <a:r>
              <a:rPr lang="ja-JP" altLang="en-US" sz="1400" dirty="0" smtClean="0">
                <a:solidFill>
                  <a:schemeClr val="tx1"/>
                </a:solidFill>
              </a:rPr>
              <a:t>リストにアクセス元の</a:t>
            </a:r>
            <a:r>
              <a:rPr lang="en-US" altLang="ja-JP" sz="1400" dirty="0" smtClean="0">
                <a:solidFill>
                  <a:schemeClr val="tx1"/>
                </a:solidFill>
              </a:rPr>
              <a:t>IP</a:t>
            </a:r>
            <a:r>
              <a:rPr lang="ja-JP" altLang="en-US" sz="1400" dirty="0" smtClean="0">
                <a:solidFill>
                  <a:schemeClr val="tx1"/>
                </a:solidFill>
              </a:rPr>
              <a:t>アドレスが含まれない場合は警告を出す。</a:t>
            </a:r>
            <a:endParaRPr lang="en-US" altLang="ja-JP" sz="1400" dirty="0" smtClean="0">
              <a:solidFill>
                <a:schemeClr val="tx1"/>
              </a:solidFill>
            </a:endParaRPr>
          </a:p>
          <a:p>
            <a:r>
              <a:rPr kumimoji="1" lang="ja-JP" altLang="en-US" sz="1400" dirty="0" smtClean="0">
                <a:solidFill>
                  <a:schemeClr val="tx1"/>
                </a:solidFill>
              </a:rPr>
              <a:t>「現在ご利用中の</a:t>
            </a:r>
            <a:r>
              <a:rPr kumimoji="1" lang="en-US" altLang="ja-JP" sz="1400" dirty="0" smtClean="0">
                <a:solidFill>
                  <a:schemeClr val="tx1"/>
                </a:solidFill>
              </a:rPr>
              <a:t>IP</a:t>
            </a:r>
            <a:r>
              <a:rPr kumimoji="1" lang="ja-JP" altLang="en-US" sz="1400" dirty="0" smtClean="0">
                <a:solidFill>
                  <a:schemeClr val="tx1"/>
                </a:solidFill>
              </a:rPr>
              <a:t>アドレスが含まれていません。次回アクセス時にログインできなくなりますが、このまま保存しますか？」</a:t>
            </a:r>
            <a:endParaRPr kumimoji="1" lang="en-US" altLang="ja-JP" sz="1400" dirty="0" smtClean="0">
              <a:solidFill>
                <a:schemeClr val="tx1"/>
              </a:solidFill>
            </a:endParaRPr>
          </a:p>
          <a:p>
            <a:r>
              <a:rPr kumimoji="1" lang="ja-JP" altLang="en-US" sz="1400" dirty="0" smtClean="0">
                <a:solidFill>
                  <a:schemeClr val="tx1"/>
                </a:solidFill>
              </a:rPr>
              <a:t>いいえ、修正します</a:t>
            </a:r>
            <a:r>
              <a:rPr kumimoji="1" lang="en-US" altLang="ja-JP" sz="1400" dirty="0" smtClean="0">
                <a:solidFill>
                  <a:schemeClr val="tx1"/>
                </a:solidFill>
              </a:rPr>
              <a:t>(</a:t>
            </a:r>
            <a:r>
              <a:rPr kumimoji="1" lang="ja-JP" altLang="en-US" sz="1400" dirty="0" smtClean="0">
                <a:solidFill>
                  <a:schemeClr val="tx1"/>
                </a:solidFill>
              </a:rPr>
              <a:t>保存せず警告を閉じる</a:t>
            </a:r>
            <a:r>
              <a:rPr kumimoji="1" lang="en-US" altLang="ja-JP" sz="1400" dirty="0" smtClean="0">
                <a:solidFill>
                  <a:schemeClr val="tx1"/>
                </a:solidFill>
              </a:rPr>
              <a:t>)</a:t>
            </a:r>
          </a:p>
          <a:p>
            <a:r>
              <a:rPr lang="ja-JP" altLang="en-US" sz="1400" dirty="0" smtClean="0">
                <a:solidFill>
                  <a:schemeClr val="tx1"/>
                </a:solidFill>
              </a:rPr>
              <a:t>はい、このまま保存します</a:t>
            </a:r>
            <a:r>
              <a:rPr lang="ja-JP" altLang="en-US" sz="1400" dirty="0">
                <a:solidFill>
                  <a:schemeClr val="tx1"/>
                </a:solidFill>
              </a:rPr>
              <a:t> </a:t>
            </a:r>
            <a:r>
              <a:rPr lang="en-US" altLang="ja-JP" sz="1400" dirty="0">
                <a:solidFill>
                  <a:schemeClr val="tx1"/>
                </a:solidFill>
              </a:rPr>
              <a:t>(</a:t>
            </a:r>
            <a:r>
              <a:rPr lang="ja-JP" altLang="en-US" sz="1400" dirty="0">
                <a:solidFill>
                  <a:schemeClr val="tx1"/>
                </a:solidFill>
              </a:rPr>
              <a:t>保存</a:t>
            </a:r>
            <a:r>
              <a:rPr lang="en-US" altLang="ja-JP" sz="1400" dirty="0" smtClean="0">
                <a:solidFill>
                  <a:schemeClr val="tx1"/>
                </a:solidFill>
              </a:rPr>
              <a:t>)</a:t>
            </a:r>
          </a:p>
        </p:txBody>
      </p:sp>
      <p:sp>
        <p:nvSpPr>
          <p:cNvPr id="60" name="角丸四角形 59"/>
          <p:cNvSpPr/>
          <p:nvPr/>
        </p:nvSpPr>
        <p:spPr>
          <a:xfrm>
            <a:off x="4475926" y="3857721"/>
            <a:ext cx="232606" cy="204683"/>
          </a:xfrm>
          <a:prstGeom prst="roundRect">
            <a:avLst>
              <a:gd name="adj" fmla="val 8394"/>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ボックス 58"/>
          <p:cNvSpPr txBox="1"/>
          <p:nvPr/>
        </p:nvSpPr>
        <p:spPr>
          <a:xfrm>
            <a:off x="4435953" y="3848704"/>
            <a:ext cx="348780" cy="246221"/>
          </a:xfrm>
          <a:prstGeom prst="rect">
            <a:avLst/>
          </a:prstGeom>
          <a:noFill/>
        </p:spPr>
        <p:txBody>
          <a:bodyPr wrap="square" rtlCol="0">
            <a:spAutoFit/>
          </a:bodyPr>
          <a:lstStyle/>
          <a:p>
            <a:r>
              <a:rPr kumimoji="1" lang="ja-JP" altLang="en-US" sz="1000" b="1" dirty="0" smtClean="0">
                <a:solidFill>
                  <a:schemeClr val="tx1">
                    <a:lumMod val="85000"/>
                    <a:lumOff val="15000"/>
                  </a:schemeClr>
                </a:solidFill>
                <a:latin typeface="メイリオ" panose="020B0604030504040204" pitchFamily="50" charset="-128"/>
                <a:ea typeface="メイリオ" panose="020B0604030504040204" pitchFamily="50" charset="-128"/>
              </a:rPr>
              <a:t>＋</a:t>
            </a:r>
            <a:endParaRPr kumimoji="1" lang="ja-JP" altLang="en-US" sz="1000" b="1"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61" name="四角形吹き出し 60"/>
          <p:cNvSpPr/>
          <p:nvPr/>
        </p:nvSpPr>
        <p:spPr>
          <a:xfrm>
            <a:off x="-168148" y="3082464"/>
            <a:ext cx="3412197" cy="1390011"/>
          </a:xfrm>
          <a:prstGeom prst="wedgeRectCallout">
            <a:avLst>
              <a:gd name="adj1" fmla="val 87848"/>
              <a:gd name="adj2" fmla="val 12234"/>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smtClean="0">
                <a:solidFill>
                  <a:schemeClr val="tx1"/>
                </a:solidFill>
              </a:rPr>
              <a:t>行追加ボタン</a:t>
            </a:r>
            <a:endParaRPr kumimoji="1" lang="en-US" altLang="ja-JP" sz="1400" dirty="0" smtClean="0">
              <a:solidFill>
                <a:schemeClr val="tx1"/>
              </a:solidFill>
            </a:endParaRPr>
          </a:p>
          <a:p>
            <a:r>
              <a:rPr lang="ja-JP" altLang="en-US" sz="1400" dirty="0" smtClean="0">
                <a:solidFill>
                  <a:schemeClr val="tx1"/>
                </a:solidFill>
              </a:rPr>
              <a:t>クリックで、入力フォームを１行追加。</a:t>
            </a:r>
            <a:endParaRPr lang="en-US" altLang="ja-JP" sz="1400" dirty="0" smtClean="0">
              <a:solidFill>
                <a:schemeClr val="tx1"/>
              </a:solidFill>
            </a:endParaRPr>
          </a:p>
          <a:p>
            <a:r>
              <a:rPr kumimoji="1" lang="ja-JP" altLang="en-US" sz="1400" dirty="0" smtClean="0">
                <a:solidFill>
                  <a:schemeClr val="tx1"/>
                </a:solidFill>
              </a:rPr>
              <a:t>入力リストエリアは、スクロールせず、縦に</a:t>
            </a:r>
            <a:r>
              <a:rPr kumimoji="1" lang="ja-JP" altLang="en-US" sz="1400" dirty="0" smtClean="0">
                <a:solidFill>
                  <a:schemeClr val="tx1"/>
                </a:solidFill>
              </a:rPr>
              <a:t>のばす</a:t>
            </a:r>
            <a:endParaRPr kumimoji="1" lang="en-US" altLang="ja-JP" sz="1400" dirty="0" smtClean="0">
              <a:solidFill>
                <a:schemeClr val="tx1"/>
              </a:solidFill>
            </a:endParaRPr>
          </a:p>
          <a:p>
            <a:r>
              <a:rPr lang="en-US" altLang="ja-JP" sz="1400" dirty="0" smtClean="0">
                <a:solidFill>
                  <a:srgbClr val="FF0000"/>
                </a:solidFill>
              </a:rPr>
              <a:t>(</a:t>
            </a:r>
            <a:r>
              <a:rPr lang="ja-JP" altLang="en-US" sz="1400" dirty="0" smtClean="0">
                <a:solidFill>
                  <a:srgbClr val="FF0000"/>
                </a:solidFill>
              </a:rPr>
              <a:t>フォームを最初から</a:t>
            </a:r>
            <a:r>
              <a:rPr lang="en-US" altLang="ja-JP" sz="1400" dirty="0" smtClean="0">
                <a:solidFill>
                  <a:srgbClr val="FF0000"/>
                </a:solidFill>
              </a:rPr>
              <a:t>20</a:t>
            </a:r>
            <a:r>
              <a:rPr lang="ja-JP" altLang="en-US" sz="1400" dirty="0" smtClean="0">
                <a:solidFill>
                  <a:srgbClr val="FF0000"/>
                </a:solidFill>
              </a:rPr>
              <a:t>個出してしまっても</a:t>
            </a:r>
            <a:r>
              <a:rPr lang="en-US" altLang="ja-JP" sz="1400" dirty="0" smtClean="0">
                <a:solidFill>
                  <a:srgbClr val="FF0000"/>
                </a:solidFill>
              </a:rPr>
              <a:t>)</a:t>
            </a:r>
            <a:endParaRPr kumimoji="1" lang="ja-JP" altLang="en-US" sz="1400" dirty="0">
              <a:solidFill>
                <a:srgbClr val="FF0000"/>
              </a:solidFill>
            </a:endParaRPr>
          </a:p>
        </p:txBody>
      </p:sp>
      <p:sp>
        <p:nvSpPr>
          <p:cNvPr id="62" name="テキスト ボックス 61"/>
          <p:cNvSpPr txBox="1"/>
          <p:nvPr/>
        </p:nvSpPr>
        <p:spPr>
          <a:xfrm>
            <a:off x="4667700" y="3871127"/>
            <a:ext cx="468768" cy="215444"/>
          </a:xfrm>
          <a:prstGeom prst="rect">
            <a:avLst/>
          </a:prstGeom>
          <a:noFill/>
        </p:spPr>
        <p:txBody>
          <a:bodyPr wrap="square" rtlCol="0">
            <a:spAutoFit/>
          </a:bodyPr>
          <a:lstStyle/>
          <a:p>
            <a:r>
              <a:rPr lang="ja-JP" altLang="en-US" sz="800" dirty="0">
                <a:latin typeface="メイリオ" panose="020B0604030504040204" pitchFamily="50" charset="-128"/>
                <a:ea typeface="メイリオ" panose="020B0604030504040204" pitchFamily="50" charset="-128"/>
              </a:rPr>
              <a:t>追加</a:t>
            </a:r>
            <a:endParaRPr kumimoji="1" lang="ja-JP" altLang="en-US" sz="800" dirty="0">
              <a:latin typeface="メイリオ" panose="020B0604030504040204" pitchFamily="50" charset="-128"/>
              <a:ea typeface="メイリオ" panose="020B0604030504040204" pitchFamily="50" charset="-128"/>
            </a:endParaRPr>
          </a:p>
        </p:txBody>
      </p:sp>
      <p:sp>
        <p:nvSpPr>
          <p:cNvPr id="63" name="角丸四角形 62"/>
          <p:cNvSpPr/>
          <p:nvPr/>
        </p:nvSpPr>
        <p:spPr>
          <a:xfrm>
            <a:off x="4248869" y="2319935"/>
            <a:ext cx="108000" cy="108000"/>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テキスト ボックス 63"/>
          <p:cNvSpPr txBox="1"/>
          <p:nvPr/>
        </p:nvSpPr>
        <p:spPr>
          <a:xfrm>
            <a:off x="4163807" y="2276500"/>
            <a:ext cx="348780" cy="215444"/>
          </a:xfrm>
          <a:prstGeom prst="rect">
            <a:avLst/>
          </a:prstGeom>
          <a:noFill/>
        </p:spPr>
        <p:txBody>
          <a:bodyPr wrap="square" rtlCol="0">
            <a:spAutoFit/>
          </a:bodyPr>
          <a:lstStyle/>
          <a:p>
            <a:r>
              <a:rPr kumimoji="1" lang="ja-JP" altLang="en-US" sz="800" b="1" dirty="0" smtClean="0">
                <a:solidFill>
                  <a:schemeClr val="bg1"/>
                </a:solidFill>
                <a:latin typeface="メイリオ" panose="020B0604030504040204" pitchFamily="50" charset="-128"/>
                <a:ea typeface="メイリオ" panose="020B0604030504040204" pitchFamily="50" charset="-128"/>
              </a:rPr>
              <a:t>✓</a:t>
            </a:r>
            <a:endParaRPr kumimoji="1" lang="ja-JP" altLang="en-US" sz="800" b="1" dirty="0">
              <a:solidFill>
                <a:schemeClr val="bg1"/>
              </a:solidFill>
              <a:latin typeface="メイリオ" panose="020B0604030504040204" pitchFamily="50" charset="-128"/>
              <a:ea typeface="メイリオ" panose="020B0604030504040204" pitchFamily="50" charset="-128"/>
            </a:endParaRPr>
          </a:p>
        </p:txBody>
      </p:sp>
      <p:sp>
        <p:nvSpPr>
          <p:cNvPr id="65" name="テキスト ボックス 64"/>
          <p:cNvSpPr txBox="1"/>
          <p:nvPr/>
        </p:nvSpPr>
        <p:spPr>
          <a:xfrm>
            <a:off x="4431097" y="2780549"/>
            <a:ext cx="2178050" cy="246221"/>
          </a:xfrm>
          <a:prstGeom prst="rect">
            <a:avLst/>
          </a:prstGeom>
          <a:noFill/>
        </p:spPr>
        <p:txBody>
          <a:bodyPr wrap="square" rtlCol="0">
            <a:spAutoFit/>
          </a:bodyPr>
          <a:lstStyle/>
          <a:p>
            <a:r>
              <a:rPr lang="ja-JP" altLang="en-US" sz="1000" dirty="0" smtClean="0">
                <a:latin typeface="メイリオ" panose="020B0604030504040204" pitchFamily="50" charset="-128"/>
                <a:ea typeface="メイリオ" panose="020B0604030504040204" pitchFamily="50" charset="-128"/>
              </a:rPr>
              <a:t>許可する</a:t>
            </a:r>
            <a:r>
              <a:rPr lang="en-US" altLang="ja-JP" sz="1000" dirty="0" smtClean="0">
                <a:latin typeface="メイリオ" panose="020B0604030504040204" pitchFamily="50" charset="-128"/>
                <a:ea typeface="メイリオ" panose="020B0604030504040204" pitchFamily="50" charset="-128"/>
              </a:rPr>
              <a:t>IP</a:t>
            </a:r>
            <a:r>
              <a:rPr lang="ja-JP" altLang="en-US" sz="1000" dirty="0" smtClean="0">
                <a:latin typeface="メイリオ" panose="020B0604030504040204" pitchFamily="50" charset="-128"/>
                <a:ea typeface="メイリオ" panose="020B0604030504040204" pitchFamily="50" charset="-128"/>
              </a:rPr>
              <a:t>アドレス（</a:t>
            </a:r>
            <a:r>
              <a:rPr lang="en-US" altLang="ja-JP" sz="1000" dirty="0" smtClean="0">
                <a:latin typeface="メイリオ" panose="020B0604030504040204" pitchFamily="50" charset="-128"/>
                <a:ea typeface="メイリオ" panose="020B0604030504040204" pitchFamily="50" charset="-128"/>
              </a:rPr>
              <a:t>20</a:t>
            </a:r>
            <a:r>
              <a:rPr lang="ja-JP" altLang="en-US" sz="1000" dirty="0" smtClean="0">
                <a:latin typeface="メイリオ" panose="020B0604030504040204" pitchFamily="50" charset="-128"/>
                <a:ea typeface="メイリオ" panose="020B0604030504040204" pitchFamily="50" charset="-128"/>
              </a:rPr>
              <a:t>個まで）</a:t>
            </a:r>
            <a:endParaRPr kumimoji="1" lang="ja-JP" altLang="en-US" sz="1000" dirty="0">
              <a:latin typeface="メイリオ" panose="020B0604030504040204" pitchFamily="50" charset="-128"/>
              <a:ea typeface="メイリオ" panose="020B0604030504040204" pitchFamily="50" charset="-128"/>
            </a:endParaRPr>
          </a:p>
        </p:txBody>
      </p:sp>
      <p:sp>
        <p:nvSpPr>
          <p:cNvPr id="66" name="テキスト ボックス 65"/>
          <p:cNvSpPr txBox="1"/>
          <p:nvPr/>
        </p:nvSpPr>
        <p:spPr>
          <a:xfrm>
            <a:off x="4335030" y="2430651"/>
            <a:ext cx="2419350" cy="230832"/>
          </a:xfrm>
          <a:prstGeom prst="rect">
            <a:avLst/>
          </a:prstGeom>
          <a:noFill/>
        </p:spPr>
        <p:txBody>
          <a:bodyPr wrap="square" rtlCol="0">
            <a:spAutoFit/>
          </a:bodyPr>
          <a:lstStyle/>
          <a:p>
            <a:r>
              <a:rPr kumimoji="1" lang="en-US" altLang="ja-JP" sz="900" dirty="0" smtClean="0"/>
              <a:t>※</a:t>
            </a:r>
            <a:r>
              <a:rPr kumimoji="1" lang="ja-JP" altLang="en-US" sz="900" dirty="0" smtClean="0"/>
              <a:t>管理ツールへのアクセスも制限されます。</a:t>
            </a:r>
            <a:endParaRPr kumimoji="1" lang="ja-JP" altLang="en-US" sz="900" dirty="0"/>
          </a:p>
        </p:txBody>
      </p:sp>
      <p:sp>
        <p:nvSpPr>
          <p:cNvPr id="67" name="四角形吹き出し 66"/>
          <p:cNvSpPr/>
          <p:nvPr/>
        </p:nvSpPr>
        <p:spPr>
          <a:xfrm>
            <a:off x="8575040" y="5814585"/>
            <a:ext cx="3452043" cy="936874"/>
          </a:xfrm>
          <a:prstGeom prst="wedgeRectCallout">
            <a:avLst>
              <a:gd name="adj1" fmla="val -33386"/>
              <a:gd name="adj2" fmla="val -11624"/>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smtClean="0">
                <a:solidFill>
                  <a:schemeClr val="tx1"/>
                </a:solidFill>
              </a:rPr>
              <a:t>クライアントとサーバーでバージョンが異なる場合を考慮して設計する事！</a:t>
            </a:r>
            <a:endParaRPr kumimoji="1" lang="ja-JP" altLang="en-US" sz="1400" dirty="0">
              <a:solidFill>
                <a:schemeClr val="tx1"/>
              </a:solidFill>
            </a:endParaRPr>
          </a:p>
        </p:txBody>
      </p:sp>
      <p:sp>
        <p:nvSpPr>
          <p:cNvPr id="72" name="角丸四角形 71"/>
          <p:cNvSpPr/>
          <p:nvPr/>
        </p:nvSpPr>
        <p:spPr>
          <a:xfrm>
            <a:off x="4462506" y="3294315"/>
            <a:ext cx="2036807" cy="216000"/>
          </a:xfrm>
          <a:prstGeom prst="roundRect">
            <a:avLst>
              <a:gd name="adj" fmla="val 10788"/>
            </a:avLst>
          </a:prstGeom>
          <a:solidFill>
            <a:schemeClr val="bg1"/>
          </a:solidFill>
          <a:ln w="6350">
            <a:solidFill>
              <a:schemeClr val="bg1">
                <a:lumMod val="75000"/>
              </a:schemeClr>
            </a:solidFill>
          </a:ln>
          <a:effectLst>
            <a:innerShdw blurRad="12700" dist="12700" dir="18900000">
              <a:schemeClr val="bg1">
                <a:lumMod val="6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角丸四角形 72"/>
          <p:cNvSpPr/>
          <p:nvPr/>
        </p:nvSpPr>
        <p:spPr>
          <a:xfrm>
            <a:off x="6566475" y="3294315"/>
            <a:ext cx="1155214" cy="216000"/>
          </a:xfrm>
          <a:prstGeom prst="roundRect">
            <a:avLst>
              <a:gd name="adj" fmla="val 10788"/>
            </a:avLst>
          </a:prstGeom>
          <a:solidFill>
            <a:schemeClr val="bg1"/>
          </a:solidFill>
          <a:ln w="6350">
            <a:solidFill>
              <a:schemeClr val="bg1">
                <a:lumMod val="75000"/>
              </a:schemeClr>
            </a:solidFill>
          </a:ln>
          <a:effectLst>
            <a:innerShdw blurRad="12700" dist="12700" dir="18900000">
              <a:schemeClr val="bg1">
                <a:lumMod val="6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テキスト ボックス 73"/>
          <p:cNvSpPr txBox="1"/>
          <p:nvPr/>
        </p:nvSpPr>
        <p:spPr>
          <a:xfrm>
            <a:off x="7719573" y="3293282"/>
            <a:ext cx="190500" cy="246221"/>
          </a:xfrm>
          <a:prstGeom prst="rect">
            <a:avLst/>
          </a:prstGeom>
          <a:noFill/>
        </p:spPr>
        <p:txBody>
          <a:bodyPr wrap="square" rtlCol="0">
            <a:spAutoFit/>
          </a:bodyPr>
          <a:lstStyle/>
          <a:p>
            <a:r>
              <a:rPr kumimoji="1" lang="en-US" altLang="ja-JP" sz="1000" b="1" dirty="0" smtClean="0">
                <a:latin typeface="メイリオ" panose="020B0604030504040204" pitchFamily="50" charset="-128"/>
                <a:ea typeface="メイリオ" panose="020B0604030504040204" pitchFamily="50" charset="-128"/>
              </a:rPr>
              <a:t>×</a:t>
            </a:r>
            <a:endParaRPr kumimoji="1" lang="ja-JP" altLang="en-US" sz="1000" b="1" dirty="0">
              <a:latin typeface="メイリオ" panose="020B0604030504040204" pitchFamily="50" charset="-128"/>
              <a:ea typeface="メイリオ" panose="020B0604030504040204" pitchFamily="50" charset="-128"/>
            </a:endParaRPr>
          </a:p>
        </p:txBody>
      </p:sp>
      <p:sp>
        <p:nvSpPr>
          <p:cNvPr id="75" name="テキスト ボックス 74"/>
          <p:cNvSpPr txBox="1"/>
          <p:nvPr/>
        </p:nvSpPr>
        <p:spPr>
          <a:xfrm>
            <a:off x="4462505" y="3303564"/>
            <a:ext cx="2004487" cy="215444"/>
          </a:xfrm>
          <a:prstGeom prst="rect">
            <a:avLst/>
          </a:prstGeom>
          <a:noFill/>
        </p:spPr>
        <p:txBody>
          <a:bodyPr wrap="square" rtlCol="0">
            <a:spAutoFit/>
          </a:bodyPr>
          <a:lstStyle/>
          <a:p>
            <a:r>
              <a:rPr kumimoji="1" lang="ja-JP" altLang="en-US" sz="800" dirty="0" smtClean="0">
                <a:solidFill>
                  <a:schemeClr val="tx1">
                    <a:lumMod val="85000"/>
                    <a:lumOff val="15000"/>
                  </a:schemeClr>
                </a:solidFill>
              </a:rPr>
              <a:t>本社</a:t>
            </a:r>
            <a:endParaRPr kumimoji="1" lang="ja-JP" altLang="en-US" sz="800" dirty="0">
              <a:solidFill>
                <a:schemeClr val="tx1">
                  <a:lumMod val="85000"/>
                  <a:lumOff val="15000"/>
                </a:schemeClr>
              </a:solidFill>
            </a:endParaRPr>
          </a:p>
        </p:txBody>
      </p:sp>
      <p:sp>
        <p:nvSpPr>
          <p:cNvPr id="76" name="テキスト ボックス 75"/>
          <p:cNvSpPr txBox="1"/>
          <p:nvPr/>
        </p:nvSpPr>
        <p:spPr>
          <a:xfrm>
            <a:off x="6550184" y="3310543"/>
            <a:ext cx="1280078" cy="215444"/>
          </a:xfrm>
          <a:prstGeom prst="rect">
            <a:avLst/>
          </a:prstGeom>
          <a:noFill/>
        </p:spPr>
        <p:txBody>
          <a:bodyPr wrap="square" rtlCol="0">
            <a:spAutoFit/>
          </a:bodyPr>
          <a:lstStyle/>
          <a:p>
            <a:r>
              <a:rPr lang="en-US" altLang="ja-JP" sz="800" dirty="0" smtClean="0">
                <a:solidFill>
                  <a:schemeClr val="tx1">
                    <a:lumMod val="85000"/>
                    <a:lumOff val="15000"/>
                  </a:schemeClr>
                </a:solidFill>
              </a:rPr>
              <a:t>219.118.168.194</a:t>
            </a:r>
            <a:endParaRPr kumimoji="1" lang="ja-JP" altLang="en-US" sz="800" dirty="0">
              <a:solidFill>
                <a:schemeClr val="tx1">
                  <a:lumMod val="85000"/>
                  <a:lumOff val="15000"/>
                </a:schemeClr>
              </a:solidFill>
            </a:endParaRPr>
          </a:p>
        </p:txBody>
      </p:sp>
      <p:sp>
        <p:nvSpPr>
          <p:cNvPr id="37" name="四角形吹き出し 36"/>
          <p:cNvSpPr/>
          <p:nvPr/>
        </p:nvSpPr>
        <p:spPr>
          <a:xfrm>
            <a:off x="-211803" y="1560302"/>
            <a:ext cx="3412197" cy="1033457"/>
          </a:xfrm>
          <a:prstGeom prst="wedgeRectCallout">
            <a:avLst>
              <a:gd name="adj1" fmla="val 80652"/>
              <a:gd name="adj2" fmla="val 32305"/>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1"/>
                </a:solidFill>
              </a:rPr>
              <a:t>チェックを</a:t>
            </a:r>
            <a:r>
              <a:rPr lang="en-US" altLang="ja-JP" sz="1400" dirty="0">
                <a:solidFill>
                  <a:schemeClr val="tx1"/>
                </a:solidFill>
              </a:rPr>
              <a:t>ON→OFF</a:t>
            </a:r>
            <a:r>
              <a:rPr lang="ja-JP" altLang="en-US" sz="1400" dirty="0">
                <a:solidFill>
                  <a:schemeClr val="tx1"/>
                </a:solidFill>
              </a:rPr>
              <a:t>に変更した場合、設定済み</a:t>
            </a:r>
            <a:r>
              <a:rPr lang="en-US" altLang="ja-JP" sz="1400" dirty="0">
                <a:solidFill>
                  <a:schemeClr val="tx1"/>
                </a:solidFill>
              </a:rPr>
              <a:t>IP</a:t>
            </a:r>
            <a:r>
              <a:rPr lang="ja-JP" altLang="en-US" sz="1400" dirty="0">
                <a:solidFill>
                  <a:schemeClr val="tx1"/>
                </a:solidFill>
              </a:rPr>
              <a:t>アドレスは保持したままとし、</a:t>
            </a:r>
          </a:p>
          <a:p>
            <a:r>
              <a:rPr lang="ja-JP" altLang="en-US" sz="1400" dirty="0" smtClean="0">
                <a:solidFill>
                  <a:schemeClr val="tx1"/>
                </a:solidFill>
              </a:rPr>
              <a:t>画</a:t>
            </a:r>
            <a:r>
              <a:rPr lang="ja-JP" altLang="en-US" sz="1400" dirty="0">
                <a:solidFill>
                  <a:schemeClr val="tx1"/>
                </a:solidFill>
              </a:rPr>
              <a:t>面上には</a:t>
            </a:r>
            <a:r>
              <a:rPr lang="en-US" altLang="ja-JP" sz="1400" dirty="0">
                <a:solidFill>
                  <a:schemeClr val="tx1"/>
                </a:solidFill>
              </a:rPr>
              <a:t>IP</a:t>
            </a:r>
            <a:r>
              <a:rPr lang="ja-JP" altLang="en-US" sz="1400" dirty="0">
                <a:solidFill>
                  <a:schemeClr val="tx1"/>
                </a:solidFill>
              </a:rPr>
              <a:t>リストを表示して操作できないよう非アクティブにする。</a:t>
            </a:r>
          </a:p>
        </p:txBody>
      </p:sp>
      <p:sp>
        <p:nvSpPr>
          <p:cNvPr id="40" name="テキスト ボックス 39"/>
          <p:cNvSpPr txBox="1"/>
          <p:nvPr/>
        </p:nvSpPr>
        <p:spPr>
          <a:xfrm>
            <a:off x="11992945" y="133153"/>
            <a:ext cx="5422968" cy="1107996"/>
          </a:xfrm>
          <a:prstGeom prst="rect">
            <a:avLst/>
          </a:prstGeom>
          <a:noFill/>
        </p:spPr>
        <p:txBody>
          <a:bodyPr wrap="square" rtlCol="0">
            <a:spAutoFit/>
          </a:bodyPr>
          <a:lstStyle/>
          <a:p>
            <a:r>
              <a:rPr kumimoji="1" lang="en-US" altLang="ja-JP" sz="1100" dirty="0" smtClean="0"/>
              <a:t>【IP</a:t>
            </a:r>
            <a:r>
              <a:rPr kumimoji="1" lang="ja-JP" altLang="en-US" sz="1100" dirty="0" smtClean="0"/>
              <a:t>アドレスの入力例</a:t>
            </a:r>
            <a:r>
              <a:rPr kumimoji="1" lang="en-US" altLang="ja-JP" sz="1100" dirty="0" smtClean="0"/>
              <a:t>】</a:t>
            </a:r>
          </a:p>
          <a:p>
            <a:r>
              <a:rPr lang="ja-JP" altLang="en-US" sz="1100" dirty="0" smtClean="0"/>
              <a:t>・特定の</a:t>
            </a:r>
            <a:r>
              <a:rPr lang="en-US" altLang="ja-JP" sz="1100" dirty="0" smtClean="0"/>
              <a:t>IP</a:t>
            </a:r>
            <a:r>
              <a:rPr lang="ja-JP" altLang="en-US" sz="1100" dirty="0" smtClean="0"/>
              <a:t>アドレスを設定する場合</a:t>
            </a:r>
            <a:endParaRPr lang="en-US" altLang="ja-JP" sz="1100" dirty="0" smtClean="0"/>
          </a:p>
          <a:p>
            <a:r>
              <a:rPr lang="ja-JP" altLang="en-US" sz="1100" dirty="0"/>
              <a:t>　</a:t>
            </a:r>
            <a:r>
              <a:rPr lang="ja-JP" altLang="en-US" sz="1100" dirty="0" smtClean="0"/>
              <a:t>→許可する端末のグローバル</a:t>
            </a:r>
            <a:r>
              <a:rPr lang="en-US" altLang="ja-JP" sz="1100" dirty="0" smtClean="0"/>
              <a:t>IP</a:t>
            </a:r>
            <a:r>
              <a:rPr lang="ja-JP" altLang="en-US" sz="1100" dirty="0" smtClean="0"/>
              <a:t>アドレスを設定。</a:t>
            </a:r>
            <a:endParaRPr kumimoji="1" lang="en-US" altLang="ja-JP" sz="1100" dirty="0"/>
          </a:p>
          <a:p>
            <a:r>
              <a:rPr lang="ja-JP" altLang="en-US" sz="1100" dirty="0" smtClean="0"/>
              <a:t>・サブネットマスクを指定して設定する場合</a:t>
            </a:r>
            <a:endParaRPr lang="en-US" altLang="ja-JP" sz="1100" dirty="0" smtClean="0"/>
          </a:p>
          <a:p>
            <a:r>
              <a:rPr kumimoji="1" lang="ja-JP" altLang="en-US" sz="1100" dirty="0" smtClean="0"/>
              <a:t>　→</a:t>
            </a:r>
            <a:r>
              <a:rPr lang="en-US" altLang="ja-JP" sz="1100" dirty="0"/>
              <a:t> 111.111.111.0</a:t>
            </a:r>
            <a:r>
              <a:rPr lang="ja-JP" altLang="en-US" sz="1100" dirty="0"/>
              <a:t>～</a:t>
            </a:r>
            <a:r>
              <a:rPr lang="en-US" altLang="ja-JP" sz="1100" dirty="0"/>
              <a:t>111.111.111.255</a:t>
            </a:r>
            <a:r>
              <a:rPr lang="ja-JP" altLang="en-US" sz="1100" dirty="0" smtClean="0"/>
              <a:t>の範囲内の</a:t>
            </a:r>
            <a:r>
              <a:rPr lang="en-US" altLang="ja-JP" sz="1100" dirty="0" smtClean="0"/>
              <a:t>IP</a:t>
            </a:r>
            <a:r>
              <a:rPr lang="ja-JP" altLang="en-US" sz="1100" dirty="0" smtClean="0"/>
              <a:t>アドレスを許可する場合、</a:t>
            </a:r>
            <a:endParaRPr lang="en-US" altLang="ja-JP" sz="1100" dirty="0" smtClean="0"/>
          </a:p>
          <a:p>
            <a:r>
              <a:rPr kumimoji="1" lang="ja-JP" altLang="en-US" sz="1100" dirty="0"/>
              <a:t>　</a:t>
            </a:r>
            <a:r>
              <a:rPr kumimoji="1" lang="ja-JP" altLang="en-US" sz="1100" dirty="0" smtClean="0"/>
              <a:t>　「</a:t>
            </a:r>
            <a:r>
              <a:rPr kumimoji="1" lang="en-US" altLang="ja-JP" sz="1100" dirty="0" smtClean="0"/>
              <a:t>111.111.111.0/24</a:t>
            </a:r>
            <a:r>
              <a:rPr kumimoji="1" lang="ja-JP" altLang="en-US" sz="1100" dirty="0" smtClean="0"/>
              <a:t>」と設定。</a:t>
            </a:r>
            <a:endParaRPr kumimoji="1" lang="en-US" altLang="ja-JP" sz="1100" dirty="0" smtClean="0"/>
          </a:p>
        </p:txBody>
      </p:sp>
      <p:sp>
        <p:nvSpPr>
          <p:cNvPr id="44" name="テキスト ボックス 43"/>
          <p:cNvSpPr txBox="1"/>
          <p:nvPr/>
        </p:nvSpPr>
        <p:spPr>
          <a:xfrm>
            <a:off x="110056" y="97108"/>
            <a:ext cx="2864130" cy="461665"/>
          </a:xfrm>
          <a:prstGeom prst="rect">
            <a:avLst/>
          </a:prstGeom>
          <a:noFill/>
        </p:spPr>
        <p:txBody>
          <a:bodyPr wrap="square" rtlCol="0">
            <a:spAutoFit/>
          </a:bodyPr>
          <a:lstStyle/>
          <a:p>
            <a:r>
              <a:rPr kumimoji="1" lang="en-US" altLang="ja-JP" sz="2400" b="1" dirty="0" smtClean="0">
                <a:solidFill>
                  <a:schemeClr val="tx1">
                    <a:lumMod val="65000"/>
                    <a:lumOff val="35000"/>
                  </a:schemeClr>
                </a:solidFill>
                <a:latin typeface="メイリオ" panose="020B0604030504040204" pitchFamily="50" charset="-128"/>
                <a:ea typeface="メイリオ" panose="020B0604030504040204" pitchFamily="50" charset="-128"/>
              </a:rPr>
              <a:t>IP</a:t>
            </a:r>
            <a:r>
              <a:rPr kumimoji="1" lang="ja-JP" altLang="en-US" sz="2400" b="1" dirty="0" smtClean="0">
                <a:solidFill>
                  <a:schemeClr val="tx1">
                    <a:lumMod val="65000"/>
                    <a:lumOff val="35000"/>
                  </a:schemeClr>
                </a:solidFill>
                <a:latin typeface="メイリオ" panose="020B0604030504040204" pitchFamily="50" charset="-128"/>
                <a:ea typeface="メイリオ" panose="020B0604030504040204" pitchFamily="50" charset="-128"/>
              </a:rPr>
              <a:t>制限機能</a:t>
            </a:r>
            <a:endParaRPr kumimoji="1" lang="ja-JP" altLang="en-US" sz="24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9" name="四角形吹き出し 38"/>
          <p:cNvSpPr/>
          <p:nvPr/>
        </p:nvSpPr>
        <p:spPr>
          <a:xfrm>
            <a:off x="9062973" y="2330880"/>
            <a:ext cx="3436712" cy="583962"/>
          </a:xfrm>
          <a:prstGeom prst="wedgeRectCallout">
            <a:avLst>
              <a:gd name="adj1" fmla="val -136169"/>
              <a:gd name="adj2" fmla="val 78533"/>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smtClean="0">
                <a:solidFill>
                  <a:schemeClr val="tx1"/>
                </a:solidFill>
              </a:rPr>
              <a:t>ブログ記事で詳細な説明。</a:t>
            </a:r>
            <a:endParaRPr kumimoji="1" lang="en-US" altLang="ja-JP" sz="1400" dirty="0" smtClean="0">
              <a:solidFill>
                <a:schemeClr val="tx1"/>
              </a:solidFill>
            </a:endParaRPr>
          </a:p>
          <a:p>
            <a:r>
              <a:rPr lang="ja-JP" altLang="en-US" sz="1400" dirty="0">
                <a:solidFill>
                  <a:schemeClr val="tx1"/>
                </a:solidFill>
              </a:rPr>
              <a:t>リンクで誘導</a:t>
            </a:r>
            <a:endParaRPr kumimoji="1" lang="ja-JP" altLang="en-US" sz="1400" dirty="0">
              <a:solidFill>
                <a:schemeClr val="tx1"/>
              </a:solidFill>
            </a:endParaRPr>
          </a:p>
        </p:txBody>
      </p:sp>
      <p:sp>
        <p:nvSpPr>
          <p:cNvPr id="45" name="テキスト ボックス 44"/>
          <p:cNvSpPr txBox="1"/>
          <p:nvPr/>
        </p:nvSpPr>
        <p:spPr>
          <a:xfrm>
            <a:off x="4503255" y="2997776"/>
            <a:ext cx="2419350" cy="230832"/>
          </a:xfrm>
          <a:prstGeom prst="rect">
            <a:avLst/>
          </a:prstGeom>
          <a:noFill/>
        </p:spPr>
        <p:txBody>
          <a:bodyPr wrap="square" rtlCol="0">
            <a:spAutoFit/>
          </a:bodyPr>
          <a:lstStyle/>
          <a:p>
            <a:r>
              <a:rPr kumimoji="1" lang="en-US" altLang="ja-JP" sz="900" dirty="0" smtClean="0"/>
              <a:t>※</a:t>
            </a:r>
            <a:r>
              <a:rPr kumimoji="1" lang="en-US" altLang="ja-JP" sz="900" u="sng" dirty="0" smtClean="0"/>
              <a:t>IP</a:t>
            </a:r>
            <a:r>
              <a:rPr kumimoji="1" lang="ja-JP" altLang="en-US" sz="900" u="sng" dirty="0" smtClean="0"/>
              <a:t>アドレス制限の設定方法</a:t>
            </a:r>
            <a:endParaRPr kumimoji="1" lang="ja-JP" altLang="en-US" sz="900" u="sng" dirty="0"/>
          </a:p>
        </p:txBody>
      </p:sp>
    </p:spTree>
    <p:extLst>
      <p:ext uri="{BB962C8B-B14F-4D97-AF65-F5344CB8AC3E}">
        <p14:creationId xmlns:p14="http://schemas.microsoft.com/office/powerpoint/2010/main" val="12974519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2"/>
          <a:stretch>
            <a:fillRect/>
          </a:stretch>
        </p:blipFill>
        <p:spPr>
          <a:xfrm>
            <a:off x="1871920" y="1075473"/>
            <a:ext cx="6724636" cy="4142524"/>
          </a:xfrm>
          <a:prstGeom prst="rect">
            <a:avLst/>
          </a:prstGeom>
          <a:ln w="0">
            <a:solidFill>
              <a:schemeClr val="bg1">
                <a:lumMod val="75000"/>
              </a:schemeClr>
            </a:solidFill>
          </a:ln>
        </p:spPr>
      </p:pic>
      <p:sp>
        <p:nvSpPr>
          <p:cNvPr id="5" name="テキスト ボックス 4"/>
          <p:cNvSpPr txBox="1"/>
          <p:nvPr/>
        </p:nvSpPr>
        <p:spPr>
          <a:xfrm>
            <a:off x="1233964" y="700322"/>
            <a:ext cx="2864130" cy="369332"/>
          </a:xfrm>
          <a:prstGeom prst="rect">
            <a:avLst/>
          </a:prstGeom>
          <a:noFill/>
        </p:spPr>
        <p:txBody>
          <a:bodyPr wrap="square" rtlCol="0">
            <a:spAutoFit/>
          </a:bodyPr>
          <a:lstStyle/>
          <a:p>
            <a:r>
              <a:rPr kumimoji="1"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ヒアーズミー</a:t>
            </a:r>
            <a:endParaRPr kumimoji="1" lang="ja-JP" altLang="en-US"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6" name="テキスト ボックス 5"/>
          <p:cNvSpPr txBox="1"/>
          <p:nvPr/>
        </p:nvSpPr>
        <p:spPr>
          <a:xfrm>
            <a:off x="4271875" y="3146735"/>
            <a:ext cx="1924726" cy="369332"/>
          </a:xfrm>
          <a:prstGeom prst="rect">
            <a:avLst/>
          </a:prstGeom>
          <a:noFill/>
        </p:spPr>
        <p:txBody>
          <a:bodyPr wrap="square" rtlCol="0">
            <a:spAutoFit/>
          </a:bodyPr>
          <a:lstStyle/>
          <a:p>
            <a:pPr algn="ctr"/>
            <a:r>
              <a:rPr lang="ja-JP" altLang="en-US" sz="900" dirty="0" smtClean="0">
                <a:solidFill>
                  <a:srgbClr val="FF0000"/>
                </a:solidFill>
                <a:latin typeface="メイリオ" panose="020B0604030504040204" pitchFamily="50" charset="-128"/>
                <a:ea typeface="メイリオ" panose="020B0604030504040204" pitchFamily="50" charset="-128"/>
              </a:rPr>
              <a:t>この</a:t>
            </a:r>
            <a:r>
              <a:rPr lang="en-US" altLang="ja-JP" sz="900" dirty="0" smtClean="0">
                <a:solidFill>
                  <a:srgbClr val="FF0000"/>
                </a:solidFill>
                <a:latin typeface="メイリオ" panose="020B0604030504040204" pitchFamily="50" charset="-128"/>
                <a:ea typeface="メイリオ" panose="020B0604030504040204" pitchFamily="50" charset="-128"/>
              </a:rPr>
              <a:t>IP</a:t>
            </a:r>
            <a:r>
              <a:rPr lang="ja-JP" altLang="en-US" sz="900" dirty="0" smtClean="0">
                <a:solidFill>
                  <a:srgbClr val="FF0000"/>
                </a:solidFill>
                <a:latin typeface="メイリオ" panose="020B0604030504040204" pitchFamily="50" charset="-128"/>
                <a:ea typeface="メイリオ" panose="020B0604030504040204" pitchFamily="50" charset="-128"/>
              </a:rPr>
              <a:t>アドレスからのアクセスは</a:t>
            </a:r>
            <a:endParaRPr lang="en-US" altLang="ja-JP" sz="900" dirty="0" smtClean="0">
              <a:solidFill>
                <a:srgbClr val="FF0000"/>
              </a:solidFill>
              <a:latin typeface="メイリオ" panose="020B0604030504040204" pitchFamily="50" charset="-128"/>
              <a:ea typeface="メイリオ" panose="020B0604030504040204" pitchFamily="50" charset="-128"/>
            </a:endParaRPr>
          </a:p>
          <a:p>
            <a:pPr algn="ctr"/>
            <a:r>
              <a:rPr lang="ja-JP" altLang="en-US" sz="900" dirty="0" smtClean="0">
                <a:solidFill>
                  <a:srgbClr val="FF0000"/>
                </a:solidFill>
                <a:latin typeface="メイリオ" panose="020B0604030504040204" pitchFamily="50" charset="-128"/>
                <a:ea typeface="メイリオ" panose="020B0604030504040204" pitchFamily="50" charset="-128"/>
              </a:rPr>
              <a:t>許可されていません</a:t>
            </a:r>
            <a:endParaRPr kumimoji="1" lang="ja-JP" altLang="en-US" sz="900" dirty="0">
              <a:solidFill>
                <a:srgbClr val="FF0000"/>
              </a:solidFill>
              <a:latin typeface="メイリオ" panose="020B0604030504040204" pitchFamily="50" charset="-128"/>
              <a:ea typeface="メイリオ" panose="020B0604030504040204" pitchFamily="50" charset="-128"/>
            </a:endParaRPr>
          </a:p>
        </p:txBody>
      </p:sp>
      <p:sp>
        <p:nvSpPr>
          <p:cNvPr id="7" name="四角形吹き出し 6"/>
          <p:cNvSpPr/>
          <p:nvPr/>
        </p:nvSpPr>
        <p:spPr>
          <a:xfrm>
            <a:off x="7701426" y="2946312"/>
            <a:ext cx="4100387" cy="1395663"/>
          </a:xfrm>
          <a:prstGeom prst="wedgeRectCallout">
            <a:avLst>
              <a:gd name="adj1" fmla="val -86987"/>
              <a:gd name="adj2" fmla="val 5682"/>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smtClean="0">
                <a:solidFill>
                  <a:schemeClr val="tx1"/>
                </a:solidFill>
              </a:rPr>
              <a:t>入力したアカウント</a:t>
            </a:r>
            <a:r>
              <a:rPr kumimoji="1" lang="en-US" altLang="ja-JP" sz="1400" dirty="0" smtClean="0">
                <a:solidFill>
                  <a:schemeClr val="tx1"/>
                </a:solidFill>
              </a:rPr>
              <a:t>ID</a:t>
            </a:r>
            <a:r>
              <a:rPr kumimoji="1" lang="ja-JP" altLang="en-US" sz="1400" dirty="0" err="1" smtClean="0">
                <a:solidFill>
                  <a:schemeClr val="tx1"/>
                </a:solidFill>
              </a:rPr>
              <a:t>、</a:t>
            </a:r>
            <a:r>
              <a:rPr kumimoji="1" lang="ja-JP" altLang="en-US" sz="1400" dirty="0" smtClean="0">
                <a:solidFill>
                  <a:schemeClr val="tx1"/>
                </a:solidFill>
              </a:rPr>
              <a:t>パスワード（またはトークン）で既存のログインチェックを行い、ログイン</a:t>
            </a:r>
            <a:r>
              <a:rPr kumimoji="1" lang="en-US" altLang="ja-JP" sz="1400" dirty="0" smtClean="0">
                <a:solidFill>
                  <a:schemeClr val="tx1"/>
                </a:solidFill>
              </a:rPr>
              <a:t>OK</a:t>
            </a:r>
            <a:r>
              <a:rPr kumimoji="1" lang="ja-JP" altLang="en-US" sz="1400" dirty="0" smtClean="0">
                <a:solidFill>
                  <a:schemeClr val="tx1"/>
                </a:solidFill>
              </a:rPr>
              <a:t>であれば</a:t>
            </a:r>
            <a:r>
              <a:rPr kumimoji="1" lang="en-US" altLang="ja-JP" sz="1400" dirty="0" smtClean="0">
                <a:solidFill>
                  <a:schemeClr val="tx1"/>
                </a:solidFill>
              </a:rPr>
              <a:t>IP</a:t>
            </a:r>
            <a:r>
              <a:rPr kumimoji="1" lang="ja-JP" altLang="en-US" sz="1400" dirty="0" smtClean="0">
                <a:solidFill>
                  <a:schemeClr val="tx1"/>
                </a:solidFill>
              </a:rPr>
              <a:t>認証を行う。</a:t>
            </a:r>
            <a:r>
              <a:rPr kumimoji="1" lang="en-US" altLang="ja-JP" sz="1400" dirty="0" smtClean="0">
                <a:solidFill>
                  <a:schemeClr val="tx1"/>
                </a:solidFill>
              </a:rPr>
              <a:t>IP</a:t>
            </a:r>
            <a:r>
              <a:rPr kumimoji="1" lang="ja-JP" altLang="en-US" sz="1400" dirty="0" smtClean="0">
                <a:solidFill>
                  <a:schemeClr val="tx1"/>
                </a:solidFill>
              </a:rPr>
              <a:t>認証</a:t>
            </a:r>
            <a:r>
              <a:rPr kumimoji="1" lang="en-US" altLang="ja-JP" sz="1400" dirty="0" smtClean="0">
                <a:solidFill>
                  <a:schemeClr val="tx1"/>
                </a:solidFill>
              </a:rPr>
              <a:t>NG</a:t>
            </a:r>
            <a:r>
              <a:rPr kumimoji="1" lang="ja-JP" altLang="en-US" sz="1400" dirty="0" smtClean="0">
                <a:solidFill>
                  <a:schemeClr val="tx1"/>
                </a:solidFill>
              </a:rPr>
              <a:t>であれば、エラーメッセージを表示し、メイン画面に遷移しない。</a:t>
            </a:r>
            <a:endParaRPr kumimoji="1" lang="ja-JP" altLang="en-US" sz="1400" dirty="0">
              <a:solidFill>
                <a:schemeClr val="tx1"/>
              </a:solidFill>
            </a:endParaRPr>
          </a:p>
        </p:txBody>
      </p:sp>
      <p:sp>
        <p:nvSpPr>
          <p:cNvPr id="8" name="テキスト ボックス 7"/>
          <p:cNvSpPr txBox="1"/>
          <p:nvPr/>
        </p:nvSpPr>
        <p:spPr>
          <a:xfrm>
            <a:off x="1563745" y="5376464"/>
            <a:ext cx="9945768" cy="1384995"/>
          </a:xfrm>
          <a:prstGeom prst="rect">
            <a:avLst/>
          </a:prstGeom>
          <a:noFill/>
        </p:spPr>
        <p:txBody>
          <a:bodyPr wrap="square" rtlCol="0">
            <a:spAutoFit/>
          </a:bodyPr>
          <a:lstStyle/>
          <a:p>
            <a:r>
              <a:rPr lang="ja-JP" altLang="en-US" sz="1400" dirty="0" smtClean="0">
                <a:latin typeface="メイリオ" panose="020B0604030504040204" pitchFamily="50" charset="-128"/>
                <a:ea typeface="メイリオ" panose="020B0604030504040204" pitchFamily="50" charset="-128"/>
              </a:rPr>
              <a:t>・</a:t>
            </a:r>
            <a:r>
              <a:rPr lang="en-US" altLang="ja-JP" sz="1400" dirty="0" smtClean="0">
                <a:latin typeface="メイリオ" panose="020B0604030504040204" pitchFamily="50" charset="-128"/>
                <a:ea typeface="メイリオ" panose="020B0604030504040204" pitchFamily="50" charset="-128"/>
              </a:rPr>
              <a:t>IP</a:t>
            </a:r>
            <a:r>
              <a:rPr lang="ja-JP" altLang="en-US" sz="1400" dirty="0" smtClean="0">
                <a:latin typeface="メイリオ" panose="020B0604030504040204" pitchFamily="50" charset="-128"/>
                <a:ea typeface="メイリオ" panose="020B0604030504040204" pitchFamily="50" charset="-128"/>
              </a:rPr>
              <a:t>認証は、ログイン以外のサーバーアクセス時にも行う。（</a:t>
            </a:r>
            <a:r>
              <a:rPr kumimoji="1" lang="ja-JP" altLang="en-US" sz="1400" dirty="0" smtClean="0">
                <a:latin typeface="メイリオ" panose="020B0604030504040204" pitchFamily="50" charset="-128"/>
                <a:ea typeface="メイリオ" panose="020B0604030504040204" pitchFamily="50" charset="-128"/>
              </a:rPr>
              <a:t>社員一覧取得や、更新系の処理など</a:t>
            </a:r>
            <a:r>
              <a:rPr kumimoji="1" lang="en-US" altLang="ja-JP" sz="1400" dirty="0" smtClean="0">
                <a:latin typeface="メイリオ" panose="020B0604030504040204" pitchFamily="50" charset="-128"/>
                <a:ea typeface="メイリオ" panose="020B0604030504040204" pitchFamily="50" charset="-128"/>
              </a:rPr>
              <a:t>…</a:t>
            </a:r>
            <a:r>
              <a:rPr kumimoji="1" lang="ja-JP" altLang="en-US" sz="1400" dirty="0" smtClean="0">
                <a:latin typeface="メイリオ" panose="020B0604030504040204" pitchFamily="50" charset="-128"/>
                <a:ea typeface="メイリオ" panose="020B0604030504040204" pitchFamily="50" charset="-128"/>
              </a:rPr>
              <a:t>）</a:t>
            </a:r>
            <a:endParaRPr kumimoji="1" lang="en-US" altLang="ja-JP" sz="1400" dirty="0" smtClean="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　</a:t>
            </a:r>
            <a:r>
              <a:rPr lang="ja-JP" altLang="en-US" sz="1400" dirty="0" smtClean="0">
                <a:latin typeface="メイリオ" panose="020B0604030504040204" pitchFamily="50" charset="-128"/>
                <a:ea typeface="メイリオ" panose="020B0604030504040204" pitchFamily="50" charset="-128"/>
              </a:rPr>
              <a:t>ただし、アクセスのたびに毎回実施すると処理が重くなる可能性があるため、タイミングは絞る。（</a:t>
            </a:r>
            <a:r>
              <a:rPr lang="ja-JP" altLang="en-US" sz="1400" dirty="0" smtClean="0">
                <a:solidFill>
                  <a:srgbClr val="FF0000"/>
                </a:solidFill>
                <a:latin typeface="メイリオ" panose="020B0604030504040204" pitchFamily="50" charset="-128"/>
                <a:ea typeface="メイリオ" panose="020B0604030504040204" pitchFamily="50" charset="-128"/>
              </a:rPr>
              <a:t>実装設計で検討</a:t>
            </a:r>
            <a:r>
              <a:rPr lang="ja-JP" altLang="en-US" sz="1400" dirty="0" smtClean="0">
                <a:latin typeface="メイリオ" panose="020B0604030504040204" pitchFamily="50" charset="-128"/>
                <a:ea typeface="メイリオ" panose="020B0604030504040204" pitchFamily="50" charset="-128"/>
              </a:rPr>
              <a:t>）</a:t>
            </a:r>
            <a:endParaRPr lang="en-US" altLang="ja-JP" sz="1400" dirty="0" smtClean="0">
              <a:latin typeface="メイリオ" panose="020B0604030504040204" pitchFamily="50" charset="-128"/>
              <a:ea typeface="メイリオ" panose="020B0604030504040204" pitchFamily="50" charset="-128"/>
            </a:endParaRPr>
          </a:p>
          <a:p>
            <a:endParaRPr lang="en-US" altLang="ja-JP" sz="1400" dirty="0" smtClean="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・ヒアーズミーの操作中に</a:t>
            </a:r>
            <a:r>
              <a:rPr lang="en-US" altLang="ja-JP" sz="1400" dirty="0">
                <a:latin typeface="メイリオ" panose="020B0604030504040204" pitchFamily="50" charset="-128"/>
                <a:ea typeface="メイリオ" panose="020B0604030504040204" pitchFamily="50" charset="-128"/>
              </a:rPr>
              <a:t>IP</a:t>
            </a:r>
            <a:r>
              <a:rPr lang="ja-JP" altLang="en-US" sz="1400" dirty="0">
                <a:latin typeface="メイリオ" panose="020B0604030504040204" pitchFamily="50" charset="-128"/>
                <a:ea typeface="メイリオ" panose="020B0604030504040204" pitchFamily="50" charset="-128"/>
              </a:rPr>
              <a:t>アドレス制限が設定</a:t>
            </a:r>
            <a:r>
              <a:rPr lang="ja-JP" altLang="en-US" sz="1400" dirty="0" smtClean="0">
                <a:latin typeface="メイリオ" panose="020B0604030504040204" pitchFamily="50" charset="-128"/>
                <a:ea typeface="メイリオ" panose="020B0604030504040204" pitchFamily="50" charset="-128"/>
              </a:rPr>
              <a:t>され、さらに操作中のユーザーが許可</a:t>
            </a:r>
            <a:r>
              <a:rPr lang="en-US" altLang="ja-JP" sz="1400" dirty="0" smtClean="0">
                <a:latin typeface="メイリオ" panose="020B0604030504040204" pitchFamily="50" charset="-128"/>
                <a:ea typeface="メイリオ" panose="020B0604030504040204" pitchFamily="50" charset="-128"/>
              </a:rPr>
              <a:t>IP</a:t>
            </a:r>
            <a:r>
              <a:rPr lang="ja-JP" altLang="en-US" sz="1400" dirty="0" smtClean="0">
                <a:latin typeface="メイリオ" panose="020B0604030504040204" pitchFamily="50" charset="-128"/>
                <a:ea typeface="メイリオ" panose="020B0604030504040204" pitchFamily="50" charset="-128"/>
              </a:rPr>
              <a:t>ではない場合、</a:t>
            </a:r>
            <a:endParaRPr lang="en-US" altLang="ja-JP" sz="1400" dirty="0" smtClean="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　</a:t>
            </a:r>
            <a:r>
              <a:rPr lang="ja-JP" altLang="en-US" sz="1400" dirty="0" smtClean="0">
                <a:latin typeface="メイリオ" panose="020B0604030504040204" pitchFamily="50" charset="-128"/>
                <a:ea typeface="メイリオ" panose="020B0604030504040204" pitchFamily="50" charset="-128"/>
              </a:rPr>
              <a:t>ユーザー側で</a:t>
            </a:r>
            <a:r>
              <a:rPr lang="en-US" altLang="ja-JP" sz="1400" dirty="0" smtClean="0">
                <a:latin typeface="メイリオ" panose="020B0604030504040204" pitchFamily="50" charset="-128"/>
                <a:ea typeface="メイリオ" panose="020B0604030504040204" pitchFamily="50" charset="-128"/>
              </a:rPr>
              <a:t>IP</a:t>
            </a:r>
            <a:r>
              <a:rPr lang="ja-JP" altLang="en-US" sz="1400" dirty="0">
                <a:latin typeface="メイリオ" panose="020B0604030504040204" pitchFamily="50" charset="-128"/>
                <a:ea typeface="メイリオ" panose="020B0604030504040204" pitchFamily="50" charset="-128"/>
              </a:rPr>
              <a:t>アドレス制限されたこと</a:t>
            </a:r>
            <a:r>
              <a:rPr lang="ja-JP" altLang="en-US" sz="1400" dirty="0" smtClean="0">
                <a:latin typeface="メイリオ" panose="020B0604030504040204" pitchFamily="50" charset="-128"/>
                <a:ea typeface="メイリオ" panose="020B0604030504040204" pitchFamily="50" charset="-128"/>
              </a:rPr>
              <a:t>が分かるようなメッセージを表示して、ログイン画面に戻す。</a:t>
            </a:r>
            <a:endParaRPr lang="en-US" altLang="ja-JP" sz="1400" dirty="0" smtClean="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　</a:t>
            </a:r>
            <a:r>
              <a:rPr lang="ja-JP" altLang="en-US" sz="1400" dirty="0" smtClean="0">
                <a:latin typeface="メイリオ" panose="020B0604030504040204" pitchFamily="50" charset="-128"/>
                <a:ea typeface="メイリオ" panose="020B0604030504040204" pitchFamily="50" charset="-128"/>
              </a:rPr>
              <a:t>（許可</a:t>
            </a:r>
            <a:r>
              <a:rPr lang="en-US" altLang="ja-JP" sz="1400" dirty="0" smtClean="0">
                <a:latin typeface="メイリオ" panose="020B0604030504040204" pitchFamily="50" charset="-128"/>
                <a:ea typeface="メイリオ" panose="020B0604030504040204" pitchFamily="50" charset="-128"/>
              </a:rPr>
              <a:t>IP</a:t>
            </a:r>
            <a:r>
              <a:rPr lang="ja-JP" altLang="en-US" sz="1400" dirty="0" smtClean="0">
                <a:latin typeface="メイリオ" panose="020B0604030504040204" pitchFamily="50" charset="-128"/>
                <a:ea typeface="メイリオ" panose="020B0604030504040204" pitchFamily="50" charset="-128"/>
              </a:rPr>
              <a:t>の場合は機能の利用を続行する）</a:t>
            </a:r>
            <a:endParaRPr lang="ja-JP" altLang="en-US" sz="1400" dirty="0">
              <a:latin typeface="メイリオ" panose="020B0604030504040204" pitchFamily="50" charset="-128"/>
              <a:ea typeface="メイリオ" panose="020B0604030504040204" pitchFamily="50" charset="-128"/>
            </a:endParaRPr>
          </a:p>
        </p:txBody>
      </p:sp>
      <p:sp>
        <p:nvSpPr>
          <p:cNvPr id="9" name="テキスト ボックス 8"/>
          <p:cNvSpPr txBox="1"/>
          <p:nvPr/>
        </p:nvSpPr>
        <p:spPr>
          <a:xfrm>
            <a:off x="110056" y="97108"/>
            <a:ext cx="2864130" cy="461665"/>
          </a:xfrm>
          <a:prstGeom prst="rect">
            <a:avLst/>
          </a:prstGeom>
          <a:noFill/>
        </p:spPr>
        <p:txBody>
          <a:bodyPr wrap="square" rtlCol="0">
            <a:spAutoFit/>
          </a:bodyPr>
          <a:lstStyle/>
          <a:p>
            <a:r>
              <a:rPr kumimoji="1" lang="en-US" altLang="ja-JP" sz="2400" b="1" dirty="0" smtClean="0">
                <a:solidFill>
                  <a:schemeClr val="tx1">
                    <a:lumMod val="65000"/>
                    <a:lumOff val="35000"/>
                  </a:schemeClr>
                </a:solidFill>
                <a:latin typeface="メイリオ" panose="020B0604030504040204" pitchFamily="50" charset="-128"/>
                <a:ea typeface="メイリオ" panose="020B0604030504040204" pitchFamily="50" charset="-128"/>
              </a:rPr>
              <a:t>IP</a:t>
            </a:r>
            <a:r>
              <a:rPr kumimoji="1" lang="ja-JP" altLang="en-US" sz="2400" b="1" dirty="0" smtClean="0">
                <a:solidFill>
                  <a:schemeClr val="tx1">
                    <a:lumMod val="65000"/>
                    <a:lumOff val="35000"/>
                  </a:schemeClr>
                </a:solidFill>
                <a:latin typeface="メイリオ" panose="020B0604030504040204" pitchFamily="50" charset="-128"/>
                <a:ea typeface="メイリオ" panose="020B0604030504040204" pitchFamily="50" charset="-128"/>
              </a:rPr>
              <a:t>制限機能</a:t>
            </a:r>
            <a:endParaRPr kumimoji="1" lang="ja-JP" altLang="en-US" sz="24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794252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1248197405"/>
              </p:ext>
            </p:extLst>
          </p:nvPr>
        </p:nvGraphicFramePr>
        <p:xfrm>
          <a:off x="529387" y="1334321"/>
          <a:ext cx="11107555" cy="2210448"/>
        </p:xfrm>
        <a:graphic>
          <a:graphicData uri="http://schemas.openxmlformats.org/drawingml/2006/table">
            <a:tbl>
              <a:tblPr>
                <a:tableStyleId>{5C22544A-7EE6-4342-B048-85BDC9FD1C3A}</a:tableStyleId>
              </a:tblPr>
              <a:tblGrid>
                <a:gridCol w="820164">
                  <a:extLst>
                    <a:ext uri="{9D8B030D-6E8A-4147-A177-3AD203B41FA5}">
                      <a16:colId xmlns:a16="http://schemas.microsoft.com/office/drawing/2014/main" val="662039665"/>
                    </a:ext>
                  </a:extLst>
                </a:gridCol>
                <a:gridCol w="1501956">
                  <a:extLst>
                    <a:ext uri="{9D8B030D-6E8A-4147-A177-3AD203B41FA5}">
                      <a16:colId xmlns:a16="http://schemas.microsoft.com/office/drawing/2014/main" val="2791401814"/>
                    </a:ext>
                  </a:extLst>
                </a:gridCol>
                <a:gridCol w="1757087">
                  <a:extLst>
                    <a:ext uri="{9D8B030D-6E8A-4147-A177-3AD203B41FA5}">
                      <a16:colId xmlns:a16="http://schemas.microsoft.com/office/drawing/2014/main" val="3547927683"/>
                    </a:ext>
                  </a:extLst>
                </a:gridCol>
                <a:gridCol w="1757087">
                  <a:extLst>
                    <a:ext uri="{9D8B030D-6E8A-4147-A177-3AD203B41FA5}">
                      <a16:colId xmlns:a16="http://schemas.microsoft.com/office/drawing/2014/main" val="1270475639"/>
                    </a:ext>
                  </a:extLst>
                </a:gridCol>
                <a:gridCol w="1757087">
                  <a:extLst>
                    <a:ext uri="{9D8B030D-6E8A-4147-A177-3AD203B41FA5}">
                      <a16:colId xmlns:a16="http://schemas.microsoft.com/office/drawing/2014/main" val="1284108845"/>
                    </a:ext>
                  </a:extLst>
                </a:gridCol>
                <a:gridCol w="1757087">
                  <a:extLst>
                    <a:ext uri="{9D8B030D-6E8A-4147-A177-3AD203B41FA5}">
                      <a16:colId xmlns:a16="http://schemas.microsoft.com/office/drawing/2014/main" val="4174289970"/>
                    </a:ext>
                  </a:extLst>
                </a:gridCol>
                <a:gridCol w="1757087">
                  <a:extLst>
                    <a:ext uri="{9D8B030D-6E8A-4147-A177-3AD203B41FA5}">
                      <a16:colId xmlns:a16="http://schemas.microsoft.com/office/drawing/2014/main" val="322489798"/>
                    </a:ext>
                  </a:extLst>
                </a:gridCol>
              </a:tblGrid>
              <a:tr h="370840">
                <a:tc>
                  <a:txBody>
                    <a:bodyPr/>
                    <a:lstStyle/>
                    <a:p>
                      <a:endParaRPr kumimoji="1" lang="ja-JP" altLang="en-US" sz="1400" dirty="0"/>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endParaRPr kumimoji="1" lang="ja-JP" altLang="en-US" sz="1400" dirty="0"/>
                    </a:p>
                  </a:txBody>
                  <a:tcPr>
                    <a:lnL w="6350" cap="flat" cmpd="sng" algn="ctr">
                      <a:solidFill>
                        <a:schemeClr val="bg1"/>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gridSpan="5">
                  <a:txBody>
                    <a:bodyPr/>
                    <a:lstStyle/>
                    <a:p>
                      <a:pPr algn="ctr"/>
                      <a:r>
                        <a:rPr kumimoji="1" lang="ja-JP" altLang="en-US" sz="1400" b="1" dirty="0" smtClean="0">
                          <a:solidFill>
                            <a:schemeClr val="bg1"/>
                          </a:solidFill>
                        </a:rPr>
                        <a:t>登録している</a:t>
                      </a:r>
                      <a:r>
                        <a:rPr kumimoji="1" lang="en-US" altLang="ja-JP" sz="1400" b="1" dirty="0" smtClean="0">
                          <a:solidFill>
                            <a:schemeClr val="bg1"/>
                          </a:solidFill>
                        </a:rPr>
                        <a:t>IP</a:t>
                      </a:r>
                      <a:r>
                        <a:rPr kumimoji="1" lang="ja-JP" altLang="en-US" sz="1400" b="1" dirty="0" smtClean="0">
                          <a:solidFill>
                            <a:schemeClr val="bg1"/>
                          </a:solidFill>
                        </a:rPr>
                        <a:t>アドレス</a:t>
                      </a:r>
                      <a:endParaRPr kumimoji="1" lang="ja-JP" altLang="en-US" sz="1400" b="1" dirty="0">
                        <a:solidFill>
                          <a:schemeClr val="bg1"/>
                        </a:solidFill>
                      </a:endParaRPr>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00B050"/>
                    </a:solidFill>
                  </a:tcPr>
                </a:tc>
                <a:tc hMerge="1">
                  <a:txBody>
                    <a:bodyPr/>
                    <a:lstStyle/>
                    <a:p>
                      <a:pPr algn="ct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hMerge="1">
                  <a:txBody>
                    <a:bodyPr/>
                    <a:lstStyle/>
                    <a:p>
                      <a:pPr algn="ct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hMerge="1">
                  <a:txBody>
                    <a:bodyPr/>
                    <a:lstStyle/>
                    <a:p>
                      <a:pPr algn="ct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hMerge="1">
                  <a:txBody>
                    <a:bodyPr/>
                    <a:lstStyle/>
                    <a:p>
                      <a:pPr algn="ct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21254784"/>
                  </a:ext>
                </a:extLst>
              </a:tr>
              <a:tr h="370840">
                <a:tc>
                  <a:txBody>
                    <a:bodyPr/>
                    <a:lstStyle/>
                    <a:p>
                      <a:endParaRPr kumimoji="1" lang="ja-JP" altLang="en-US" sz="1400" dirty="0"/>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endParaRPr kumimoji="1" lang="ja-JP" altLang="en-US" sz="1400" dirty="0"/>
                    </a:p>
                  </a:txBody>
                  <a:tcPr>
                    <a:lnL w="6350" cap="flat" cmpd="sng" algn="ctr">
                      <a:solidFill>
                        <a:schemeClr val="bg1"/>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en-US" altLang="ja-JP" sz="1400" dirty="0" smtClean="0"/>
                        <a:t>192.168.100.25</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CCFFCC"/>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smtClean="0"/>
                        <a:t>192.168.100.16/29</a:t>
                      </a:r>
                      <a:endParaRPr kumimoji="1" lang="ja-JP" altLang="en-US" sz="1400" dirty="0" smtClean="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CCFFCC"/>
                    </a:solidFill>
                  </a:tcPr>
                </a:tc>
                <a:tc>
                  <a:txBody>
                    <a:bodyPr/>
                    <a:lstStyle/>
                    <a:p>
                      <a:pPr algn="ctr"/>
                      <a:r>
                        <a:rPr kumimoji="1" lang="en-US" altLang="ja-JP" sz="1400" dirty="0" smtClean="0"/>
                        <a:t>192.168.100.0/24</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CCFFCC"/>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smtClean="0"/>
                        <a:t>192.168.0.0/16</a:t>
                      </a:r>
                      <a:endParaRPr kumimoji="1" lang="ja-JP" altLang="en-US" sz="1400" dirty="0" smtClean="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CCFFCC"/>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smtClean="0"/>
                        <a:t>192.168.128.0/17</a:t>
                      </a:r>
                      <a:endParaRPr kumimoji="1" lang="ja-JP" altLang="en-US" sz="1400" dirty="0" smtClean="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CCFFCC"/>
                    </a:solidFill>
                  </a:tcPr>
                </a:tc>
                <a:extLst>
                  <a:ext uri="{0D108BD9-81ED-4DB2-BD59-A6C34878D82A}">
                    <a16:rowId xmlns:a16="http://schemas.microsoft.com/office/drawing/2014/main" val="1511595277"/>
                  </a:ext>
                </a:extLst>
              </a:tr>
              <a:tr h="356248">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b="1" dirty="0" smtClean="0">
                          <a:solidFill>
                            <a:schemeClr val="bg1"/>
                          </a:solidFill>
                        </a:rPr>
                        <a:t>入力値</a:t>
                      </a:r>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00B0F0"/>
                    </a:solidFill>
                  </a:tcPr>
                </a:tc>
                <a:tc>
                  <a:txBody>
                    <a:bodyPr/>
                    <a:lstStyle/>
                    <a:p>
                      <a:pPr algn="ctr"/>
                      <a:r>
                        <a:rPr kumimoji="1" lang="en-US" altLang="ja-JP" sz="1400" dirty="0" smtClean="0"/>
                        <a:t>192.168.100.25</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CCECFF"/>
                    </a:solidFill>
                  </a:tcPr>
                </a:tc>
                <a:tc>
                  <a:txBody>
                    <a:bodyPr/>
                    <a:lstStyle/>
                    <a:p>
                      <a:pPr algn="ctr"/>
                      <a:r>
                        <a:rPr kumimoji="1" lang="ja-JP" altLang="en-US"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en-US" altLang="ja-JP"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67353869"/>
                  </a:ext>
                </a:extLst>
              </a:tr>
              <a:tr h="370840">
                <a:tc vMerge="1">
                  <a:txBody>
                    <a:bodyPr/>
                    <a:lstStyle/>
                    <a:p>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smtClean="0"/>
                        <a:t>192.168.100.24</a:t>
                      </a:r>
                      <a:endParaRPr kumimoji="1" lang="ja-JP" altLang="en-US" sz="1400" dirty="0" smtClean="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CCECFF"/>
                    </a:solidFill>
                  </a:tcPr>
                </a:tc>
                <a:tc>
                  <a:txBody>
                    <a:bodyPr/>
                    <a:lstStyle/>
                    <a:p>
                      <a:pPr algn="ctr"/>
                      <a:r>
                        <a:rPr kumimoji="1" lang="en-US" altLang="ja-JP"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en-US" altLang="ja-JP"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11523012"/>
                  </a:ext>
                </a:extLst>
              </a:tr>
              <a:tr h="370840">
                <a:tc vMerge="1">
                  <a:txBody>
                    <a:bodyPr/>
                    <a:lstStyle/>
                    <a:p>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en-US" altLang="ja-JP" sz="1400" dirty="0" smtClean="0"/>
                        <a:t>192.168.100.2</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CCECFF"/>
                    </a:solidFill>
                  </a:tcPr>
                </a:tc>
                <a:tc>
                  <a:txBody>
                    <a:bodyPr/>
                    <a:lstStyle/>
                    <a:p>
                      <a:pPr algn="ctr"/>
                      <a:r>
                        <a:rPr kumimoji="1" lang="en-US" altLang="ja-JP"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en-US" altLang="ja-JP"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en-US" altLang="ja-JP"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0640340"/>
                  </a:ext>
                </a:extLst>
              </a:tr>
              <a:tr h="370840">
                <a:tc vMerge="1">
                  <a:txBody>
                    <a:bodyPr/>
                    <a:lstStyle/>
                    <a:p>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smtClean="0"/>
                        <a:t>192.168.0.25</a:t>
                      </a:r>
                      <a:endParaRPr kumimoji="1" lang="ja-JP" altLang="en-US" sz="1400" dirty="0" smtClean="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CCECFF"/>
                    </a:solidFill>
                  </a:tcPr>
                </a:tc>
                <a:tc>
                  <a:txBody>
                    <a:bodyPr/>
                    <a:lstStyle/>
                    <a:p>
                      <a:pPr algn="ctr"/>
                      <a:r>
                        <a:rPr kumimoji="1" lang="en-US" altLang="ja-JP"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en-US" altLang="ja-JP"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en-US" altLang="ja-JP"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ja-JP" altLang="en-US"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tc>
                  <a:txBody>
                    <a:bodyPr/>
                    <a:lstStyle/>
                    <a:p>
                      <a:pPr algn="ctr"/>
                      <a:r>
                        <a:rPr kumimoji="1" lang="en-US" altLang="ja-JP" sz="1400" dirty="0" smtClean="0"/>
                        <a:t>×</a:t>
                      </a:r>
                      <a:endParaRPr kumimoji="1" lang="ja-JP" altLang="en-US" sz="1400" dirty="0"/>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74239911"/>
                  </a:ext>
                </a:extLst>
              </a:tr>
            </a:tbl>
          </a:graphicData>
        </a:graphic>
      </p:graphicFrame>
      <p:sp>
        <p:nvSpPr>
          <p:cNvPr id="5" name="テキスト ボックス 4"/>
          <p:cNvSpPr txBox="1"/>
          <p:nvPr/>
        </p:nvSpPr>
        <p:spPr>
          <a:xfrm>
            <a:off x="617461" y="856306"/>
            <a:ext cx="6943566" cy="369332"/>
          </a:xfrm>
          <a:prstGeom prst="rect">
            <a:avLst/>
          </a:prstGeom>
          <a:noFill/>
        </p:spPr>
        <p:txBody>
          <a:bodyPr wrap="square" rtlCol="0">
            <a:spAutoFit/>
          </a:bodyPr>
          <a:lstStyle/>
          <a:p>
            <a:r>
              <a:rPr kumimoji="1" lang="en-US" altLang="ja-JP" b="1" dirty="0" smtClean="0">
                <a:solidFill>
                  <a:schemeClr val="tx1">
                    <a:lumMod val="65000"/>
                    <a:lumOff val="35000"/>
                  </a:schemeClr>
                </a:solidFill>
                <a:latin typeface="メイリオ" panose="020B0604030504040204" pitchFamily="50" charset="-128"/>
                <a:ea typeface="メイリオ" panose="020B0604030504040204" pitchFamily="50" charset="-128"/>
              </a:rPr>
              <a:t>IP</a:t>
            </a:r>
            <a:r>
              <a:rPr kumimoji="1"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アドレスチェック</a:t>
            </a:r>
            <a:endParaRPr kumimoji="1" lang="ja-JP" altLang="en-US"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 name="テキスト ボックス 7"/>
          <p:cNvSpPr txBox="1"/>
          <p:nvPr/>
        </p:nvSpPr>
        <p:spPr>
          <a:xfrm>
            <a:off x="110056" y="97108"/>
            <a:ext cx="2864130" cy="461665"/>
          </a:xfrm>
          <a:prstGeom prst="rect">
            <a:avLst/>
          </a:prstGeom>
          <a:noFill/>
        </p:spPr>
        <p:txBody>
          <a:bodyPr wrap="square" rtlCol="0">
            <a:spAutoFit/>
          </a:bodyPr>
          <a:lstStyle/>
          <a:p>
            <a:r>
              <a:rPr kumimoji="1" lang="en-US" altLang="ja-JP" sz="2400" b="1" dirty="0" smtClean="0">
                <a:solidFill>
                  <a:schemeClr val="tx1">
                    <a:lumMod val="65000"/>
                    <a:lumOff val="35000"/>
                  </a:schemeClr>
                </a:solidFill>
                <a:latin typeface="メイリオ" panose="020B0604030504040204" pitchFamily="50" charset="-128"/>
                <a:ea typeface="メイリオ" panose="020B0604030504040204" pitchFamily="50" charset="-128"/>
              </a:rPr>
              <a:t>IP</a:t>
            </a:r>
            <a:r>
              <a:rPr kumimoji="1" lang="ja-JP" altLang="en-US" sz="2400" b="1" dirty="0" smtClean="0">
                <a:solidFill>
                  <a:schemeClr val="tx1">
                    <a:lumMod val="65000"/>
                    <a:lumOff val="35000"/>
                  </a:schemeClr>
                </a:solidFill>
                <a:latin typeface="メイリオ" panose="020B0604030504040204" pitchFamily="50" charset="-128"/>
                <a:ea typeface="メイリオ" panose="020B0604030504040204" pitchFamily="50" charset="-128"/>
              </a:rPr>
              <a:t>制限機能</a:t>
            </a:r>
            <a:endParaRPr kumimoji="1" lang="ja-JP" altLang="en-US" sz="24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128896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930" y="1860877"/>
            <a:ext cx="1219200" cy="1219200"/>
          </a:xfrm>
          <a:prstGeom prst="rect">
            <a:avLst/>
          </a:prstGeom>
        </p:spPr>
      </p:pic>
      <p:sp>
        <p:nvSpPr>
          <p:cNvPr id="3" name="テキスト ボックス 2"/>
          <p:cNvSpPr txBox="1"/>
          <p:nvPr/>
        </p:nvSpPr>
        <p:spPr>
          <a:xfrm>
            <a:off x="1615190" y="4314084"/>
            <a:ext cx="2432686" cy="830997"/>
          </a:xfrm>
          <a:prstGeom prst="rect">
            <a:avLst/>
          </a:prstGeom>
          <a:noFill/>
        </p:spPr>
        <p:txBody>
          <a:bodyPr wrap="square" rtlCol="0">
            <a:spAutoFit/>
          </a:bodyPr>
          <a:lstStyle/>
          <a:p>
            <a:pPr algn="ctr"/>
            <a:r>
              <a:rPr lang="ja-JP" altLang="en-US" sz="1600" dirty="0" smtClean="0"/>
              <a:t>自宅の</a:t>
            </a:r>
            <a:r>
              <a:rPr lang="en-US" altLang="ja-JP" sz="1600" dirty="0" smtClean="0"/>
              <a:t>Wi-Fi</a:t>
            </a:r>
            <a:r>
              <a:rPr lang="ja-JP" altLang="en-US" sz="1600" dirty="0" smtClean="0"/>
              <a:t>に接続して</a:t>
            </a:r>
            <a:endParaRPr lang="en-US" altLang="ja-JP" sz="1600" dirty="0" smtClean="0"/>
          </a:p>
          <a:p>
            <a:pPr algn="ctr"/>
            <a:r>
              <a:rPr lang="ja-JP" altLang="en-US" sz="1600" dirty="0" smtClean="0"/>
              <a:t>作業している場合</a:t>
            </a:r>
            <a:endParaRPr lang="en-US" altLang="ja-JP" sz="1600" dirty="0" smtClean="0"/>
          </a:p>
          <a:p>
            <a:pPr algn="ctr"/>
            <a:r>
              <a:rPr lang="en-US" altLang="ja-JP" sz="1600" b="1" dirty="0" smtClean="0"/>
              <a:t>14.9.148.97</a:t>
            </a:r>
            <a:endParaRPr kumimoji="1" lang="ja-JP" altLang="en-US" sz="1600" b="1" dirty="0"/>
          </a:p>
        </p:txBody>
      </p:sp>
      <p:pic>
        <p:nvPicPr>
          <p:cNvPr id="6" name="図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7590" y="1860877"/>
            <a:ext cx="1219200" cy="1219200"/>
          </a:xfrm>
          <a:prstGeom prst="rect">
            <a:avLst/>
          </a:prstGeom>
        </p:spPr>
      </p:pic>
      <p:sp>
        <p:nvSpPr>
          <p:cNvPr id="7" name="テキスト ボックス 6"/>
          <p:cNvSpPr txBox="1"/>
          <p:nvPr/>
        </p:nvSpPr>
        <p:spPr>
          <a:xfrm>
            <a:off x="5855308" y="4314085"/>
            <a:ext cx="2487930" cy="830997"/>
          </a:xfrm>
          <a:prstGeom prst="rect">
            <a:avLst/>
          </a:prstGeom>
          <a:noFill/>
        </p:spPr>
        <p:txBody>
          <a:bodyPr wrap="square" rtlCol="0">
            <a:spAutoFit/>
          </a:bodyPr>
          <a:lstStyle/>
          <a:p>
            <a:pPr algn="ctr"/>
            <a:r>
              <a:rPr lang="ja-JP" altLang="en-US" sz="1600" dirty="0" smtClean="0"/>
              <a:t>会社の</a:t>
            </a:r>
            <a:r>
              <a:rPr lang="en-US" altLang="ja-JP" sz="1600" dirty="0" smtClean="0"/>
              <a:t>Wi-Fi</a:t>
            </a:r>
            <a:r>
              <a:rPr lang="ja-JP" altLang="en-US" sz="1600" dirty="0" smtClean="0"/>
              <a:t>に接続して</a:t>
            </a:r>
            <a:endParaRPr lang="en-US" altLang="ja-JP" sz="1600" dirty="0" smtClean="0"/>
          </a:p>
          <a:p>
            <a:pPr algn="ctr"/>
            <a:r>
              <a:rPr lang="ja-JP" altLang="en-US" sz="1600" dirty="0"/>
              <a:t>作業している場合</a:t>
            </a:r>
            <a:endParaRPr lang="en-US" altLang="ja-JP" sz="1600" dirty="0" smtClean="0"/>
          </a:p>
          <a:p>
            <a:pPr algn="ctr"/>
            <a:r>
              <a:rPr lang="en-US" altLang="ja-JP" sz="1600" b="1" dirty="0" smtClean="0"/>
              <a:t>210.168.241.244</a:t>
            </a:r>
            <a:endParaRPr kumimoji="1" lang="ja-JP" altLang="en-US" sz="1600" b="1" dirty="0"/>
          </a:p>
        </p:txBody>
      </p:sp>
      <p:pic>
        <p:nvPicPr>
          <p:cNvPr id="8" name="図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7582" y="4255254"/>
            <a:ext cx="1219200" cy="1219200"/>
          </a:xfrm>
          <a:prstGeom prst="rect">
            <a:avLst/>
          </a:prstGeom>
        </p:spPr>
      </p:pic>
      <p:cxnSp>
        <p:nvCxnSpPr>
          <p:cNvPr id="10" name="直線矢印コネクタ 9"/>
          <p:cNvCxnSpPr>
            <a:stCxn id="8" idx="1"/>
          </p:cNvCxnSpPr>
          <p:nvPr/>
        </p:nvCxnSpPr>
        <p:spPr>
          <a:xfrm flipH="1" flipV="1">
            <a:off x="2811503" y="3104573"/>
            <a:ext cx="1606079" cy="1760281"/>
          </a:xfrm>
          <a:prstGeom prst="straightConnector1">
            <a:avLst/>
          </a:prstGeom>
          <a:ln>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直線矢印コネクタ 12"/>
          <p:cNvCxnSpPr>
            <a:stCxn id="8" idx="3"/>
          </p:cNvCxnSpPr>
          <p:nvPr/>
        </p:nvCxnSpPr>
        <p:spPr>
          <a:xfrm flipV="1">
            <a:off x="5636782" y="3146371"/>
            <a:ext cx="1638300" cy="1718483"/>
          </a:xfrm>
          <a:prstGeom prst="straightConnector1">
            <a:avLst/>
          </a:prstGeom>
          <a:ln>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テキスト ボックス 17"/>
          <p:cNvSpPr txBox="1"/>
          <p:nvPr/>
        </p:nvSpPr>
        <p:spPr>
          <a:xfrm>
            <a:off x="1056164" y="611422"/>
            <a:ext cx="2864130" cy="369332"/>
          </a:xfrm>
          <a:prstGeom prst="rect">
            <a:avLst/>
          </a:prstGeom>
          <a:noFill/>
        </p:spPr>
        <p:txBody>
          <a:bodyPr wrap="square" rtlCol="0">
            <a:spAutoFit/>
          </a:bodyPr>
          <a:lstStyle/>
          <a:p>
            <a:r>
              <a:rPr kumimoji="1"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グローバル</a:t>
            </a:r>
            <a:r>
              <a:rPr kumimoji="1" lang="en-US" altLang="ja-JP" b="1" dirty="0" smtClean="0">
                <a:solidFill>
                  <a:schemeClr val="tx1">
                    <a:lumMod val="65000"/>
                    <a:lumOff val="35000"/>
                  </a:schemeClr>
                </a:solidFill>
                <a:latin typeface="メイリオ" panose="020B0604030504040204" pitchFamily="50" charset="-128"/>
                <a:ea typeface="メイリオ" panose="020B0604030504040204" pitchFamily="50" charset="-128"/>
              </a:rPr>
              <a:t>IP</a:t>
            </a:r>
            <a:r>
              <a:rPr kumimoji="1"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について</a:t>
            </a:r>
            <a:endParaRPr kumimoji="1" lang="ja-JP" altLang="en-US"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9" name="テキスト ボックス 18"/>
          <p:cNvSpPr txBox="1"/>
          <p:nvPr/>
        </p:nvSpPr>
        <p:spPr>
          <a:xfrm>
            <a:off x="1339893" y="1295861"/>
            <a:ext cx="9101164" cy="523220"/>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rPr>
              <a:t>グローバル</a:t>
            </a:r>
            <a:r>
              <a:rPr lang="en-US" altLang="ja-JP" sz="1400" dirty="0" smtClean="0">
                <a:latin typeface="メイリオ" panose="020B0604030504040204" pitchFamily="50" charset="-128"/>
                <a:ea typeface="メイリオ" panose="020B0604030504040204" pitchFamily="50" charset="-128"/>
              </a:rPr>
              <a:t>IP</a:t>
            </a:r>
            <a:r>
              <a:rPr lang="ja-JP" altLang="en-US" sz="1400" dirty="0" smtClean="0">
                <a:latin typeface="メイリオ" panose="020B0604030504040204" pitchFamily="50" charset="-128"/>
                <a:ea typeface="メイリオ" panose="020B0604030504040204" pitchFamily="50" charset="-128"/>
              </a:rPr>
              <a:t>アドレスが設定されたルーター（ゲートウェイ？）を介してインターネットにアクセスすると、</a:t>
            </a:r>
            <a:endParaRPr lang="en-US" altLang="ja-JP" sz="1400" dirty="0" smtClean="0">
              <a:latin typeface="メイリオ" panose="020B0604030504040204" pitchFamily="50" charset="-128"/>
              <a:ea typeface="メイリオ" panose="020B0604030504040204" pitchFamily="50" charset="-128"/>
            </a:endParaRPr>
          </a:p>
          <a:p>
            <a:r>
              <a:rPr lang="ja-JP" altLang="en-US" sz="1400" dirty="0" smtClean="0">
                <a:latin typeface="メイリオ" panose="020B0604030504040204" pitchFamily="50" charset="-128"/>
                <a:ea typeface="メイリオ" panose="020B0604030504040204" pitchFamily="50" charset="-128"/>
              </a:rPr>
              <a:t>そのネットワークに接続した</a:t>
            </a:r>
            <a:r>
              <a:rPr lang="en-US" altLang="ja-JP" sz="1400" dirty="0" smtClean="0">
                <a:latin typeface="メイリオ" panose="020B0604030504040204" pitchFamily="50" charset="-128"/>
                <a:ea typeface="メイリオ" panose="020B0604030504040204" pitchFamily="50" charset="-128"/>
              </a:rPr>
              <a:t>PC</a:t>
            </a:r>
            <a:r>
              <a:rPr lang="ja-JP" altLang="en-US" sz="1400" dirty="0" smtClean="0">
                <a:latin typeface="メイリオ" panose="020B0604030504040204" pitchFamily="50" charset="-128"/>
                <a:ea typeface="メイリオ" panose="020B0604030504040204" pitchFamily="50" charset="-128"/>
              </a:rPr>
              <a:t>は、すべて同じグローバル</a:t>
            </a:r>
            <a:r>
              <a:rPr lang="en-US" altLang="ja-JP" sz="1400" dirty="0" smtClean="0">
                <a:latin typeface="メイリオ" panose="020B0604030504040204" pitchFamily="50" charset="-128"/>
                <a:ea typeface="メイリオ" panose="020B0604030504040204" pitchFamily="50" charset="-128"/>
              </a:rPr>
              <a:t>IP</a:t>
            </a:r>
            <a:r>
              <a:rPr lang="ja-JP" altLang="en-US" sz="1400" dirty="0" smtClean="0">
                <a:latin typeface="メイリオ" panose="020B0604030504040204" pitchFamily="50" charset="-128"/>
                <a:ea typeface="メイリオ" panose="020B0604030504040204" pitchFamily="50" charset="-128"/>
              </a:rPr>
              <a:t>アドレスになる。</a:t>
            </a:r>
            <a:endParaRPr kumimoji="1" lang="ja-JP" altLang="en-US" sz="1400" dirty="0">
              <a:latin typeface="メイリオ" panose="020B0604030504040204" pitchFamily="50" charset="-128"/>
              <a:ea typeface="メイリオ" panose="020B0604030504040204" pitchFamily="50" charset="-128"/>
            </a:endParaRPr>
          </a:p>
        </p:txBody>
      </p:sp>
      <p:cxnSp>
        <p:nvCxnSpPr>
          <p:cNvPr id="20" name="直線矢印コネクタ 19"/>
          <p:cNvCxnSpPr>
            <a:stCxn id="23" idx="0"/>
          </p:cNvCxnSpPr>
          <p:nvPr/>
        </p:nvCxnSpPr>
        <p:spPr>
          <a:xfrm flipH="1" flipV="1">
            <a:off x="8698231" y="3121875"/>
            <a:ext cx="585580" cy="1260994"/>
          </a:xfrm>
          <a:prstGeom prst="straightConnector1">
            <a:avLst/>
          </a:prstGeom>
          <a:ln>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23" name="図 2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11756" y="4382869"/>
            <a:ext cx="744109" cy="744109"/>
          </a:xfrm>
          <a:prstGeom prst="rect">
            <a:avLst/>
          </a:prstGeom>
        </p:spPr>
      </p:pic>
      <p:cxnSp>
        <p:nvCxnSpPr>
          <p:cNvPr id="25" name="直線矢印コネクタ 24"/>
          <p:cNvCxnSpPr/>
          <p:nvPr/>
        </p:nvCxnSpPr>
        <p:spPr>
          <a:xfrm flipH="1" flipV="1">
            <a:off x="8862060" y="2789031"/>
            <a:ext cx="1508761" cy="1195682"/>
          </a:xfrm>
          <a:prstGeom prst="straightConnector1">
            <a:avLst/>
          </a:prstGeom>
          <a:ln>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28" name="図 2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65851" y="4010814"/>
            <a:ext cx="744109" cy="744109"/>
          </a:xfrm>
          <a:prstGeom prst="rect">
            <a:avLst/>
          </a:prstGeom>
        </p:spPr>
      </p:pic>
      <p:sp>
        <p:nvSpPr>
          <p:cNvPr id="29" name="テキスト ボックス 28"/>
          <p:cNvSpPr txBox="1"/>
          <p:nvPr/>
        </p:nvSpPr>
        <p:spPr>
          <a:xfrm>
            <a:off x="8315408" y="3646159"/>
            <a:ext cx="2487930" cy="338554"/>
          </a:xfrm>
          <a:prstGeom prst="rect">
            <a:avLst/>
          </a:prstGeom>
          <a:noFill/>
        </p:spPr>
        <p:txBody>
          <a:bodyPr wrap="square" rtlCol="0">
            <a:spAutoFit/>
          </a:bodyPr>
          <a:lstStyle/>
          <a:p>
            <a:pPr algn="ctr"/>
            <a:r>
              <a:rPr lang="en-US" altLang="ja-JP" sz="1600" b="1" dirty="0" smtClean="0"/>
              <a:t>210.168.241.244</a:t>
            </a:r>
            <a:endParaRPr kumimoji="1" lang="ja-JP" altLang="en-US" sz="1600" b="1" dirty="0"/>
          </a:p>
        </p:txBody>
      </p:sp>
      <p:sp>
        <p:nvSpPr>
          <p:cNvPr id="31" name="テキスト ボックス 30"/>
          <p:cNvSpPr txBox="1"/>
          <p:nvPr/>
        </p:nvSpPr>
        <p:spPr>
          <a:xfrm>
            <a:off x="1587772" y="5688061"/>
            <a:ext cx="9101164" cy="954107"/>
          </a:xfrm>
          <a:prstGeom prst="rect">
            <a:avLst/>
          </a:prstGeom>
          <a:noFill/>
        </p:spPr>
        <p:txBody>
          <a:bodyPr wrap="square" rtlCol="0">
            <a:spAutoFit/>
          </a:bodyPr>
          <a:lstStyle/>
          <a:p>
            <a:r>
              <a:rPr lang="ja-JP" altLang="en-US" sz="1400" dirty="0" smtClean="0">
                <a:latin typeface="メイリオ" panose="020B0604030504040204" pitchFamily="50" charset="-128"/>
                <a:ea typeface="メイリオ" panose="020B0604030504040204" pitchFamily="50" charset="-128"/>
              </a:rPr>
              <a:t>・スマホの場合も、接続しているネットワークのグローバル</a:t>
            </a:r>
            <a:r>
              <a:rPr lang="en-US" altLang="ja-JP" sz="1400" dirty="0" smtClean="0">
                <a:latin typeface="メイリオ" panose="020B0604030504040204" pitchFamily="50" charset="-128"/>
                <a:ea typeface="メイリオ" panose="020B0604030504040204" pitchFamily="50" charset="-128"/>
              </a:rPr>
              <a:t>IP</a:t>
            </a:r>
            <a:r>
              <a:rPr lang="ja-JP" altLang="en-US" sz="1400" dirty="0" smtClean="0">
                <a:latin typeface="メイリオ" panose="020B0604030504040204" pitchFamily="50" charset="-128"/>
                <a:ea typeface="メイリオ" panose="020B0604030504040204" pitchFamily="50" charset="-128"/>
              </a:rPr>
              <a:t>になる。</a:t>
            </a:r>
            <a:endParaRPr lang="en-US" altLang="ja-JP" sz="1400" dirty="0" smtClean="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　</a:t>
            </a:r>
            <a:r>
              <a:rPr lang="ja-JP" altLang="en-US" sz="1400" dirty="0" smtClean="0">
                <a:latin typeface="メイリオ" panose="020B0604030504040204" pitchFamily="50" charset="-128"/>
                <a:ea typeface="メイリオ" panose="020B0604030504040204" pitchFamily="50" charset="-128"/>
              </a:rPr>
              <a:t>ただし、</a:t>
            </a:r>
            <a:r>
              <a:rPr lang="en-US" altLang="ja-JP" sz="1400" dirty="0" smtClean="0">
                <a:latin typeface="メイリオ" panose="020B0604030504040204" pitchFamily="50" charset="-128"/>
                <a:ea typeface="メイリオ" panose="020B0604030504040204" pitchFamily="50" charset="-128"/>
              </a:rPr>
              <a:t>4G</a:t>
            </a:r>
            <a:r>
              <a:rPr lang="ja-JP" altLang="en-US" sz="1400" dirty="0" smtClean="0">
                <a:latin typeface="メイリオ" panose="020B0604030504040204" pitchFamily="50" charset="-128"/>
                <a:ea typeface="メイリオ" panose="020B0604030504040204" pitchFamily="50" charset="-128"/>
              </a:rPr>
              <a:t>や</a:t>
            </a:r>
            <a:r>
              <a:rPr lang="en-US" altLang="ja-JP" sz="1400" dirty="0" smtClean="0">
                <a:latin typeface="メイリオ" panose="020B0604030504040204" pitchFamily="50" charset="-128"/>
                <a:ea typeface="メイリオ" panose="020B0604030504040204" pitchFamily="50" charset="-128"/>
              </a:rPr>
              <a:t>5G</a:t>
            </a:r>
            <a:r>
              <a:rPr lang="ja-JP" altLang="en-US" sz="1400" dirty="0" smtClean="0">
                <a:latin typeface="メイリオ" panose="020B0604030504040204" pitchFamily="50" charset="-128"/>
                <a:ea typeface="メイリオ" panose="020B0604030504040204" pitchFamily="50" charset="-128"/>
              </a:rPr>
              <a:t>回線だとグローバル</a:t>
            </a:r>
            <a:r>
              <a:rPr lang="en-US" altLang="ja-JP" sz="1400" dirty="0" smtClean="0">
                <a:latin typeface="メイリオ" panose="020B0604030504040204" pitchFamily="50" charset="-128"/>
                <a:ea typeface="メイリオ" panose="020B0604030504040204" pitchFamily="50" charset="-128"/>
              </a:rPr>
              <a:t>IP</a:t>
            </a:r>
            <a:r>
              <a:rPr lang="ja-JP" altLang="en-US" sz="1400" dirty="0" smtClean="0">
                <a:latin typeface="メイリオ" panose="020B0604030504040204" pitchFamily="50" charset="-128"/>
                <a:ea typeface="メイリオ" panose="020B0604030504040204" pitchFamily="50" charset="-128"/>
              </a:rPr>
              <a:t>アドレスが取得できない。</a:t>
            </a:r>
            <a:endParaRPr lang="ja-JP" altLang="en-US" sz="1400" dirty="0">
              <a:latin typeface="メイリオ" panose="020B0604030504040204" pitchFamily="50" charset="-128"/>
              <a:ea typeface="メイリオ" panose="020B0604030504040204" pitchFamily="50" charset="-128"/>
            </a:endParaRPr>
          </a:p>
          <a:p>
            <a:endParaRPr lang="en-US" altLang="ja-JP" sz="1400" dirty="0" smtClean="0">
              <a:latin typeface="メイリオ" panose="020B0604030504040204" pitchFamily="50" charset="-128"/>
              <a:ea typeface="メイリオ" panose="020B0604030504040204" pitchFamily="50" charset="-128"/>
            </a:endParaRPr>
          </a:p>
          <a:p>
            <a:r>
              <a:rPr kumimoji="1" lang="ja-JP" altLang="en-US" sz="1400" dirty="0" smtClean="0">
                <a:latin typeface="メイリオ" panose="020B0604030504040204" pitchFamily="50" charset="-128"/>
                <a:ea typeface="メイリオ" panose="020B0604030504040204" pitchFamily="50" charset="-128"/>
              </a:rPr>
              <a:t>・社外で利用する場合は、作業場所のネットワークに接続した状態で確認したグローバル</a:t>
            </a:r>
            <a:r>
              <a:rPr kumimoji="1" lang="en-US" altLang="ja-JP" sz="1400" dirty="0" smtClean="0">
                <a:latin typeface="メイリオ" panose="020B0604030504040204" pitchFamily="50" charset="-128"/>
                <a:ea typeface="メイリオ" panose="020B0604030504040204" pitchFamily="50" charset="-128"/>
              </a:rPr>
              <a:t>IP</a:t>
            </a:r>
            <a:r>
              <a:rPr lang="ja-JP" altLang="en-US" sz="1400" dirty="0" smtClean="0">
                <a:latin typeface="メイリオ" panose="020B0604030504040204" pitchFamily="50" charset="-128"/>
                <a:ea typeface="メイリオ" panose="020B0604030504040204" pitchFamily="50" charset="-128"/>
              </a:rPr>
              <a:t>を設定</a:t>
            </a:r>
            <a:endParaRPr kumimoji="1" lang="ja-JP" altLang="en-US" sz="1400" dirty="0">
              <a:latin typeface="メイリオ" panose="020B0604030504040204" pitchFamily="50" charset="-128"/>
              <a:ea typeface="メイリオ" panose="020B0604030504040204" pitchFamily="50" charset="-128"/>
            </a:endParaRPr>
          </a:p>
        </p:txBody>
      </p:sp>
      <p:cxnSp>
        <p:nvCxnSpPr>
          <p:cNvPr id="34" name="直線矢印コネクタ 33"/>
          <p:cNvCxnSpPr/>
          <p:nvPr/>
        </p:nvCxnSpPr>
        <p:spPr>
          <a:xfrm flipV="1">
            <a:off x="3614542" y="2803447"/>
            <a:ext cx="3551117" cy="1230409"/>
          </a:xfrm>
          <a:prstGeom prst="straightConnector1">
            <a:avLst/>
          </a:prstGeom>
          <a:ln>
            <a:solidFill>
              <a:schemeClr val="tx1">
                <a:lumMod val="75000"/>
                <a:lumOff val="25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38" name="テキスト ボックス 37"/>
          <p:cNvSpPr txBox="1"/>
          <p:nvPr/>
        </p:nvSpPr>
        <p:spPr>
          <a:xfrm>
            <a:off x="3426761" y="2483185"/>
            <a:ext cx="2432686" cy="1077218"/>
          </a:xfrm>
          <a:prstGeom prst="rect">
            <a:avLst/>
          </a:prstGeom>
          <a:noFill/>
        </p:spPr>
        <p:txBody>
          <a:bodyPr wrap="square" rtlCol="0">
            <a:spAutoFit/>
          </a:bodyPr>
          <a:lstStyle/>
          <a:p>
            <a:pPr algn="ctr"/>
            <a:r>
              <a:rPr lang="ja-JP" altLang="en-US" sz="1600" dirty="0" smtClean="0"/>
              <a:t>自宅の</a:t>
            </a:r>
            <a:r>
              <a:rPr lang="en-US" altLang="ja-JP" sz="1600" dirty="0" smtClean="0"/>
              <a:t>Wi-Fi</a:t>
            </a:r>
            <a:r>
              <a:rPr lang="ja-JP" altLang="en-US" sz="1600" dirty="0" smtClean="0"/>
              <a:t>に接続して、会社の</a:t>
            </a:r>
            <a:r>
              <a:rPr lang="en-US" altLang="ja-JP" sz="1600" dirty="0" smtClean="0"/>
              <a:t>VPN</a:t>
            </a:r>
            <a:r>
              <a:rPr lang="ja-JP" altLang="en-US" sz="1600" dirty="0" smtClean="0"/>
              <a:t>に接続して</a:t>
            </a:r>
            <a:endParaRPr lang="en-US" altLang="ja-JP" sz="1600" dirty="0" smtClean="0"/>
          </a:p>
          <a:p>
            <a:pPr algn="ctr"/>
            <a:r>
              <a:rPr lang="ja-JP" altLang="en-US" sz="1600" dirty="0" smtClean="0"/>
              <a:t>いる場合</a:t>
            </a:r>
            <a:endParaRPr lang="en-US" altLang="ja-JP" sz="1600" dirty="0" smtClean="0"/>
          </a:p>
          <a:p>
            <a:pPr algn="ctr"/>
            <a:r>
              <a:rPr lang="en-US" altLang="ja-JP" sz="1600" b="1" dirty="0" smtClean="0"/>
              <a:t>14.9.148.97</a:t>
            </a:r>
            <a:endParaRPr kumimoji="1" lang="ja-JP" altLang="en-US" sz="1600" b="1" dirty="0"/>
          </a:p>
        </p:txBody>
      </p:sp>
      <p:pic>
        <p:nvPicPr>
          <p:cNvPr id="40" name="図 3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5376" y="4255254"/>
            <a:ext cx="854678" cy="854678"/>
          </a:xfrm>
          <a:prstGeom prst="rect">
            <a:avLst/>
          </a:prstGeom>
        </p:spPr>
      </p:pic>
      <p:cxnSp>
        <p:nvCxnSpPr>
          <p:cNvPr id="41" name="直線矢印コネクタ 40"/>
          <p:cNvCxnSpPr/>
          <p:nvPr/>
        </p:nvCxnSpPr>
        <p:spPr>
          <a:xfrm flipV="1">
            <a:off x="1182673" y="3080078"/>
            <a:ext cx="953427" cy="1075247"/>
          </a:xfrm>
          <a:prstGeom prst="straightConnector1">
            <a:avLst/>
          </a:prstGeom>
          <a:ln>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3" name="テキスト ボックス 42"/>
          <p:cNvSpPr txBox="1"/>
          <p:nvPr/>
        </p:nvSpPr>
        <p:spPr>
          <a:xfrm>
            <a:off x="293501" y="3429413"/>
            <a:ext cx="2487930" cy="338554"/>
          </a:xfrm>
          <a:prstGeom prst="rect">
            <a:avLst/>
          </a:prstGeom>
          <a:noFill/>
        </p:spPr>
        <p:txBody>
          <a:bodyPr wrap="square" rtlCol="0">
            <a:spAutoFit/>
          </a:bodyPr>
          <a:lstStyle/>
          <a:p>
            <a:pPr algn="ctr"/>
            <a:r>
              <a:rPr lang="en-US" altLang="ja-JP" sz="1600" b="1" dirty="0" smtClean="0"/>
              <a:t>14.9.148.97</a:t>
            </a:r>
            <a:endParaRPr kumimoji="1" lang="ja-JP" altLang="en-US" sz="1600" b="1" dirty="0"/>
          </a:p>
        </p:txBody>
      </p:sp>
    </p:spTree>
    <p:extLst>
      <p:ext uri="{BB962C8B-B14F-4D97-AF65-F5344CB8AC3E}">
        <p14:creationId xmlns:p14="http://schemas.microsoft.com/office/powerpoint/2010/main" val="2929030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APTの仕組み"/>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835" y="1600200"/>
            <a:ext cx="9753600" cy="3819525"/>
          </a:xfrm>
          <a:prstGeom prst="rect">
            <a:avLst/>
          </a:prstGeom>
          <a:noFill/>
          <a:extLst>
            <a:ext uri="{909E8E84-426E-40DD-AFC4-6F175D3DCCD1}">
              <a14:hiddenFill xmlns:a14="http://schemas.microsoft.com/office/drawing/2010/main">
                <a:solidFill>
                  <a:srgbClr val="FFFFFF"/>
                </a:solidFill>
              </a14:hiddenFill>
            </a:ext>
          </a:extLst>
        </p:spPr>
      </p:pic>
      <p:sp>
        <p:nvSpPr>
          <p:cNvPr id="4" name="正方形/長方形 3"/>
          <p:cNvSpPr/>
          <p:nvPr/>
        </p:nvSpPr>
        <p:spPr>
          <a:xfrm>
            <a:off x="922020" y="794297"/>
            <a:ext cx="10610850" cy="738664"/>
          </a:xfrm>
          <a:prstGeom prst="rect">
            <a:avLst/>
          </a:prstGeom>
        </p:spPr>
        <p:txBody>
          <a:bodyPr wrap="square">
            <a:spAutoFit/>
          </a:bodyPr>
          <a:lstStyle/>
          <a:p>
            <a:r>
              <a:rPr lang="ja-JP" altLang="en-US" sz="1400" dirty="0"/>
              <a:t>https://medium-company.com/%E3%83%87%E3%83%95%E3%82%A9%E3%83%AB%E3%83%88%E3%82%B2%E3%83%BC%E3%83%88%E3%82%A6%E3%82%A7%E3%82%A4/</a:t>
            </a:r>
          </a:p>
        </p:txBody>
      </p:sp>
    </p:spTree>
    <p:extLst>
      <p:ext uri="{BB962C8B-B14F-4D97-AF65-F5344CB8AC3E}">
        <p14:creationId xmlns:p14="http://schemas.microsoft.com/office/powerpoint/2010/main" val="372663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10056" y="97108"/>
            <a:ext cx="5452544" cy="461665"/>
          </a:xfrm>
          <a:prstGeom prst="rect">
            <a:avLst/>
          </a:prstGeom>
          <a:noFill/>
        </p:spPr>
        <p:txBody>
          <a:bodyPr wrap="square" rtlCol="0">
            <a:spAutoFit/>
          </a:bodyPr>
          <a:lstStyle/>
          <a:p>
            <a:r>
              <a:rPr kumimoji="1" lang="ja-JP" altLang="en-US" sz="2400" b="1" dirty="0" smtClean="0">
                <a:solidFill>
                  <a:schemeClr val="tx1">
                    <a:lumMod val="65000"/>
                    <a:lumOff val="35000"/>
                  </a:schemeClr>
                </a:solidFill>
                <a:latin typeface="メイリオ" panose="020B0604030504040204" pitchFamily="50" charset="-128"/>
                <a:ea typeface="メイリオ" panose="020B0604030504040204" pitchFamily="50" charset="-128"/>
              </a:rPr>
              <a:t>ユーザー情報インポート機能</a:t>
            </a:r>
            <a:endParaRPr kumimoji="1" lang="ja-JP" altLang="en-US" sz="24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5" name="図 4"/>
          <p:cNvPicPr>
            <a:picLocks noChangeAspect="1"/>
          </p:cNvPicPr>
          <p:nvPr/>
        </p:nvPicPr>
        <p:blipFill>
          <a:blip r:embed="rId2"/>
          <a:stretch>
            <a:fillRect/>
          </a:stretch>
        </p:blipFill>
        <p:spPr>
          <a:xfrm>
            <a:off x="1951781" y="1094858"/>
            <a:ext cx="8773774" cy="5374800"/>
          </a:xfrm>
          <a:prstGeom prst="rect">
            <a:avLst/>
          </a:prstGeom>
        </p:spPr>
      </p:pic>
      <p:sp>
        <p:nvSpPr>
          <p:cNvPr id="6" name="テキスト ボックス 5"/>
          <p:cNvSpPr txBox="1"/>
          <p:nvPr/>
        </p:nvSpPr>
        <p:spPr>
          <a:xfrm>
            <a:off x="1526063" y="695353"/>
            <a:ext cx="7004135" cy="378135"/>
          </a:xfrm>
          <a:prstGeom prst="rect">
            <a:avLst/>
          </a:prstGeom>
          <a:noFill/>
        </p:spPr>
        <p:txBody>
          <a:bodyPr wrap="square" rtlCol="0">
            <a:spAutoFit/>
          </a:bodyPr>
          <a:lstStyle/>
          <a:p>
            <a:r>
              <a:rPr kumimoji="1"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管理ツール</a:t>
            </a:r>
            <a:r>
              <a:rPr lang="ja-JP" altLang="en-US" sz="1200" dirty="0" smtClean="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smtClean="0">
                <a:solidFill>
                  <a:schemeClr val="tx1">
                    <a:lumMod val="65000"/>
                    <a:lumOff val="35000"/>
                  </a:schemeClr>
                </a:solidFill>
                <a:latin typeface="メイリオ" panose="020B0604030504040204" pitchFamily="50" charset="-128"/>
                <a:ea typeface="メイリオ" panose="020B0604030504040204" pitchFamily="50" charset="-128"/>
              </a:rPr>
              <a:t>CSV</a:t>
            </a:r>
            <a:r>
              <a:rPr lang="ja-JP" altLang="en-US" sz="1200" dirty="0" smtClean="0">
                <a:solidFill>
                  <a:schemeClr val="tx1">
                    <a:lumMod val="65000"/>
                    <a:lumOff val="35000"/>
                  </a:schemeClr>
                </a:solidFill>
                <a:latin typeface="メイリオ" panose="020B0604030504040204" pitchFamily="50" charset="-128"/>
                <a:ea typeface="メイリオ" panose="020B0604030504040204" pitchFamily="50" charset="-128"/>
              </a:rPr>
              <a:t>形式で</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200" dirty="0" smtClean="0">
                <a:solidFill>
                  <a:schemeClr val="tx1">
                    <a:lumMod val="65000"/>
                    <a:lumOff val="35000"/>
                  </a:schemeClr>
                </a:solidFill>
                <a:latin typeface="メイリオ" panose="020B0604030504040204" pitchFamily="50" charset="-128"/>
                <a:ea typeface="メイリオ" panose="020B0604030504040204" pitchFamily="50" charset="-128"/>
              </a:rPr>
              <a:t>未登録の役職などは自動登録する場合）</a:t>
            </a:r>
            <a:endParaRPr kumimoji="1" lang="ja-JP" altLang="en-US"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 name="テキスト ボックス 6"/>
          <p:cNvSpPr txBox="1"/>
          <p:nvPr/>
        </p:nvSpPr>
        <p:spPr>
          <a:xfrm>
            <a:off x="2029094" y="4605578"/>
            <a:ext cx="875899" cy="230832"/>
          </a:xfrm>
          <a:prstGeom prst="rect">
            <a:avLst/>
          </a:prstGeom>
          <a:noFill/>
        </p:spPr>
        <p:txBody>
          <a:bodyPr wrap="square" rtlCol="0">
            <a:spAutoFit/>
          </a:bodyPr>
          <a:lstStyle/>
          <a:p>
            <a:r>
              <a:rPr kumimoji="1" lang="ja-JP" altLang="en-US" sz="900" b="1" dirty="0" smtClean="0">
                <a:solidFill>
                  <a:schemeClr val="bg1"/>
                </a:solidFill>
                <a:latin typeface="メイリオ" panose="020B0604030504040204" pitchFamily="50" charset="-128"/>
                <a:ea typeface="メイリオ" panose="020B0604030504040204" pitchFamily="50" charset="-128"/>
              </a:rPr>
              <a:t>設定</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8" name="テキスト ボックス 7"/>
          <p:cNvSpPr txBox="1"/>
          <p:nvPr/>
        </p:nvSpPr>
        <p:spPr>
          <a:xfrm>
            <a:off x="2009844" y="5100821"/>
            <a:ext cx="1318164" cy="230832"/>
          </a:xfrm>
          <a:prstGeom prst="rect">
            <a:avLst/>
          </a:prstGeom>
          <a:noFill/>
        </p:spPr>
        <p:txBody>
          <a:bodyPr wrap="square" rtlCol="0">
            <a:spAutoFit/>
          </a:bodyPr>
          <a:lstStyle/>
          <a:p>
            <a:r>
              <a:rPr kumimoji="1" lang="ja-JP" altLang="en-US" sz="900" b="1" dirty="0" smtClean="0">
                <a:solidFill>
                  <a:schemeClr val="tx1">
                    <a:lumMod val="65000"/>
                    <a:lumOff val="35000"/>
                  </a:schemeClr>
                </a:solidFill>
                <a:latin typeface="メイリオ" panose="020B0604030504040204" pitchFamily="50" charset="-128"/>
                <a:ea typeface="メイリオ" panose="020B0604030504040204" pitchFamily="50" charset="-128"/>
              </a:rPr>
              <a:t>セキュリティ</a:t>
            </a:r>
            <a:endPar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9" name="テキスト ボックス 8"/>
          <p:cNvSpPr txBox="1"/>
          <p:nvPr/>
        </p:nvSpPr>
        <p:spPr>
          <a:xfrm>
            <a:off x="2002916" y="2346659"/>
            <a:ext cx="1318164" cy="230832"/>
          </a:xfrm>
          <a:prstGeom prst="rect">
            <a:avLst/>
          </a:prstGeom>
          <a:noFill/>
        </p:spPr>
        <p:txBody>
          <a:bodyPr wrap="square" rtlCol="0">
            <a:spAutoFit/>
          </a:bodyPr>
          <a:lstStyle/>
          <a:p>
            <a:r>
              <a:rPr kumimoji="1" lang="ja-JP" altLang="en-US" sz="900" b="1" dirty="0" smtClean="0">
                <a:solidFill>
                  <a:schemeClr val="tx1">
                    <a:lumMod val="65000"/>
                    <a:lumOff val="35000"/>
                  </a:schemeClr>
                </a:solidFill>
                <a:latin typeface="メイリオ" panose="020B0604030504040204" pitchFamily="50" charset="-128"/>
                <a:ea typeface="メイリオ" panose="020B0604030504040204" pitchFamily="50" charset="-128"/>
              </a:rPr>
              <a:t>一括登録</a:t>
            </a:r>
            <a:endPar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0" name="正方形/長方形 9"/>
          <p:cNvSpPr/>
          <p:nvPr/>
        </p:nvSpPr>
        <p:spPr>
          <a:xfrm>
            <a:off x="4240726" y="2124563"/>
            <a:ext cx="5788797" cy="3564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p:cNvSpPr txBox="1"/>
          <p:nvPr/>
        </p:nvSpPr>
        <p:spPr>
          <a:xfrm>
            <a:off x="4240726" y="1878342"/>
            <a:ext cx="1744133" cy="276999"/>
          </a:xfrm>
          <a:prstGeom prst="rect">
            <a:avLst/>
          </a:prstGeom>
          <a:noFill/>
        </p:spPr>
        <p:txBody>
          <a:bodyPr wrap="square" rtlCol="0">
            <a:spAutoFit/>
          </a:bodyPr>
          <a:lstStyle/>
          <a:p>
            <a:r>
              <a:rPr kumimoji="1" lang="ja-JP" altLang="en-US" sz="1200" b="1" dirty="0" smtClean="0">
                <a:solidFill>
                  <a:schemeClr val="tx1">
                    <a:lumMod val="65000"/>
                    <a:lumOff val="35000"/>
                  </a:schemeClr>
                </a:solidFill>
                <a:latin typeface="メイリオ" panose="020B0604030504040204" pitchFamily="50" charset="-128"/>
                <a:ea typeface="メイリオ" panose="020B0604030504040204" pitchFamily="50" charset="-128"/>
              </a:rPr>
              <a:t>ユーザ情報一括登録</a:t>
            </a:r>
            <a:endParaRPr kumimoji="1" lang="ja-JP" altLang="en-US" sz="12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正方形/長方形 11"/>
          <p:cNvSpPr/>
          <p:nvPr/>
        </p:nvSpPr>
        <p:spPr>
          <a:xfrm>
            <a:off x="4495927" y="2436803"/>
            <a:ext cx="864000" cy="189513"/>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p:cNvSpPr txBox="1"/>
          <p:nvPr/>
        </p:nvSpPr>
        <p:spPr>
          <a:xfrm>
            <a:off x="4485767" y="2433317"/>
            <a:ext cx="986010" cy="215444"/>
          </a:xfrm>
          <a:prstGeom prst="rect">
            <a:avLst/>
          </a:prstGeom>
          <a:noFill/>
        </p:spPr>
        <p:txBody>
          <a:bodyPr wrap="square" rtlCol="0">
            <a:spAutoFit/>
          </a:bodyPr>
          <a:lstStyle/>
          <a:p>
            <a:r>
              <a:rPr kumimoji="1" lang="ja-JP" altLang="en-US" sz="800" b="1" dirty="0" smtClean="0">
                <a:solidFill>
                  <a:schemeClr val="tx1">
                    <a:lumMod val="85000"/>
                    <a:lumOff val="15000"/>
                  </a:schemeClr>
                </a:solidFill>
              </a:rPr>
              <a:t>ファイルを選択</a:t>
            </a:r>
            <a:endParaRPr kumimoji="1" lang="ja-JP" altLang="en-US" sz="800" b="1" dirty="0">
              <a:solidFill>
                <a:schemeClr val="tx1">
                  <a:lumMod val="85000"/>
                  <a:lumOff val="15000"/>
                </a:schemeClr>
              </a:solidFill>
            </a:endParaRPr>
          </a:p>
        </p:txBody>
      </p:sp>
      <p:sp>
        <p:nvSpPr>
          <p:cNvPr id="15" name="テキスト ボックス 14"/>
          <p:cNvSpPr txBox="1"/>
          <p:nvPr/>
        </p:nvSpPr>
        <p:spPr>
          <a:xfrm>
            <a:off x="5376876" y="2445893"/>
            <a:ext cx="1459416" cy="200055"/>
          </a:xfrm>
          <a:prstGeom prst="rect">
            <a:avLst/>
          </a:prstGeom>
          <a:noFill/>
        </p:spPr>
        <p:txBody>
          <a:bodyPr wrap="square" rtlCol="0">
            <a:spAutoFit/>
          </a:bodyPr>
          <a:lstStyle/>
          <a:p>
            <a:r>
              <a:rPr lang="en-US" altLang="ja-JP" sz="700" dirty="0" smtClean="0">
                <a:latin typeface="メイリオ" panose="020B0604030504040204" pitchFamily="50" charset="-128"/>
                <a:ea typeface="メイリオ" panose="020B0604030504040204" pitchFamily="50" charset="-128"/>
              </a:rPr>
              <a:t>Userlist.csv</a:t>
            </a:r>
            <a:endParaRPr kumimoji="1" lang="ja-JP" altLang="en-US" sz="700"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4504397" y="3166591"/>
            <a:ext cx="864000" cy="213205"/>
          </a:xfrm>
          <a:prstGeom prst="rect">
            <a:avLst/>
          </a:prstGeom>
          <a:solidFill>
            <a:srgbClr val="00B0F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p:cNvSpPr txBox="1"/>
          <p:nvPr/>
        </p:nvSpPr>
        <p:spPr>
          <a:xfrm>
            <a:off x="4494237" y="3163105"/>
            <a:ext cx="986010" cy="230832"/>
          </a:xfrm>
          <a:prstGeom prst="rect">
            <a:avLst/>
          </a:prstGeom>
          <a:noFill/>
        </p:spPr>
        <p:txBody>
          <a:bodyPr wrap="square" rtlCol="0">
            <a:spAutoFit/>
          </a:bodyPr>
          <a:lstStyle/>
          <a:p>
            <a:r>
              <a:rPr kumimoji="1" lang="ja-JP" altLang="en-US" sz="900" b="1" dirty="0" smtClean="0">
                <a:solidFill>
                  <a:schemeClr val="bg1"/>
                </a:solidFill>
              </a:rPr>
              <a:t>チェック開始</a:t>
            </a:r>
            <a:endParaRPr kumimoji="1" lang="ja-JP" altLang="en-US" sz="900" b="1" dirty="0">
              <a:solidFill>
                <a:schemeClr val="bg1"/>
              </a:solidFill>
            </a:endParaRPr>
          </a:p>
        </p:txBody>
      </p:sp>
      <p:sp>
        <p:nvSpPr>
          <p:cNvPr id="20" name="正方形/長方形 19"/>
          <p:cNvSpPr/>
          <p:nvPr/>
        </p:nvSpPr>
        <p:spPr>
          <a:xfrm>
            <a:off x="4506980" y="3675860"/>
            <a:ext cx="4826848" cy="762601"/>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p:cNvSpPr txBox="1"/>
          <p:nvPr/>
        </p:nvSpPr>
        <p:spPr>
          <a:xfrm>
            <a:off x="4443203" y="3474582"/>
            <a:ext cx="1459416" cy="246221"/>
          </a:xfrm>
          <a:prstGeom prst="rect">
            <a:avLst/>
          </a:prstGeom>
          <a:noFill/>
        </p:spPr>
        <p:txBody>
          <a:bodyPr wrap="square" rtlCol="0">
            <a:spAutoFit/>
          </a:bodyPr>
          <a:lstStyle/>
          <a:p>
            <a:r>
              <a:rPr kumimoji="1" lang="ja-JP" altLang="en-US" sz="1000" b="1" dirty="0" smtClean="0">
                <a:latin typeface="メイリオ" panose="020B0604030504040204" pitchFamily="50" charset="-128"/>
                <a:ea typeface="メイリオ" panose="020B0604030504040204" pitchFamily="50" charset="-128"/>
              </a:rPr>
              <a:t>チェック</a:t>
            </a:r>
            <a:r>
              <a:rPr lang="ja-JP" altLang="en-US" sz="1000" b="1" dirty="0">
                <a:latin typeface="メイリオ" panose="020B0604030504040204" pitchFamily="50" charset="-128"/>
                <a:ea typeface="メイリオ" panose="020B0604030504040204" pitchFamily="50" charset="-128"/>
              </a:rPr>
              <a:t>結果</a:t>
            </a:r>
            <a:endParaRPr kumimoji="1" lang="ja-JP" altLang="en-US" sz="1000" b="1" dirty="0">
              <a:latin typeface="メイリオ" panose="020B0604030504040204" pitchFamily="50" charset="-128"/>
              <a:ea typeface="メイリオ" panose="020B0604030504040204" pitchFamily="50" charset="-128"/>
            </a:endParaRPr>
          </a:p>
        </p:txBody>
      </p:sp>
      <p:sp>
        <p:nvSpPr>
          <p:cNvPr id="23" name="テキスト ボックス 22"/>
          <p:cNvSpPr txBox="1"/>
          <p:nvPr/>
        </p:nvSpPr>
        <p:spPr>
          <a:xfrm>
            <a:off x="4545614" y="3730575"/>
            <a:ext cx="4788213" cy="784830"/>
          </a:xfrm>
          <a:prstGeom prst="rect">
            <a:avLst/>
          </a:prstGeom>
          <a:noFill/>
        </p:spPr>
        <p:txBody>
          <a:bodyPr wrap="square" rtlCol="0">
            <a:spAutoFit/>
          </a:bodyPr>
          <a:lstStyle/>
          <a:p>
            <a:r>
              <a:rPr lang="ja-JP" altLang="en-US" sz="900" dirty="0" smtClean="0">
                <a:solidFill>
                  <a:srgbClr val="0070C0"/>
                </a:solidFill>
                <a:latin typeface="メイリオ" panose="020B0604030504040204" pitchFamily="50" charset="-128"/>
                <a:ea typeface="メイリオ" panose="020B0604030504040204" pitchFamily="50" charset="-128"/>
              </a:rPr>
              <a:t>・１行目　入力した社員</a:t>
            </a:r>
            <a:r>
              <a:rPr lang="en-US" altLang="ja-JP" sz="900" dirty="0" smtClean="0">
                <a:solidFill>
                  <a:srgbClr val="0070C0"/>
                </a:solidFill>
                <a:latin typeface="メイリオ" panose="020B0604030504040204" pitchFamily="50" charset="-128"/>
                <a:ea typeface="メイリオ" panose="020B0604030504040204" pitchFamily="50" charset="-128"/>
              </a:rPr>
              <a:t>ID</a:t>
            </a:r>
            <a:r>
              <a:rPr lang="ja-JP" altLang="en-US" sz="900" dirty="0" err="1" smtClean="0">
                <a:solidFill>
                  <a:srgbClr val="0070C0"/>
                </a:solidFill>
                <a:latin typeface="メイリオ" panose="020B0604030504040204" pitchFamily="50" charset="-128"/>
                <a:ea typeface="メイリオ" panose="020B0604030504040204" pitchFamily="50" charset="-128"/>
              </a:rPr>
              <a:t>、</a:t>
            </a:r>
            <a:r>
              <a:rPr lang="ja-JP" altLang="en-US" sz="900" dirty="0" smtClean="0">
                <a:solidFill>
                  <a:srgbClr val="0070C0"/>
                </a:solidFill>
                <a:latin typeface="メイリオ" panose="020B0604030504040204" pitchFamily="50" charset="-128"/>
                <a:ea typeface="メイリオ" panose="020B0604030504040204" pitchFamily="50" charset="-128"/>
              </a:rPr>
              <a:t>メールアドレスと一致するユーザがすでに登録されています。このまま登録すると登録済みのデータが上書きされます。</a:t>
            </a:r>
            <a:endParaRPr lang="en-US" altLang="ja-JP" sz="900" dirty="0" smtClean="0">
              <a:solidFill>
                <a:srgbClr val="0070C0"/>
              </a:solidFill>
              <a:latin typeface="メイリオ" panose="020B0604030504040204" pitchFamily="50" charset="-128"/>
              <a:ea typeface="メイリオ" panose="020B0604030504040204" pitchFamily="50" charset="-128"/>
            </a:endParaRPr>
          </a:p>
          <a:p>
            <a:r>
              <a:rPr kumimoji="1" lang="ja-JP" altLang="en-US" sz="900" dirty="0" smtClean="0">
                <a:solidFill>
                  <a:srgbClr val="FF0000"/>
                </a:solidFill>
                <a:latin typeface="メイリオ" panose="020B0604030504040204" pitchFamily="50" charset="-128"/>
                <a:ea typeface="メイリオ" panose="020B0604030504040204" pitchFamily="50" charset="-128"/>
              </a:rPr>
              <a:t>・１行目　役職が入力されていません。</a:t>
            </a:r>
            <a:endParaRPr kumimoji="1" lang="en-US" altLang="ja-JP" sz="900" dirty="0" smtClean="0">
              <a:solidFill>
                <a:srgbClr val="FF0000"/>
              </a:solidFill>
              <a:latin typeface="メイリオ" panose="020B0604030504040204" pitchFamily="50" charset="-128"/>
              <a:ea typeface="メイリオ" panose="020B0604030504040204" pitchFamily="50" charset="-128"/>
            </a:endParaRPr>
          </a:p>
          <a:p>
            <a:r>
              <a:rPr lang="ja-JP" altLang="en-US" sz="900" dirty="0" smtClean="0">
                <a:solidFill>
                  <a:schemeClr val="accent1">
                    <a:lumMod val="75000"/>
                  </a:schemeClr>
                </a:solidFill>
                <a:latin typeface="メイリオ" panose="020B0604030504040204" pitchFamily="50" charset="-128"/>
                <a:ea typeface="メイリオ" panose="020B0604030504040204" pitchFamily="50" charset="-128"/>
              </a:rPr>
              <a:t>・２行目　登録されていない拠点名が入力されています。このまま登録すると拠点が新しく追加されます。</a:t>
            </a:r>
            <a:endParaRPr kumimoji="1" lang="en-US" altLang="ja-JP" sz="900" dirty="0" smtClean="0">
              <a:solidFill>
                <a:srgbClr val="FF0000"/>
              </a:solidFill>
              <a:latin typeface="メイリオ" panose="020B0604030504040204" pitchFamily="50" charset="-128"/>
              <a:ea typeface="メイリオ" panose="020B0604030504040204" pitchFamily="50" charset="-128"/>
            </a:endParaRPr>
          </a:p>
        </p:txBody>
      </p:sp>
      <p:sp>
        <p:nvSpPr>
          <p:cNvPr id="24" name="正方形/長方形 23"/>
          <p:cNvSpPr/>
          <p:nvPr/>
        </p:nvSpPr>
        <p:spPr>
          <a:xfrm>
            <a:off x="8740232" y="5347276"/>
            <a:ext cx="648000" cy="216000"/>
          </a:xfrm>
          <a:prstGeom prst="rect">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p:cNvSpPr txBox="1"/>
          <p:nvPr/>
        </p:nvSpPr>
        <p:spPr>
          <a:xfrm>
            <a:off x="8730073" y="5343791"/>
            <a:ext cx="986010" cy="230832"/>
          </a:xfrm>
          <a:prstGeom prst="rect">
            <a:avLst/>
          </a:prstGeom>
          <a:noFill/>
        </p:spPr>
        <p:txBody>
          <a:bodyPr wrap="square" rtlCol="0">
            <a:spAutoFit/>
          </a:bodyPr>
          <a:lstStyle/>
          <a:p>
            <a:r>
              <a:rPr lang="ja-JP" altLang="en-US" sz="900" b="1" dirty="0" smtClean="0">
                <a:solidFill>
                  <a:schemeClr val="bg1"/>
                </a:solidFill>
              </a:rPr>
              <a:t>一括登録</a:t>
            </a:r>
            <a:endParaRPr kumimoji="1" lang="ja-JP" altLang="en-US" sz="900" b="1" dirty="0">
              <a:solidFill>
                <a:schemeClr val="bg1"/>
              </a:solidFill>
            </a:endParaRPr>
          </a:p>
        </p:txBody>
      </p:sp>
      <p:sp>
        <p:nvSpPr>
          <p:cNvPr id="19" name="四角形吹き出し 18"/>
          <p:cNvSpPr/>
          <p:nvPr/>
        </p:nvSpPr>
        <p:spPr>
          <a:xfrm>
            <a:off x="10091104" y="4191693"/>
            <a:ext cx="2439736" cy="817096"/>
          </a:xfrm>
          <a:prstGeom prst="wedgeRectCallout">
            <a:avLst>
              <a:gd name="adj1" fmla="val -43116"/>
              <a:gd name="adj2" fmla="val 9268"/>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dirty="0" smtClean="0">
                <a:solidFill>
                  <a:schemeClr val="tx1"/>
                </a:solidFill>
              </a:rPr>
              <a:t>チェック実行後、結果欄と「一括登録」ボタンを表示。</a:t>
            </a:r>
            <a:endParaRPr kumimoji="1" lang="ja-JP" altLang="en-US" sz="1400" dirty="0">
              <a:solidFill>
                <a:schemeClr val="tx1"/>
              </a:solidFill>
            </a:endParaRPr>
          </a:p>
        </p:txBody>
      </p:sp>
      <p:sp>
        <p:nvSpPr>
          <p:cNvPr id="26" name="四角形吹き出し 25"/>
          <p:cNvSpPr/>
          <p:nvPr/>
        </p:nvSpPr>
        <p:spPr>
          <a:xfrm>
            <a:off x="6836292" y="5871459"/>
            <a:ext cx="3544494" cy="1193201"/>
          </a:xfrm>
          <a:prstGeom prst="wedgeRectCallout">
            <a:avLst>
              <a:gd name="adj1" fmla="val 11520"/>
              <a:gd name="adj2" fmla="val -78687"/>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dirty="0" smtClean="0">
                <a:solidFill>
                  <a:schemeClr val="tx1"/>
                </a:solidFill>
              </a:rPr>
              <a:t>赤字のエラーが無い場合、「一括登録」ボタンをクリック可能</a:t>
            </a:r>
            <a:r>
              <a:rPr lang="en-US" altLang="ja-JP" sz="1400" dirty="0" smtClean="0">
                <a:solidFill>
                  <a:schemeClr val="tx1"/>
                </a:solidFill>
              </a:rPr>
              <a:t>(</a:t>
            </a:r>
            <a:r>
              <a:rPr lang="ja-JP" altLang="en-US" sz="1400" dirty="0" smtClean="0">
                <a:solidFill>
                  <a:schemeClr val="tx1"/>
                </a:solidFill>
              </a:rPr>
              <a:t>背景青</a:t>
            </a:r>
            <a:r>
              <a:rPr lang="en-US" altLang="ja-JP" sz="1400" dirty="0" smtClean="0">
                <a:solidFill>
                  <a:schemeClr val="tx1"/>
                </a:solidFill>
              </a:rPr>
              <a:t>)</a:t>
            </a:r>
            <a:r>
              <a:rPr lang="ja-JP" altLang="en-US" sz="1400" dirty="0" smtClean="0">
                <a:solidFill>
                  <a:schemeClr val="tx1"/>
                </a:solidFill>
              </a:rPr>
              <a:t>にする。</a:t>
            </a:r>
            <a:endParaRPr lang="en-US" altLang="ja-JP" sz="1400" dirty="0" smtClean="0">
              <a:solidFill>
                <a:schemeClr val="tx1"/>
              </a:solidFill>
            </a:endParaRPr>
          </a:p>
          <a:p>
            <a:r>
              <a:rPr kumimoji="1" lang="ja-JP" altLang="en-US" sz="1400" dirty="0" smtClean="0">
                <a:solidFill>
                  <a:schemeClr val="tx1"/>
                </a:solidFill>
              </a:rPr>
              <a:t>クリックしたら、一括登録確認</a:t>
            </a:r>
            <a:r>
              <a:rPr kumimoji="1" lang="ja-JP" altLang="en-US" sz="1400" dirty="0" smtClean="0">
                <a:solidFill>
                  <a:schemeClr val="tx1"/>
                </a:solidFill>
              </a:rPr>
              <a:t>ダイアログを表示。</a:t>
            </a:r>
            <a:endParaRPr kumimoji="1" lang="ja-JP" altLang="en-US" sz="1400" dirty="0">
              <a:solidFill>
                <a:schemeClr val="tx1"/>
              </a:solidFill>
            </a:endParaRPr>
          </a:p>
        </p:txBody>
      </p:sp>
      <p:sp>
        <p:nvSpPr>
          <p:cNvPr id="27" name="右中かっこ 26"/>
          <p:cNvSpPr/>
          <p:nvPr/>
        </p:nvSpPr>
        <p:spPr>
          <a:xfrm>
            <a:off x="9560478" y="3485276"/>
            <a:ext cx="382324" cy="214852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8" name="四角形吹き出し 27"/>
          <p:cNvSpPr/>
          <p:nvPr/>
        </p:nvSpPr>
        <p:spPr>
          <a:xfrm>
            <a:off x="205788" y="3325918"/>
            <a:ext cx="3257146" cy="1026475"/>
          </a:xfrm>
          <a:prstGeom prst="wedgeRectCallout">
            <a:avLst>
              <a:gd name="adj1" fmla="val 81829"/>
              <a:gd name="adj2" fmla="val -1595"/>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dirty="0" smtClean="0">
                <a:solidFill>
                  <a:schemeClr val="tx1"/>
                </a:solidFill>
              </a:rPr>
              <a:t>解消</a:t>
            </a:r>
            <a:r>
              <a:rPr lang="ja-JP" altLang="en-US" sz="1400" dirty="0">
                <a:solidFill>
                  <a:schemeClr val="tx1"/>
                </a:solidFill>
              </a:rPr>
              <a:t>する必要があるエラーは赤字、解消しなくても良いもの</a:t>
            </a:r>
            <a:r>
              <a:rPr lang="ja-JP" altLang="en-US" sz="1400" dirty="0" smtClean="0">
                <a:solidFill>
                  <a:schemeClr val="tx1"/>
                </a:solidFill>
              </a:rPr>
              <a:t>は緑・青</a:t>
            </a:r>
            <a:r>
              <a:rPr lang="ja-JP" altLang="en-US" sz="1400" dirty="0">
                <a:solidFill>
                  <a:schemeClr val="tx1"/>
                </a:solidFill>
              </a:rPr>
              <a:t>字</a:t>
            </a:r>
            <a:r>
              <a:rPr lang="ja-JP" altLang="en-US" sz="1400" dirty="0" smtClean="0">
                <a:solidFill>
                  <a:schemeClr val="tx1"/>
                </a:solidFill>
              </a:rPr>
              <a:t>。</a:t>
            </a:r>
            <a:endParaRPr lang="en-US" altLang="ja-JP" sz="1400" dirty="0" smtClean="0">
              <a:solidFill>
                <a:schemeClr val="tx1"/>
              </a:solidFill>
            </a:endParaRPr>
          </a:p>
          <a:p>
            <a:r>
              <a:rPr lang="en-US" altLang="ja-JP" sz="1400" dirty="0" smtClean="0">
                <a:solidFill>
                  <a:schemeClr val="tx1"/>
                </a:solidFill>
              </a:rPr>
              <a:t>(</a:t>
            </a:r>
            <a:r>
              <a:rPr lang="ja-JP" altLang="en-US" sz="1400" dirty="0" smtClean="0">
                <a:solidFill>
                  <a:schemeClr val="tx1"/>
                </a:solidFill>
              </a:rPr>
              <a:t>チェック内容の詳細は別シート参照</a:t>
            </a:r>
            <a:r>
              <a:rPr lang="en-US" altLang="ja-JP" sz="1400" dirty="0" smtClean="0">
                <a:solidFill>
                  <a:schemeClr val="tx1"/>
                </a:solidFill>
              </a:rPr>
              <a:t>)</a:t>
            </a:r>
            <a:endParaRPr lang="ja-JP" altLang="en-US" sz="1400" dirty="0">
              <a:solidFill>
                <a:schemeClr val="tx1"/>
              </a:solidFill>
            </a:endParaRPr>
          </a:p>
        </p:txBody>
      </p:sp>
      <p:sp>
        <p:nvSpPr>
          <p:cNvPr id="16" name="四角形吹き出し 15"/>
          <p:cNvSpPr/>
          <p:nvPr/>
        </p:nvSpPr>
        <p:spPr>
          <a:xfrm>
            <a:off x="9143504" y="1060253"/>
            <a:ext cx="3514083" cy="1063302"/>
          </a:xfrm>
          <a:prstGeom prst="wedgeRectCallout">
            <a:avLst>
              <a:gd name="adj1" fmla="val -135720"/>
              <a:gd name="adj2" fmla="val 90161"/>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smtClean="0">
                <a:solidFill>
                  <a:schemeClr val="tx1"/>
                </a:solidFill>
              </a:rPr>
              <a:t>選択したファイル名を表示</a:t>
            </a:r>
            <a:endParaRPr kumimoji="1" lang="en-US" altLang="ja-JP" sz="1400" dirty="0" smtClean="0">
              <a:solidFill>
                <a:schemeClr val="tx1"/>
              </a:solidFill>
            </a:endParaRPr>
          </a:p>
          <a:p>
            <a:r>
              <a:rPr lang="ja-JP" altLang="en-US" sz="1400" dirty="0" smtClean="0">
                <a:solidFill>
                  <a:schemeClr val="tx1"/>
                </a:solidFill>
              </a:rPr>
              <a:t>未選択の場合、「選択されていません」と表示する。</a:t>
            </a:r>
            <a:endParaRPr lang="en-US" altLang="ja-JP" sz="1400" dirty="0" smtClean="0">
              <a:solidFill>
                <a:schemeClr val="tx1"/>
              </a:solidFill>
            </a:endParaRPr>
          </a:p>
          <a:p>
            <a:r>
              <a:rPr kumimoji="1" lang="ja-JP" altLang="en-US" sz="1400" dirty="0" smtClean="0">
                <a:solidFill>
                  <a:schemeClr val="tx1"/>
                </a:solidFill>
              </a:rPr>
              <a:t>（イーストックと同じ）</a:t>
            </a:r>
            <a:endParaRPr kumimoji="1" lang="ja-JP" altLang="en-US" sz="1400" dirty="0">
              <a:solidFill>
                <a:schemeClr val="tx1"/>
              </a:solidFill>
            </a:endParaRPr>
          </a:p>
        </p:txBody>
      </p:sp>
      <p:graphicFrame>
        <p:nvGraphicFramePr>
          <p:cNvPr id="37" name="表 36"/>
          <p:cNvGraphicFramePr>
            <a:graphicFrameLocks noGrp="1"/>
          </p:cNvGraphicFramePr>
          <p:nvPr>
            <p:extLst>
              <p:ext uri="{D42A27DB-BD31-4B8C-83A1-F6EECF244321}">
                <p14:modId xmlns:p14="http://schemas.microsoft.com/office/powerpoint/2010/main" val="3293103700"/>
              </p:ext>
            </p:extLst>
          </p:nvPr>
        </p:nvGraphicFramePr>
        <p:xfrm>
          <a:off x="4506979" y="4530131"/>
          <a:ext cx="4826847" cy="646079"/>
        </p:xfrm>
        <a:graphic>
          <a:graphicData uri="http://schemas.openxmlformats.org/drawingml/2006/table">
            <a:tbl>
              <a:tblPr>
                <a:tableStyleId>{5C22544A-7EE6-4342-B048-85BDC9FD1C3A}</a:tableStyleId>
              </a:tblPr>
              <a:tblGrid>
                <a:gridCol w="339341">
                  <a:extLst>
                    <a:ext uri="{9D8B030D-6E8A-4147-A177-3AD203B41FA5}">
                      <a16:colId xmlns:a16="http://schemas.microsoft.com/office/drawing/2014/main" val="3038182844"/>
                    </a:ext>
                  </a:extLst>
                </a:gridCol>
                <a:gridCol w="558800">
                  <a:extLst>
                    <a:ext uri="{9D8B030D-6E8A-4147-A177-3AD203B41FA5}">
                      <a16:colId xmlns:a16="http://schemas.microsoft.com/office/drawing/2014/main" val="1205032259"/>
                    </a:ext>
                  </a:extLst>
                </a:gridCol>
                <a:gridCol w="587223">
                  <a:extLst>
                    <a:ext uri="{9D8B030D-6E8A-4147-A177-3AD203B41FA5}">
                      <a16:colId xmlns:a16="http://schemas.microsoft.com/office/drawing/2014/main" val="3992671608"/>
                    </a:ext>
                  </a:extLst>
                </a:gridCol>
                <a:gridCol w="1082516">
                  <a:extLst>
                    <a:ext uri="{9D8B030D-6E8A-4147-A177-3AD203B41FA5}">
                      <a16:colId xmlns:a16="http://schemas.microsoft.com/office/drawing/2014/main" val="3443262818"/>
                    </a:ext>
                  </a:extLst>
                </a:gridCol>
                <a:gridCol w="967073">
                  <a:extLst>
                    <a:ext uri="{9D8B030D-6E8A-4147-A177-3AD203B41FA5}">
                      <a16:colId xmlns:a16="http://schemas.microsoft.com/office/drawing/2014/main" val="2285764128"/>
                    </a:ext>
                  </a:extLst>
                </a:gridCol>
                <a:gridCol w="577809">
                  <a:extLst>
                    <a:ext uri="{9D8B030D-6E8A-4147-A177-3AD203B41FA5}">
                      <a16:colId xmlns:a16="http://schemas.microsoft.com/office/drawing/2014/main" val="2117342343"/>
                    </a:ext>
                  </a:extLst>
                </a:gridCol>
                <a:gridCol w="714085">
                  <a:extLst>
                    <a:ext uri="{9D8B030D-6E8A-4147-A177-3AD203B41FA5}">
                      <a16:colId xmlns:a16="http://schemas.microsoft.com/office/drawing/2014/main" val="2411307891"/>
                    </a:ext>
                  </a:extLst>
                </a:gridCol>
              </a:tblGrid>
              <a:tr h="219359">
                <a:tc>
                  <a:txBody>
                    <a:bodyPr/>
                    <a:lstStyle/>
                    <a:p>
                      <a:pPr algn="ct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800" dirty="0" smtClean="0"/>
                        <a:t>結果</a:t>
                      </a: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800" dirty="0" smtClean="0"/>
                        <a:t>社員</a:t>
                      </a:r>
                      <a:r>
                        <a:rPr kumimoji="1" lang="en-US" altLang="ja-JP" sz="800" dirty="0" smtClean="0"/>
                        <a:t>ID</a:t>
                      </a: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800" dirty="0" smtClean="0"/>
                        <a:t>氏名</a:t>
                      </a: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800" dirty="0" smtClean="0"/>
                        <a:t>氏名</a:t>
                      </a:r>
                      <a:r>
                        <a:rPr kumimoji="1" lang="en-US" altLang="ja-JP" sz="800" dirty="0" smtClean="0"/>
                        <a:t>(</a:t>
                      </a:r>
                      <a:r>
                        <a:rPr kumimoji="1" lang="ja-JP" altLang="en-US" sz="800" dirty="0" smtClean="0"/>
                        <a:t>ふりがな</a:t>
                      </a:r>
                      <a:r>
                        <a:rPr kumimoji="1" lang="en-US" altLang="ja-JP" sz="800" dirty="0" smtClean="0"/>
                        <a:t>)</a:t>
                      </a: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800" dirty="0" smtClean="0"/>
                        <a:t>役職</a:t>
                      </a: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800" dirty="0" smtClean="0"/>
                        <a:t>拠点</a:t>
                      </a: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31110139"/>
                  </a:ext>
                </a:extLst>
              </a:tr>
              <a:tr h="139592">
                <a:tc>
                  <a:txBody>
                    <a:bodyPr/>
                    <a:lstStyle/>
                    <a:p>
                      <a:pPr algn="ctr"/>
                      <a:endParaRPr kumimoji="1" lang="ja-JP" altLang="en-US" sz="800" dirty="0">
                        <a:solidFill>
                          <a:srgbClr val="FF0000"/>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dirty="0" smtClean="0">
                          <a:solidFill>
                            <a:srgbClr val="FF0000"/>
                          </a:solidFill>
                        </a:rPr>
                        <a:t>エラー</a:t>
                      </a:r>
                      <a:endParaRPr kumimoji="1" lang="ja-JP" altLang="en-US" sz="800" dirty="0">
                        <a:solidFill>
                          <a:srgbClr val="FF0000"/>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rgbClr val="FFD1D1"/>
                    </a:solidFill>
                  </a:tcPr>
                </a:tc>
                <a:tc>
                  <a:txBody>
                    <a:bodyPr/>
                    <a:lstStyle/>
                    <a:p>
                      <a:pPr algn="ctr"/>
                      <a:r>
                        <a:rPr kumimoji="1" lang="en-US" altLang="ja-JP" sz="800" dirty="0" smtClean="0"/>
                        <a:t>100</a:t>
                      </a: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rgbClr val="CCECFF"/>
                    </a:solidFill>
                  </a:tcPr>
                </a:tc>
                <a:tc>
                  <a:txBody>
                    <a:bodyPr/>
                    <a:lstStyle/>
                    <a:p>
                      <a:pPr algn="ctr"/>
                      <a:r>
                        <a:rPr kumimoji="1" lang="ja-JP" altLang="en-US" sz="800" dirty="0" smtClean="0"/>
                        <a:t>ミクロス太郎</a:t>
                      </a: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dirty="0" err="1" smtClean="0"/>
                        <a:t>みくろ</a:t>
                      </a:r>
                      <a:r>
                        <a:rPr kumimoji="1" lang="ja-JP" altLang="en-US" sz="800" dirty="0" smtClean="0"/>
                        <a:t>すたろう</a:t>
                      </a: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rgbClr val="FFD1D1"/>
                    </a:solidFill>
                  </a:tcPr>
                </a:tc>
                <a:tc>
                  <a:txBody>
                    <a:bodyPr/>
                    <a:lstStyle/>
                    <a:p>
                      <a:pPr algn="ctr"/>
                      <a:r>
                        <a:rPr kumimoji="1" lang="ja-JP" altLang="en-US" sz="800" dirty="0" smtClean="0"/>
                        <a:t>東京本社</a:t>
                      </a: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58365184"/>
                  </a:ext>
                </a:extLst>
              </a:tr>
              <a:tr h="139592">
                <a:tc>
                  <a:txBody>
                    <a:bodyPr/>
                    <a:lstStyle/>
                    <a:p>
                      <a:pPr algn="ctr"/>
                      <a:endParaRPr kumimoji="1" lang="ja-JP" altLang="en-US" sz="800" dirty="0">
                        <a:solidFill>
                          <a:srgbClr val="0070C0"/>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dirty="0" smtClean="0">
                          <a:solidFill>
                            <a:srgbClr val="0070C0"/>
                          </a:solidFill>
                        </a:rPr>
                        <a:t>要確認</a:t>
                      </a:r>
                      <a:endParaRPr kumimoji="1" lang="ja-JP" altLang="en-US" sz="800" dirty="0">
                        <a:solidFill>
                          <a:srgbClr val="0070C0"/>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rgbClr val="CCECFF"/>
                    </a:solidFill>
                  </a:tcPr>
                </a:tc>
                <a:tc>
                  <a:txBody>
                    <a:bodyPr/>
                    <a:lstStyle/>
                    <a:p>
                      <a:pPr algn="ctr"/>
                      <a:r>
                        <a:rPr kumimoji="1" lang="en-US" altLang="ja-JP" sz="800" dirty="0" smtClean="0"/>
                        <a:t>102</a:t>
                      </a: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dirty="0" smtClean="0"/>
                        <a:t>ミクロス花子</a:t>
                      </a: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dirty="0" smtClean="0"/>
                        <a:t>部長</a:t>
                      </a: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dirty="0" smtClean="0"/>
                        <a:t>横浜支店</a:t>
                      </a:r>
                      <a:endParaRPr kumimoji="1" lang="ja-JP" altLang="en-US" sz="800" dirty="0"/>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rgbClr val="CCECFF"/>
                    </a:solidFill>
                  </a:tcPr>
                </a:tc>
                <a:extLst>
                  <a:ext uri="{0D108BD9-81ED-4DB2-BD59-A6C34878D82A}">
                    <a16:rowId xmlns:a16="http://schemas.microsoft.com/office/drawing/2014/main" val="1227216154"/>
                  </a:ext>
                </a:extLst>
              </a:tr>
            </a:tbl>
          </a:graphicData>
        </a:graphic>
      </p:graphicFrame>
      <p:sp>
        <p:nvSpPr>
          <p:cNvPr id="2" name="正方形/長方形 1"/>
          <p:cNvSpPr/>
          <p:nvPr/>
        </p:nvSpPr>
        <p:spPr>
          <a:xfrm>
            <a:off x="9333828" y="3677151"/>
            <a:ext cx="72000" cy="76320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p:cNvSpPr/>
          <p:nvPr/>
        </p:nvSpPr>
        <p:spPr>
          <a:xfrm>
            <a:off x="9335096" y="4528115"/>
            <a:ext cx="77080" cy="617615"/>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p:cNvSpPr/>
          <p:nvPr/>
        </p:nvSpPr>
        <p:spPr>
          <a:xfrm>
            <a:off x="4504978" y="5152714"/>
            <a:ext cx="4828848" cy="7200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四角形吹き出し 40"/>
          <p:cNvSpPr/>
          <p:nvPr/>
        </p:nvSpPr>
        <p:spPr>
          <a:xfrm>
            <a:off x="9143504" y="2210989"/>
            <a:ext cx="3305239" cy="597690"/>
          </a:xfrm>
          <a:prstGeom prst="wedgeRectCallout">
            <a:avLst>
              <a:gd name="adj1" fmla="val -15917"/>
              <a:gd name="adj2" fmla="val 516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strike="sngStrike" dirty="0">
                <a:solidFill>
                  <a:schemeClr val="tx1"/>
                </a:solidFill>
              </a:rPr>
              <a:t>１行目の見出しを記述済みの</a:t>
            </a:r>
            <a:r>
              <a:rPr lang="en-US" altLang="ja-JP" sz="1400" strike="sngStrike" dirty="0">
                <a:solidFill>
                  <a:schemeClr val="tx1"/>
                </a:solidFill>
              </a:rPr>
              <a:t>csv</a:t>
            </a:r>
            <a:r>
              <a:rPr lang="ja-JP" altLang="en-US" sz="1400" strike="sngStrike" dirty="0">
                <a:solidFill>
                  <a:schemeClr val="tx1"/>
                </a:solidFill>
              </a:rPr>
              <a:t>ファイルをダウンロードする。</a:t>
            </a:r>
          </a:p>
        </p:txBody>
      </p:sp>
      <p:sp>
        <p:nvSpPr>
          <p:cNvPr id="44" name="テキスト ボックス 43"/>
          <p:cNvSpPr txBox="1"/>
          <p:nvPr/>
        </p:nvSpPr>
        <p:spPr>
          <a:xfrm>
            <a:off x="4434038" y="2892404"/>
            <a:ext cx="3984255" cy="215444"/>
          </a:xfrm>
          <a:prstGeom prst="rect">
            <a:avLst/>
          </a:prstGeom>
          <a:noFill/>
        </p:spPr>
        <p:txBody>
          <a:bodyPr wrap="square" rtlCol="0">
            <a:spAutoFit/>
          </a:bodyPr>
          <a:lstStyle/>
          <a:p>
            <a:r>
              <a:rPr kumimoji="1" lang="en-US" altLang="ja-JP" sz="800" dirty="0" smtClean="0">
                <a:latin typeface="メイリオ" panose="020B0604030504040204" pitchFamily="50" charset="-128"/>
                <a:ea typeface="メイリオ" panose="020B0604030504040204" pitchFamily="50" charset="-128"/>
              </a:rPr>
              <a:t>※</a:t>
            </a:r>
            <a:r>
              <a:rPr kumimoji="1" lang="en-US" altLang="ja-JP" sz="800" u="sng" dirty="0" smtClean="0">
                <a:solidFill>
                  <a:srgbClr val="0070C0"/>
                </a:solidFill>
                <a:latin typeface="メイリオ" panose="020B0604030504040204" pitchFamily="50" charset="-128"/>
                <a:ea typeface="メイリオ" panose="020B0604030504040204" pitchFamily="50" charset="-128"/>
              </a:rPr>
              <a:t>csv</a:t>
            </a:r>
            <a:r>
              <a:rPr kumimoji="1" lang="ja-JP" altLang="en-US" sz="800" u="sng" dirty="0" smtClean="0">
                <a:solidFill>
                  <a:srgbClr val="0070C0"/>
                </a:solidFill>
                <a:latin typeface="メイリオ" panose="020B0604030504040204" pitchFamily="50" charset="-128"/>
                <a:ea typeface="メイリオ" panose="020B0604030504040204" pitchFamily="50" charset="-128"/>
              </a:rPr>
              <a:t>ファイル</a:t>
            </a:r>
            <a:r>
              <a:rPr kumimoji="1" lang="ja-JP" altLang="en-US" sz="800" u="sng" dirty="0" smtClean="0">
                <a:solidFill>
                  <a:srgbClr val="0070C0"/>
                </a:solidFill>
                <a:latin typeface="メイリオ" panose="020B0604030504040204" pitchFamily="50" charset="-128"/>
                <a:ea typeface="メイリオ" panose="020B0604030504040204" pitchFamily="50" charset="-128"/>
              </a:rPr>
              <a:t>の形式方法</a:t>
            </a:r>
            <a:r>
              <a:rPr kumimoji="1" lang="ja-JP" altLang="en-US" sz="800" u="sng" dirty="0" smtClean="0">
                <a:solidFill>
                  <a:srgbClr val="0070C0"/>
                </a:solidFill>
                <a:latin typeface="メイリオ" panose="020B0604030504040204" pitchFamily="50" charset="-128"/>
                <a:ea typeface="メイリオ" panose="020B0604030504040204" pitchFamily="50" charset="-128"/>
              </a:rPr>
              <a:t>について</a:t>
            </a:r>
            <a:endParaRPr kumimoji="1" lang="ja-JP" altLang="en-US" sz="800" u="sng" dirty="0">
              <a:solidFill>
                <a:srgbClr val="0070C0"/>
              </a:solidFill>
              <a:latin typeface="メイリオ" panose="020B0604030504040204" pitchFamily="50" charset="-128"/>
              <a:ea typeface="メイリオ" panose="020B0604030504040204" pitchFamily="50" charset="-128"/>
            </a:endParaRPr>
          </a:p>
        </p:txBody>
      </p:sp>
      <p:sp>
        <p:nvSpPr>
          <p:cNvPr id="22" name="テキスト ボックス 21"/>
          <p:cNvSpPr txBox="1"/>
          <p:nvPr/>
        </p:nvSpPr>
        <p:spPr>
          <a:xfrm>
            <a:off x="4311718" y="2197577"/>
            <a:ext cx="5022107" cy="246221"/>
          </a:xfrm>
          <a:prstGeom prst="rect">
            <a:avLst/>
          </a:prstGeom>
          <a:noFill/>
        </p:spPr>
        <p:txBody>
          <a:bodyPr wrap="square" rtlCol="0">
            <a:spAutoFit/>
          </a:bodyPr>
          <a:lstStyle/>
          <a:p>
            <a:r>
              <a:rPr kumimoji="1" lang="ja-JP" altLang="en-US" sz="1000" dirty="0" smtClean="0">
                <a:latin typeface="メイリオ" panose="020B0604030504040204" pitchFamily="50" charset="-128"/>
                <a:ea typeface="メイリオ" panose="020B0604030504040204" pitchFamily="50" charset="-128"/>
              </a:rPr>
              <a:t>一括登録するファイル</a:t>
            </a:r>
            <a:r>
              <a:rPr kumimoji="1" lang="en-US" altLang="ja-JP" sz="1000" dirty="0" smtClean="0">
                <a:latin typeface="メイリオ" panose="020B0604030504040204" pitchFamily="50" charset="-128"/>
                <a:ea typeface="メイリオ" panose="020B0604030504040204" pitchFamily="50" charset="-128"/>
              </a:rPr>
              <a:t>(csv</a:t>
            </a:r>
            <a:r>
              <a:rPr kumimoji="1" lang="ja-JP" altLang="en-US" sz="1000" dirty="0" smtClean="0">
                <a:latin typeface="メイリオ" panose="020B0604030504040204" pitchFamily="50" charset="-128"/>
                <a:ea typeface="メイリオ" panose="020B0604030504040204" pitchFamily="50" charset="-128"/>
              </a:rPr>
              <a:t>形式</a:t>
            </a:r>
            <a:r>
              <a:rPr kumimoji="1" lang="en-US" altLang="ja-JP" sz="1000" dirty="0" smtClean="0">
                <a:latin typeface="メイリオ" panose="020B0604030504040204" pitchFamily="50" charset="-128"/>
                <a:ea typeface="メイリオ" panose="020B0604030504040204" pitchFamily="50" charset="-128"/>
              </a:rPr>
              <a:t>)</a:t>
            </a:r>
            <a:r>
              <a:rPr kumimoji="1" lang="ja-JP" altLang="en-US" sz="1000" dirty="0" smtClean="0">
                <a:latin typeface="メイリオ" panose="020B0604030504040204" pitchFamily="50" charset="-128"/>
                <a:ea typeface="メイリオ" panose="020B0604030504040204" pitchFamily="50" charset="-128"/>
              </a:rPr>
              <a:t>を選択して「チェック開始」を実行してください。</a:t>
            </a:r>
            <a:endParaRPr kumimoji="1" lang="ja-JP" altLang="en-US" sz="1000" dirty="0">
              <a:latin typeface="メイリオ" panose="020B0604030504040204" pitchFamily="50" charset="-128"/>
              <a:ea typeface="メイリオ" panose="020B0604030504040204" pitchFamily="50" charset="-128"/>
            </a:endParaRPr>
          </a:p>
        </p:txBody>
      </p:sp>
      <p:sp>
        <p:nvSpPr>
          <p:cNvPr id="45" name="四角形吹き出し 44"/>
          <p:cNvSpPr/>
          <p:nvPr/>
        </p:nvSpPr>
        <p:spPr>
          <a:xfrm>
            <a:off x="9143504" y="2872729"/>
            <a:ext cx="3832428" cy="1429584"/>
          </a:xfrm>
          <a:prstGeom prst="wedgeRectCallout">
            <a:avLst>
              <a:gd name="adj1" fmla="val -127875"/>
              <a:gd name="adj2" fmla="val -35414"/>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1"/>
                </a:solidFill>
              </a:rPr>
              <a:t>ヒアーズミー</a:t>
            </a:r>
            <a:r>
              <a:rPr lang="en-US" altLang="ja-JP" sz="1400" dirty="0">
                <a:solidFill>
                  <a:schemeClr val="tx1"/>
                </a:solidFill>
              </a:rPr>
              <a:t>HP</a:t>
            </a:r>
            <a:r>
              <a:rPr lang="ja-JP" altLang="en-US" sz="1400" dirty="0">
                <a:solidFill>
                  <a:schemeClr val="tx1"/>
                </a:solidFill>
              </a:rPr>
              <a:t>に、一括登録の説明ブログ記事を掲載し、記事へのリンクを貼る。</a:t>
            </a:r>
            <a:endParaRPr lang="en-US" altLang="ja-JP" sz="1400" dirty="0">
              <a:solidFill>
                <a:schemeClr val="tx1"/>
              </a:solidFill>
            </a:endParaRPr>
          </a:p>
          <a:p>
            <a:r>
              <a:rPr lang="ja-JP" altLang="en-US" sz="1400" dirty="0">
                <a:solidFill>
                  <a:schemeClr val="tx1"/>
                </a:solidFill>
              </a:rPr>
              <a:t>記事では、一括登録の操作方法、</a:t>
            </a:r>
            <a:r>
              <a:rPr lang="en-US" altLang="ja-JP" sz="1400" dirty="0">
                <a:solidFill>
                  <a:schemeClr val="tx1"/>
                </a:solidFill>
              </a:rPr>
              <a:t>csv</a:t>
            </a:r>
            <a:r>
              <a:rPr lang="ja-JP" altLang="en-US" sz="1400" dirty="0">
                <a:solidFill>
                  <a:schemeClr val="tx1"/>
                </a:solidFill>
              </a:rPr>
              <a:t>ファイルの入力形式を解説</a:t>
            </a:r>
            <a:r>
              <a:rPr lang="ja-JP" altLang="en-US" sz="1400" dirty="0" smtClean="0">
                <a:solidFill>
                  <a:schemeClr val="tx1"/>
                </a:solidFill>
              </a:rPr>
              <a:t>。</a:t>
            </a:r>
            <a:endParaRPr lang="en-US" altLang="ja-JP" sz="1400" dirty="0" smtClean="0">
              <a:solidFill>
                <a:schemeClr val="tx1"/>
              </a:solidFill>
            </a:endParaRPr>
          </a:p>
          <a:p>
            <a:r>
              <a:rPr lang="en-US" altLang="ja-JP" sz="1400" dirty="0" smtClean="0">
                <a:solidFill>
                  <a:srgbClr val="FF0000"/>
                </a:solidFill>
              </a:rPr>
              <a:t>(</a:t>
            </a:r>
            <a:r>
              <a:rPr lang="ja-JP" altLang="en-US" sz="1400" dirty="0" smtClean="0">
                <a:solidFill>
                  <a:srgbClr val="FF0000"/>
                </a:solidFill>
              </a:rPr>
              <a:t>枠内に記述例を書いてコピペすれば、フォーマット代わりになる</a:t>
            </a:r>
            <a:r>
              <a:rPr lang="en-US" altLang="ja-JP" sz="1400" dirty="0" smtClean="0">
                <a:solidFill>
                  <a:srgbClr val="FF0000"/>
                </a:solidFill>
              </a:rPr>
              <a:t>)</a:t>
            </a:r>
            <a:endParaRPr lang="en-US" altLang="ja-JP" sz="1400" dirty="0">
              <a:solidFill>
                <a:srgbClr val="FF0000"/>
              </a:solidFill>
            </a:endParaRPr>
          </a:p>
        </p:txBody>
      </p:sp>
      <p:sp>
        <p:nvSpPr>
          <p:cNvPr id="35" name="角丸四角形 34"/>
          <p:cNvSpPr/>
          <p:nvPr/>
        </p:nvSpPr>
        <p:spPr>
          <a:xfrm>
            <a:off x="4603643" y="4784729"/>
            <a:ext cx="144000" cy="144000"/>
          </a:xfrm>
          <a:prstGeom prst="round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4612376" y="4986384"/>
            <a:ext cx="144000" cy="144000"/>
          </a:xfrm>
          <a:prstGeom prst="round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p:cNvSpPr txBox="1"/>
          <p:nvPr/>
        </p:nvSpPr>
        <p:spPr>
          <a:xfrm>
            <a:off x="4532394" y="4963269"/>
            <a:ext cx="348780" cy="230832"/>
          </a:xfrm>
          <a:prstGeom prst="rect">
            <a:avLst/>
          </a:prstGeom>
          <a:noFill/>
        </p:spPr>
        <p:txBody>
          <a:bodyPr wrap="square" rtlCol="0">
            <a:spAutoFit/>
          </a:bodyPr>
          <a:lstStyle/>
          <a:p>
            <a:r>
              <a:rPr kumimoji="1" lang="ja-JP" altLang="en-US" sz="900" b="1" dirty="0" smtClean="0">
                <a:latin typeface="メイリオ" panose="020B0604030504040204" pitchFamily="50" charset="-128"/>
                <a:ea typeface="メイリオ" panose="020B0604030504040204" pitchFamily="50" charset="-128"/>
              </a:rPr>
              <a:t>✓</a:t>
            </a:r>
            <a:endParaRPr kumimoji="1" lang="ja-JP" altLang="en-US" sz="900" b="1" dirty="0">
              <a:latin typeface="メイリオ" panose="020B0604030504040204" pitchFamily="50" charset="-128"/>
              <a:ea typeface="メイリオ" panose="020B0604030504040204" pitchFamily="50" charset="-128"/>
            </a:endParaRPr>
          </a:p>
        </p:txBody>
      </p:sp>
      <p:sp>
        <p:nvSpPr>
          <p:cNvPr id="43" name="四角形吹き出し 42"/>
          <p:cNvSpPr/>
          <p:nvPr/>
        </p:nvSpPr>
        <p:spPr>
          <a:xfrm>
            <a:off x="0" y="4599549"/>
            <a:ext cx="4018045" cy="1550994"/>
          </a:xfrm>
          <a:prstGeom prst="wedgeRectCallout">
            <a:avLst>
              <a:gd name="adj1" fmla="val 66165"/>
              <a:gd name="adj2" fmla="val -22588"/>
            </a:avLst>
          </a:prstGeom>
          <a:solidFill>
            <a:srgbClr val="FF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dirty="0" smtClean="0">
                <a:solidFill>
                  <a:schemeClr val="tx1"/>
                </a:solidFill>
              </a:rPr>
              <a:t>チェック結果「要確認」のデータは、チェックを付けたらユーザ情報上書き、または未登録の役職などを登録してユーザ情報を登録する。</a:t>
            </a:r>
            <a:endParaRPr lang="en-US" altLang="ja-JP" sz="1400" dirty="0" smtClean="0">
              <a:solidFill>
                <a:schemeClr val="tx1"/>
              </a:solidFill>
            </a:endParaRPr>
          </a:p>
          <a:p>
            <a:r>
              <a:rPr lang="ja-JP" altLang="en-US" sz="1400" dirty="0" smtClean="0">
                <a:solidFill>
                  <a:schemeClr val="tx1"/>
                </a:solidFill>
              </a:rPr>
              <a:t>エラーの行は、チェックボックスを無効にする。</a:t>
            </a:r>
            <a:endParaRPr lang="en-US" altLang="ja-JP" sz="1400" dirty="0" smtClean="0">
              <a:solidFill>
                <a:schemeClr val="tx1"/>
              </a:solidFill>
            </a:endParaRPr>
          </a:p>
          <a:p>
            <a:r>
              <a:rPr lang="ja-JP" altLang="en-US" sz="1400" dirty="0" smtClean="0">
                <a:solidFill>
                  <a:schemeClr val="tx1"/>
                </a:solidFill>
              </a:rPr>
              <a:t>見出し行に、一括チェック用のチェックボックスを付ける</a:t>
            </a:r>
            <a:endParaRPr lang="ja-JP" altLang="en-US" sz="1400" dirty="0">
              <a:solidFill>
                <a:schemeClr val="tx1"/>
              </a:solidFill>
            </a:endParaRPr>
          </a:p>
        </p:txBody>
      </p:sp>
      <p:sp>
        <p:nvSpPr>
          <p:cNvPr id="49" name="角丸四角形 48"/>
          <p:cNvSpPr/>
          <p:nvPr/>
        </p:nvSpPr>
        <p:spPr>
          <a:xfrm>
            <a:off x="4598835" y="4572071"/>
            <a:ext cx="144000" cy="144000"/>
          </a:xfrm>
          <a:prstGeom prst="round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p:cNvSpPr txBox="1"/>
          <p:nvPr/>
        </p:nvSpPr>
        <p:spPr>
          <a:xfrm>
            <a:off x="11022372" y="2456106"/>
            <a:ext cx="3984255" cy="215444"/>
          </a:xfrm>
          <a:prstGeom prst="rect">
            <a:avLst/>
          </a:prstGeom>
          <a:noFill/>
        </p:spPr>
        <p:txBody>
          <a:bodyPr wrap="square" rtlCol="0">
            <a:spAutoFit/>
          </a:bodyPr>
          <a:lstStyle/>
          <a:p>
            <a:r>
              <a:rPr kumimoji="1" lang="en-US" altLang="ja-JP" sz="800" u="sng" strike="sngStrike" dirty="0" smtClean="0">
                <a:solidFill>
                  <a:srgbClr val="0070C0"/>
                </a:solidFill>
                <a:latin typeface="メイリオ" panose="020B0604030504040204" pitchFamily="50" charset="-128"/>
                <a:ea typeface="メイリオ" panose="020B0604030504040204" pitchFamily="50" charset="-128"/>
              </a:rPr>
              <a:t>csv</a:t>
            </a:r>
            <a:r>
              <a:rPr kumimoji="1" lang="ja-JP" altLang="en-US" sz="800" u="sng" strike="sngStrike" dirty="0" smtClean="0">
                <a:solidFill>
                  <a:srgbClr val="0070C0"/>
                </a:solidFill>
                <a:latin typeface="メイリオ" panose="020B0604030504040204" pitchFamily="50" charset="-128"/>
                <a:ea typeface="メイリオ" panose="020B0604030504040204" pitchFamily="50" charset="-128"/>
              </a:rPr>
              <a:t>ファイルのフォーマットをダウンロード</a:t>
            </a:r>
            <a:endParaRPr kumimoji="1" lang="ja-JP" altLang="en-US" sz="800" u="sng" strike="sngStrike" dirty="0">
              <a:solidFill>
                <a:srgbClr val="0070C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42933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2"/>
          <a:stretch>
            <a:fillRect/>
          </a:stretch>
        </p:blipFill>
        <p:spPr>
          <a:xfrm>
            <a:off x="2243599" y="1150837"/>
            <a:ext cx="4753968" cy="2689643"/>
          </a:xfrm>
          <a:prstGeom prst="rect">
            <a:avLst/>
          </a:prstGeom>
        </p:spPr>
      </p:pic>
      <p:sp>
        <p:nvSpPr>
          <p:cNvPr id="5" name="テキスト ボックス 4"/>
          <p:cNvSpPr txBox="1"/>
          <p:nvPr/>
        </p:nvSpPr>
        <p:spPr>
          <a:xfrm>
            <a:off x="1526064" y="695354"/>
            <a:ext cx="2864130" cy="369332"/>
          </a:xfrm>
          <a:prstGeom prst="rect">
            <a:avLst/>
          </a:prstGeom>
          <a:noFill/>
        </p:spPr>
        <p:txBody>
          <a:bodyPr wrap="square" rtlCol="0">
            <a:spAutoFit/>
          </a:bodyPr>
          <a:lstStyle/>
          <a:p>
            <a:r>
              <a:rPr kumimoji="1"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一括登録確認ダイアログ</a:t>
            </a:r>
            <a:endParaRPr kumimoji="1" lang="ja-JP" altLang="en-US"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6" name="テキスト ボックス 5"/>
          <p:cNvSpPr txBox="1"/>
          <p:nvPr/>
        </p:nvSpPr>
        <p:spPr>
          <a:xfrm>
            <a:off x="2360126" y="1252342"/>
            <a:ext cx="3984255" cy="261610"/>
          </a:xfrm>
          <a:prstGeom prst="rect">
            <a:avLst/>
          </a:prstGeom>
          <a:noFill/>
        </p:spPr>
        <p:txBody>
          <a:bodyPr wrap="square" rtlCol="0">
            <a:spAutoFit/>
          </a:bodyPr>
          <a:lstStyle/>
          <a:p>
            <a:r>
              <a:rPr kumimoji="1" lang="ja-JP" altLang="en-US" sz="1100" b="1" dirty="0" smtClean="0">
                <a:latin typeface="メイリオ" panose="020B0604030504040204" pitchFamily="50" charset="-128"/>
                <a:ea typeface="メイリオ" panose="020B0604030504040204" pitchFamily="50" charset="-128"/>
              </a:rPr>
              <a:t>確認</a:t>
            </a:r>
            <a:endParaRPr kumimoji="1" lang="ja-JP" altLang="en-US" sz="1100" b="1" dirty="0">
              <a:latin typeface="メイリオ" panose="020B0604030504040204" pitchFamily="50" charset="-128"/>
              <a:ea typeface="メイリオ" panose="020B0604030504040204" pitchFamily="50" charset="-128"/>
            </a:endParaRPr>
          </a:p>
        </p:txBody>
      </p:sp>
      <p:sp>
        <p:nvSpPr>
          <p:cNvPr id="7" name="正方形/長方形 6"/>
          <p:cNvSpPr/>
          <p:nvPr/>
        </p:nvSpPr>
        <p:spPr>
          <a:xfrm>
            <a:off x="6101548" y="3262312"/>
            <a:ext cx="540000" cy="288000"/>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p:cNvSpPr txBox="1"/>
          <p:nvPr/>
        </p:nvSpPr>
        <p:spPr>
          <a:xfrm>
            <a:off x="6130580" y="3302424"/>
            <a:ext cx="986010" cy="261610"/>
          </a:xfrm>
          <a:prstGeom prst="rect">
            <a:avLst/>
          </a:prstGeom>
          <a:noFill/>
        </p:spPr>
        <p:txBody>
          <a:bodyPr wrap="square" rtlCol="0">
            <a:spAutoFit/>
          </a:bodyPr>
          <a:lstStyle/>
          <a:p>
            <a:r>
              <a:rPr lang="ja-JP" altLang="en-US" sz="1100" b="1" dirty="0">
                <a:solidFill>
                  <a:schemeClr val="tx1">
                    <a:lumMod val="85000"/>
                    <a:lumOff val="15000"/>
                  </a:schemeClr>
                </a:solidFill>
              </a:rPr>
              <a:t>実行</a:t>
            </a:r>
            <a:endParaRPr kumimoji="1" lang="ja-JP" altLang="en-US" sz="1100" b="1" dirty="0">
              <a:solidFill>
                <a:schemeClr val="tx1">
                  <a:lumMod val="85000"/>
                  <a:lumOff val="15000"/>
                </a:schemeClr>
              </a:solidFill>
            </a:endParaRPr>
          </a:p>
        </p:txBody>
      </p:sp>
      <p:sp>
        <p:nvSpPr>
          <p:cNvPr id="9" name="正方形/長方形 8"/>
          <p:cNvSpPr/>
          <p:nvPr/>
        </p:nvSpPr>
        <p:spPr>
          <a:xfrm>
            <a:off x="5076629" y="3276034"/>
            <a:ext cx="936000" cy="288000"/>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p:cNvSpPr txBox="1"/>
          <p:nvPr/>
        </p:nvSpPr>
        <p:spPr>
          <a:xfrm>
            <a:off x="5117271" y="3289483"/>
            <a:ext cx="986010" cy="261610"/>
          </a:xfrm>
          <a:prstGeom prst="rect">
            <a:avLst/>
          </a:prstGeom>
          <a:noFill/>
        </p:spPr>
        <p:txBody>
          <a:bodyPr wrap="square" rtlCol="0">
            <a:spAutoFit/>
          </a:bodyPr>
          <a:lstStyle/>
          <a:p>
            <a:r>
              <a:rPr lang="ja-JP" altLang="en-US" sz="1100" b="1" dirty="0">
                <a:solidFill>
                  <a:schemeClr val="tx1">
                    <a:lumMod val="85000"/>
                    <a:lumOff val="15000"/>
                  </a:schemeClr>
                </a:solidFill>
              </a:rPr>
              <a:t>キャンセル</a:t>
            </a:r>
            <a:endParaRPr kumimoji="1" lang="ja-JP" altLang="en-US" sz="1100" b="1" dirty="0">
              <a:solidFill>
                <a:schemeClr val="tx1">
                  <a:lumMod val="85000"/>
                  <a:lumOff val="15000"/>
                </a:schemeClr>
              </a:solidFill>
            </a:endParaRPr>
          </a:p>
        </p:txBody>
      </p:sp>
      <p:sp>
        <p:nvSpPr>
          <p:cNvPr id="11" name="テキスト ボックス 10"/>
          <p:cNvSpPr txBox="1"/>
          <p:nvPr/>
        </p:nvSpPr>
        <p:spPr>
          <a:xfrm>
            <a:off x="2507886" y="1714984"/>
            <a:ext cx="5139384" cy="461665"/>
          </a:xfrm>
          <a:prstGeom prst="rect">
            <a:avLst/>
          </a:prstGeom>
          <a:noFill/>
        </p:spPr>
        <p:txBody>
          <a:bodyPr wrap="square" rtlCol="0">
            <a:spAutoFit/>
          </a:bodyPr>
          <a:lstStyle/>
          <a:p>
            <a:r>
              <a:rPr kumimoji="1" lang="ja-JP" altLang="en-US" sz="1200" dirty="0" smtClean="0">
                <a:latin typeface="メイリオ" panose="020B0604030504040204" pitchFamily="50" charset="-128"/>
                <a:ea typeface="メイリオ" panose="020B0604030504040204" pitchFamily="50" charset="-128"/>
              </a:rPr>
              <a:t>以下の内容で一括</a:t>
            </a:r>
            <a:r>
              <a:rPr kumimoji="1" lang="ja-JP" altLang="en-US" sz="1200" dirty="0" smtClean="0">
                <a:latin typeface="メイリオ" panose="020B0604030504040204" pitchFamily="50" charset="-128"/>
                <a:ea typeface="メイリオ" panose="020B0604030504040204" pitchFamily="50" charset="-128"/>
              </a:rPr>
              <a:t>登録</a:t>
            </a:r>
            <a:r>
              <a:rPr kumimoji="1" lang="ja-JP" altLang="en-US" sz="1200" dirty="0" smtClean="0">
                <a:latin typeface="メイリオ" panose="020B0604030504040204" pitchFamily="50" charset="-128"/>
                <a:ea typeface="メイリオ" panose="020B0604030504040204" pitchFamily="50" charset="-128"/>
              </a:rPr>
              <a:t>を実行します</a:t>
            </a:r>
            <a:r>
              <a:rPr kumimoji="1" lang="ja-JP" altLang="en-US" sz="1200" dirty="0" smtClean="0">
                <a:latin typeface="メイリオ" panose="020B0604030504040204" pitchFamily="50" charset="-128"/>
                <a:ea typeface="メイリオ" panose="020B0604030504040204" pitchFamily="50" charset="-128"/>
              </a:rPr>
              <a:t>。</a:t>
            </a:r>
            <a:endParaRPr kumimoji="1" lang="en-US" altLang="ja-JP" sz="1200" dirty="0" smtClean="0">
              <a:latin typeface="メイリオ" panose="020B0604030504040204" pitchFamily="50" charset="-128"/>
              <a:ea typeface="メイリオ" panose="020B0604030504040204" pitchFamily="50" charset="-128"/>
            </a:endParaRPr>
          </a:p>
          <a:p>
            <a:r>
              <a:rPr lang="ja-JP" altLang="en-US" sz="1200" dirty="0" smtClean="0">
                <a:latin typeface="メイリオ" panose="020B0604030504040204" pitchFamily="50" charset="-128"/>
                <a:ea typeface="メイリオ" panose="020B0604030504040204" pitchFamily="50" charset="-128"/>
              </a:rPr>
              <a:t>よろしいですか？</a:t>
            </a:r>
            <a:endParaRPr kumimoji="1" lang="ja-JP" altLang="en-US" sz="1200" dirty="0">
              <a:latin typeface="メイリオ" panose="020B0604030504040204" pitchFamily="50" charset="-128"/>
              <a:ea typeface="メイリオ" panose="020B0604030504040204" pitchFamily="50" charset="-128"/>
            </a:endParaRPr>
          </a:p>
        </p:txBody>
      </p:sp>
      <p:graphicFrame>
        <p:nvGraphicFramePr>
          <p:cNvPr id="13" name="表 12"/>
          <p:cNvGraphicFramePr>
            <a:graphicFrameLocks noGrp="1"/>
          </p:cNvGraphicFramePr>
          <p:nvPr>
            <p:extLst>
              <p:ext uri="{D42A27DB-BD31-4B8C-83A1-F6EECF244321}">
                <p14:modId xmlns:p14="http://schemas.microsoft.com/office/powerpoint/2010/main" val="521074346"/>
              </p:ext>
            </p:extLst>
          </p:nvPr>
        </p:nvGraphicFramePr>
        <p:xfrm>
          <a:off x="2705042" y="2263102"/>
          <a:ext cx="2371587" cy="777240"/>
        </p:xfrm>
        <a:graphic>
          <a:graphicData uri="http://schemas.openxmlformats.org/drawingml/2006/table">
            <a:tbl>
              <a:tblPr>
                <a:tableStyleId>{5C22544A-7EE6-4342-B048-85BDC9FD1C3A}</a:tableStyleId>
              </a:tblPr>
              <a:tblGrid>
                <a:gridCol w="1785991">
                  <a:extLst>
                    <a:ext uri="{9D8B030D-6E8A-4147-A177-3AD203B41FA5}">
                      <a16:colId xmlns:a16="http://schemas.microsoft.com/office/drawing/2014/main" val="3992671608"/>
                    </a:ext>
                  </a:extLst>
                </a:gridCol>
                <a:gridCol w="585596">
                  <a:extLst>
                    <a:ext uri="{9D8B030D-6E8A-4147-A177-3AD203B41FA5}">
                      <a16:colId xmlns:a16="http://schemas.microsoft.com/office/drawing/2014/main" val="3443262818"/>
                    </a:ext>
                  </a:extLst>
                </a:gridCol>
              </a:tblGrid>
              <a:tr h="248396">
                <a:tc>
                  <a:txBody>
                    <a:bodyPr/>
                    <a:lstStyle/>
                    <a:p>
                      <a:r>
                        <a:rPr kumimoji="1" lang="ja-JP" altLang="en-US" sz="1100" dirty="0" smtClean="0"/>
                        <a:t>登録</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kumimoji="1" lang="en-US" altLang="ja-JP" sz="1100" dirty="0" smtClean="0"/>
                        <a:t>10</a:t>
                      </a:r>
                      <a:r>
                        <a:rPr kumimoji="1" lang="ja-JP" altLang="en-US" sz="1100" dirty="0" smtClean="0"/>
                        <a:t>件</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58365184"/>
                  </a:ext>
                </a:extLst>
              </a:tr>
              <a:tr h="248396">
                <a:tc>
                  <a:txBody>
                    <a:bodyPr/>
                    <a:lstStyle/>
                    <a:p>
                      <a:r>
                        <a:rPr kumimoji="1" lang="ja-JP" altLang="en-US" sz="1100" dirty="0" smtClean="0"/>
                        <a:t>データ上書き</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kumimoji="1" lang="en-US" altLang="ja-JP" sz="1100" dirty="0" smtClean="0"/>
                        <a:t>1</a:t>
                      </a:r>
                      <a:r>
                        <a:rPr kumimoji="1" lang="ja-JP" altLang="en-US" sz="1100" dirty="0" smtClean="0"/>
                        <a:t>件</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27216154"/>
                  </a:ext>
                </a:extLst>
              </a:tr>
              <a:tr h="248396">
                <a:tc>
                  <a:txBody>
                    <a:bodyPr/>
                    <a:lstStyle/>
                    <a:p>
                      <a:r>
                        <a:rPr kumimoji="1" lang="ja-JP" altLang="en-US" sz="1100" dirty="0" smtClean="0"/>
                        <a:t>役職・拠点・所属も登録</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kumimoji="1" lang="en-US" altLang="ja-JP" sz="1100" dirty="0" smtClean="0"/>
                        <a:t>2</a:t>
                      </a:r>
                      <a:r>
                        <a:rPr kumimoji="1" lang="ja-JP" altLang="en-US" sz="1100" dirty="0" smtClean="0"/>
                        <a:t>件</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90544792"/>
                  </a:ext>
                </a:extLst>
              </a:tr>
            </a:tbl>
          </a:graphicData>
        </a:graphic>
      </p:graphicFrame>
    </p:spTree>
    <p:extLst>
      <p:ext uri="{BB962C8B-B14F-4D97-AF65-F5344CB8AC3E}">
        <p14:creationId xmlns:p14="http://schemas.microsoft.com/office/powerpoint/2010/main" val="813742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図 26"/>
          <p:cNvPicPr>
            <a:picLocks noChangeAspect="1"/>
          </p:cNvPicPr>
          <p:nvPr/>
        </p:nvPicPr>
        <p:blipFill>
          <a:blip r:embed="rId2"/>
          <a:stretch>
            <a:fillRect/>
          </a:stretch>
        </p:blipFill>
        <p:spPr>
          <a:xfrm>
            <a:off x="2243597" y="1150837"/>
            <a:ext cx="5610521" cy="2883913"/>
          </a:xfrm>
          <a:prstGeom prst="rect">
            <a:avLst/>
          </a:prstGeom>
        </p:spPr>
      </p:pic>
      <p:sp>
        <p:nvSpPr>
          <p:cNvPr id="5" name="テキスト ボックス 4"/>
          <p:cNvSpPr txBox="1"/>
          <p:nvPr/>
        </p:nvSpPr>
        <p:spPr>
          <a:xfrm>
            <a:off x="1526064" y="695354"/>
            <a:ext cx="2864130" cy="369332"/>
          </a:xfrm>
          <a:prstGeom prst="rect">
            <a:avLst/>
          </a:prstGeom>
          <a:noFill/>
        </p:spPr>
        <p:txBody>
          <a:bodyPr wrap="square" rtlCol="0">
            <a:spAutoFit/>
          </a:bodyPr>
          <a:lstStyle/>
          <a:p>
            <a:r>
              <a:rPr kumimoji="1"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一括登録確認ダイアログ</a:t>
            </a:r>
            <a:endParaRPr kumimoji="1" lang="ja-JP" altLang="en-US"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 name="角丸四角形 6"/>
          <p:cNvSpPr/>
          <p:nvPr/>
        </p:nvSpPr>
        <p:spPr>
          <a:xfrm>
            <a:off x="2587868" y="2856570"/>
            <a:ext cx="144000" cy="144000"/>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p:cNvSpPr txBox="1"/>
          <p:nvPr/>
        </p:nvSpPr>
        <p:spPr>
          <a:xfrm>
            <a:off x="2507886" y="2833455"/>
            <a:ext cx="348780" cy="230832"/>
          </a:xfrm>
          <a:prstGeom prst="rect">
            <a:avLst/>
          </a:prstGeom>
          <a:noFill/>
        </p:spPr>
        <p:txBody>
          <a:bodyPr wrap="square" rtlCol="0">
            <a:spAutoFit/>
          </a:bodyPr>
          <a:lstStyle/>
          <a:p>
            <a:r>
              <a:rPr kumimoji="1" lang="ja-JP" altLang="en-US" sz="900" b="1" dirty="0" smtClean="0">
                <a:solidFill>
                  <a:schemeClr val="bg1"/>
                </a:solidFill>
                <a:latin typeface="メイリオ" panose="020B0604030504040204" pitchFamily="50" charset="-128"/>
                <a:ea typeface="メイリオ" panose="020B0604030504040204" pitchFamily="50" charset="-128"/>
              </a:rPr>
              <a:t>✓</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10" name="角丸四角形 9"/>
          <p:cNvSpPr/>
          <p:nvPr/>
        </p:nvSpPr>
        <p:spPr>
          <a:xfrm>
            <a:off x="2587868" y="2326845"/>
            <a:ext cx="144000" cy="144000"/>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p:cNvSpPr txBox="1"/>
          <p:nvPr/>
        </p:nvSpPr>
        <p:spPr>
          <a:xfrm>
            <a:off x="2507886" y="2303730"/>
            <a:ext cx="348780" cy="230832"/>
          </a:xfrm>
          <a:prstGeom prst="rect">
            <a:avLst/>
          </a:prstGeom>
          <a:noFill/>
        </p:spPr>
        <p:txBody>
          <a:bodyPr wrap="square" rtlCol="0">
            <a:spAutoFit/>
          </a:bodyPr>
          <a:lstStyle/>
          <a:p>
            <a:r>
              <a:rPr kumimoji="1" lang="ja-JP" altLang="en-US" sz="900" b="1" dirty="0" smtClean="0">
                <a:solidFill>
                  <a:schemeClr val="bg1"/>
                </a:solidFill>
                <a:latin typeface="メイリオ" panose="020B0604030504040204" pitchFamily="50" charset="-128"/>
                <a:ea typeface="メイリオ" panose="020B0604030504040204" pitchFamily="50" charset="-128"/>
              </a:rPr>
              <a:t>✓</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13" name="テキスト ボックス 12"/>
          <p:cNvSpPr txBox="1"/>
          <p:nvPr/>
        </p:nvSpPr>
        <p:spPr>
          <a:xfrm>
            <a:off x="2507886" y="1714984"/>
            <a:ext cx="5139384" cy="461665"/>
          </a:xfrm>
          <a:prstGeom prst="rect">
            <a:avLst/>
          </a:prstGeom>
          <a:noFill/>
        </p:spPr>
        <p:txBody>
          <a:bodyPr wrap="square" rtlCol="0">
            <a:spAutoFit/>
          </a:bodyPr>
          <a:lstStyle/>
          <a:p>
            <a:r>
              <a:rPr kumimoji="1" lang="ja-JP" altLang="en-US" sz="1200" dirty="0" smtClean="0">
                <a:latin typeface="メイリオ" panose="020B0604030504040204" pitchFamily="50" charset="-128"/>
                <a:ea typeface="メイリオ" panose="020B0604030504040204" pitchFamily="50" charset="-128"/>
              </a:rPr>
              <a:t>一括登録を行います。</a:t>
            </a:r>
            <a:endParaRPr kumimoji="1" lang="en-US" altLang="ja-JP" sz="1200" dirty="0" smtClean="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以下の内容</a:t>
            </a:r>
            <a:r>
              <a:rPr lang="ja-JP" altLang="en-US" sz="1200" dirty="0" smtClean="0">
                <a:latin typeface="メイリオ" panose="020B0604030504040204" pitchFamily="50" charset="-128"/>
                <a:ea typeface="メイリオ" panose="020B0604030504040204" pitchFamily="50" charset="-128"/>
              </a:rPr>
              <a:t>を確認して、「実行」ボタンをクリックしてください。</a:t>
            </a:r>
            <a:endParaRPr kumimoji="1" lang="ja-JP" altLang="en-US" sz="1200" dirty="0">
              <a:latin typeface="メイリオ" panose="020B0604030504040204" pitchFamily="50" charset="-128"/>
              <a:ea typeface="メイリオ" panose="020B0604030504040204" pitchFamily="50" charset="-128"/>
            </a:endParaRPr>
          </a:p>
        </p:txBody>
      </p:sp>
      <p:sp>
        <p:nvSpPr>
          <p:cNvPr id="15" name="正方形/長方形 14"/>
          <p:cNvSpPr/>
          <p:nvPr/>
        </p:nvSpPr>
        <p:spPr>
          <a:xfrm>
            <a:off x="4484973" y="3023685"/>
            <a:ext cx="383360" cy="173739"/>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p:cNvSpPr txBox="1"/>
          <p:nvPr/>
        </p:nvSpPr>
        <p:spPr>
          <a:xfrm>
            <a:off x="2659868" y="3038227"/>
            <a:ext cx="5156536" cy="218575"/>
          </a:xfrm>
          <a:prstGeom prst="rect">
            <a:avLst/>
          </a:prstGeom>
          <a:noFill/>
        </p:spPr>
        <p:txBody>
          <a:bodyPr wrap="square" rtlCol="0">
            <a:spAutoFit/>
          </a:bodyPr>
          <a:lstStyle/>
          <a:p>
            <a:r>
              <a:rPr lang="en-US" altLang="ja-JP" sz="800" dirty="0" smtClean="0">
                <a:latin typeface="メイリオ" panose="020B0604030504040204" pitchFamily="50" charset="-128"/>
                <a:ea typeface="メイリオ" panose="020B0604030504040204" pitchFamily="50" charset="-128"/>
              </a:rPr>
              <a:t>※</a:t>
            </a:r>
            <a:r>
              <a:rPr lang="ja-JP" altLang="en-US" sz="800" dirty="0" smtClean="0">
                <a:latin typeface="メイリオ" panose="020B0604030504040204" pitchFamily="50" charset="-128"/>
                <a:ea typeface="メイリオ" panose="020B0604030504040204" pitchFamily="50" charset="-128"/>
              </a:rPr>
              <a:t>チェックしない場合、「</a:t>
            </a:r>
            <a:r>
              <a:rPr lang="ja-JP" altLang="en-US" sz="800" dirty="0">
                <a:latin typeface="メイリオ" panose="020B0604030504040204" pitchFamily="50" charset="-128"/>
                <a:ea typeface="メイリオ" panose="020B0604030504040204" pitchFamily="50" charset="-128"/>
              </a:rPr>
              <a:t>結果</a:t>
            </a:r>
            <a:r>
              <a:rPr lang="ja-JP" altLang="en-US" sz="800" dirty="0" smtClean="0">
                <a:latin typeface="メイリオ" panose="020B0604030504040204" pitchFamily="50" charset="-128"/>
                <a:ea typeface="メイリオ" panose="020B0604030504040204" pitchFamily="50" charset="-128"/>
              </a:rPr>
              <a:t>」列が </a:t>
            </a:r>
            <a:r>
              <a:rPr lang="ja-JP" altLang="en-US" sz="800" dirty="0" smtClean="0">
                <a:solidFill>
                  <a:srgbClr val="0070C0"/>
                </a:solidFill>
                <a:latin typeface="メイリオ" panose="020B0604030504040204" pitchFamily="50" charset="-128"/>
                <a:ea typeface="メイリオ" panose="020B0604030504040204" pitchFamily="50" charset="-128"/>
              </a:rPr>
              <a:t>要確認</a:t>
            </a:r>
            <a:r>
              <a:rPr lang="ja-JP" altLang="en-US" sz="800" dirty="0" smtClean="0">
                <a:latin typeface="メイリオ" panose="020B0604030504040204" pitchFamily="50" charset="-128"/>
                <a:ea typeface="メイリオ" panose="020B0604030504040204" pitchFamily="50" charset="-128"/>
              </a:rPr>
              <a:t> のデータは登録されません。</a:t>
            </a:r>
            <a:endParaRPr kumimoji="1" lang="ja-JP" altLang="en-US" sz="800" dirty="0">
              <a:latin typeface="メイリオ" panose="020B0604030504040204" pitchFamily="50" charset="-128"/>
              <a:ea typeface="メイリオ" panose="020B0604030504040204" pitchFamily="50" charset="-128"/>
            </a:endParaRPr>
          </a:p>
        </p:txBody>
      </p:sp>
      <p:sp>
        <p:nvSpPr>
          <p:cNvPr id="18" name="正方形/長方形 17"/>
          <p:cNvSpPr/>
          <p:nvPr/>
        </p:nvSpPr>
        <p:spPr>
          <a:xfrm>
            <a:off x="4484973" y="2504229"/>
            <a:ext cx="383360" cy="173739"/>
          </a:xfrm>
          <a:prstGeom prst="rect">
            <a:avLst/>
          </a:prstGeom>
          <a:solidFill>
            <a:srgbClr val="CC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p:cNvSpPr txBox="1"/>
          <p:nvPr/>
        </p:nvSpPr>
        <p:spPr>
          <a:xfrm>
            <a:off x="2659868" y="2513063"/>
            <a:ext cx="5156536" cy="218575"/>
          </a:xfrm>
          <a:prstGeom prst="rect">
            <a:avLst/>
          </a:prstGeom>
          <a:noFill/>
        </p:spPr>
        <p:txBody>
          <a:bodyPr wrap="square" rtlCol="0">
            <a:spAutoFit/>
          </a:bodyPr>
          <a:lstStyle/>
          <a:p>
            <a:r>
              <a:rPr lang="en-US" altLang="ja-JP" sz="800" dirty="0" smtClean="0">
                <a:latin typeface="メイリオ" panose="020B0604030504040204" pitchFamily="50" charset="-128"/>
                <a:ea typeface="メイリオ" panose="020B0604030504040204" pitchFamily="50" charset="-128"/>
              </a:rPr>
              <a:t>※</a:t>
            </a:r>
            <a:r>
              <a:rPr lang="ja-JP" altLang="en-US" sz="800" dirty="0" smtClean="0">
                <a:latin typeface="メイリオ" panose="020B0604030504040204" pitchFamily="50" charset="-128"/>
                <a:ea typeface="メイリオ" panose="020B0604030504040204" pitchFamily="50" charset="-128"/>
              </a:rPr>
              <a:t>チェックしない場合、「</a:t>
            </a:r>
            <a:r>
              <a:rPr lang="ja-JP" altLang="en-US" sz="800" dirty="0">
                <a:latin typeface="メイリオ" panose="020B0604030504040204" pitchFamily="50" charset="-128"/>
                <a:ea typeface="メイリオ" panose="020B0604030504040204" pitchFamily="50" charset="-128"/>
              </a:rPr>
              <a:t>結果</a:t>
            </a:r>
            <a:r>
              <a:rPr lang="ja-JP" altLang="en-US" sz="800" dirty="0" smtClean="0">
                <a:latin typeface="メイリオ" panose="020B0604030504040204" pitchFamily="50" charset="-128"/>
                <a:ea typeface="メイリオ" panose="020B0604030504040204" pitchFamily="50" charset="-128"/>
              </a:rPr>
              <a:t>」列が </a:t>
            </a:r>
            <a:r>
              <a:rPr lang="ja-JP" altLang="en-US" sz="800" dirty="0" smtClean="0">
                <a:solidFill>
                  <a:srgbClr val="00B050"/>
                </a:solidFill>
                <a:latin typeface="メイリオ" panose="020B0604030504040204" pitchFamily="50" charset="-128"/>
                <a:ea typeface="メイリオ" panose="020B0604030504040204" pitchFamily="50" charset="-128"/>
              </a:rPr>
              <a:t>要確認</a:t>
            </a:r>
            <a:r>
              <a:rPr lang="ja-JP" altLang="en-US" sz="800" dirty="0" smtClean="0">
                <a:latin typeface="メイリオ" panose="020B0604030504040204" pitchFamily="50" charset="-128"/>
                <a:ea typeface="メイリオ" panose="020B0604030504040204" pitchFamily="50" charset="-128"/>
              </a:rPr>
              <a:t> のデータは登録されません。</a:t>
            </a:r>
            <a:endParaRPr kumimoji="1" lang="ja-JP" altLang="en-US" sz="800" dirty="0">
              <a:latin typeface="メイリオ" panose="020B0604030504040204" pitchFamily="50" charset="-128"/>
              <a:ea typeface="メイリオ" panose="020B0604030504040204" pitchFamily="50" charset="-128"/>
            </a:endParaRPr>
          </a:p>
        </p:txBody>
      </p:sp>
      <p:sp>
        <p:nvSpPr>
          <p:cNvPr id="19" name="テキスト ボックス 18"/>
          <p:cNvSpPr txBox="1"/>
          <p:nvPr/>
        </p:nvSpPr>
        <p:spPr>
          <a:xfrm>
            <a:off x="2360126" y="1252342"/>
            <a:ext cx="3984255" cy="261610"/>
          </a:xfrm>
          <a:prstGeom prst="rect">
            <a:avLst/>
          </a:prstGeom>
          <a:noFill/>
        </p:spPr>
        <p:txBody>
          <a:bodyPr wrap="square" rtlCol="0">
            <a:spAutoFit/>
          </a:bodyPr>
          <a:lstStyle/>
          <a:p>
            <a:r>
              <a:rPr kumimoji="1" lang="ja-JP" altLang="en-US" sz="1100" b="1" dirty="0" smtClean="0">
                <a:latin typeface="メイリオ" panose="020B0604030504040204" pitchFamily="50" charset="-128"/>
                <a:ea typeface="メイリオ" panose="020B0604030504040204" pitchFamily="50" charset="-128"/>
              </a:rPr>
              <a:t>確認</a:t>
            </a:r>
            <a:endParaRPr kumimoji="1" lang="ja-JP" altLang="en-US" sz="1100" b="1" dirty="0">
              <a:latin typeface="メイリオ" panose="020B0604030504040204" pitchFamily="50" charset="-128"/>
              <a:ea typeface="メイリオ" panose="020B0604030504040204" pitchFamily="50" charset="-128"/>
            </a:endParaRPr>
          </a:p>
        </p:txBody>
      </p:sp>
      <p:sp>
        <p:nvSpPr>
          <p:cNvPr id="22" name="正方形/長方形 21"/>
          <p:cNvSpPr/>
          <p:nvPr/>
        </p:nvSpPr>
        <p:spPr>
          <a:xfrm>
            <a:off x="6962932" y="3411756"/>
            <a:ext cx="540000" cy="288000"/>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p:cNvSpPr txBox="1"/>
          <p:nvPr/>
        </p:nvSpPr>
        <p:spPr>
          <a:xfrm>
            <a:off x="7003574" y="3425205"/>
            <a:ext cx="986010" cy="261610"/>
          </a:xfrm>
          <a:prstGeom prst="rect">
            <a:avLst/>
          </a:prstGeom>
          <a:noFill/>
        </p:spPr>
        <p:txBody>
          <a:bodyPr wrap="square" rtlCol="0">
            <a:spAutoFit/>
          </a:bodyPr>
          <a:lstStyle/>
          <a:p>
            <a:r>
              <a:rPr lang="ja-JP" altLang="en-US" sz="1100" b="1" dirty="0">
                <a:solidFill>
                  <a:schemeClr val="tx1">
                    <a:lumMod val="85000"/>
                    <a:lumOff val="15000"/>
                  </a:schemeClr>
                </a:solidFill>
              </a:rPr>
              <a:t>実行</a:t>
            </a:r>
            <a:endParaRPr kumimoji="1" lang="ja-JP" altLang="en-US" sz="1100" b="1" dirty="0">
              <a:solidFill>
                <a:schemeClr val="tx1">
                  <a:lumMod val="85000"/>
                  <a:lumOff val="15000"/>
                </a:schemeClr>
              </a:solidFill>
            </a:endParaRPr>
          </a:p>
        </p:txBody>
      </p:sp>
      <p:sp>
        <p:nvSpPr>
          <p:cNvPr id="24" name="正方形/長方形 23"/>
          <p:cNvSpPr/>
          <p:nvPr/>
        </p:nvSpPr>
        <p:spPr>
          <a:xfrm>
            <a:off x="5938013" y="3425478"/>
            <a:ext cx="936000" cy="288000"/>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p:cNvSpPr txBox="1"/>
          <p:nvPr/>
        </p:nvSpPr>
        <p:spPr>
          <a:xfrm>
            <a:off x="5978655" y="3438927"/>
            <a:ext cx="986010" cy="261610"/>
          </a:xfrm>
          <a:prstGeom prst="rect">
            <a:avLst/>
          </a:prstGeom>
          <a:noFill/>
        </p:spPr>
        <p:txBody>
          <a:bodyPr wrap="square" rtlCol="0">
            <a:spAutoFit/>
          </a:bodyPr>
          <a:lstStyle/>
          <a:p>
            <a:r>
              <a:rPr lang="ja-JP" altLang="en-US" sz="1100" b="1" dirty="0">
                <a:solidFill>
                  <a:schemeClr val="tx1">
                    <a:lumMod val="85000"/>
                    <a:lumOff val="15000"/>
                  </a:schemeClr>
                </a:solidFill>
              </a:rPr>
              <a:t>キャンセル</a:t>
            </a:r>
            <a:endParaRPr kumimoji="1" lang="ja-JP" altLang="en-US" sz="1100" b="1" dirty="0">
              <a:solidFill>
                <a:schemeClr val="tx1">
                  <a:lumMod val="85000"/>
                  <a:lumOff val="15000"/>
                </a:schemeClr>
              </a:solidFill>
            </a:endParaRPr>
          </a:p>
        </p:txBody>
      </p:sp>
      <p:sp>
        <p:nvSpPr>
          <p:cNvPr id="28" name="四角形吹き出し 27"/>
          <p:cNvSpPr/>
          <p:nvPr/>
        </p:nvSpPr>
        <p:spPr>
          <a:xfrm>
            <a:off x="7941623" y="2137137"/>
            <a:ext cx="3315588" cy="1015496"/>
          </a:xfrm>
          <a:prstGeom prst="wedgeRectCallout">
            <a:avLst>
              <a:gd name="adj1" fmla="val -43116"/>
              <a:gd name="adj2" fmla="val 9268"/>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dirty="0" smtClean="0">
                <a:solidFill>
                  <a:schemeClr val="tx1"/>
                </a:solidFill>
              </a:rPr>
              <a:t>チェック結果欄に、要確認メッセージがある場合はこの部分を表示。</a:t>
            </a:r>
            <a:endParaRPr lang="en-US" altLang="ja-JP" sz="1400" dirty="0" smtClean="0">
              <a:solidFill>
                <a:schemeClr val="tx1"/>
              </a:solidFill>
            </a:endParaRPr>
          </a:p>
          <a:p>
            <a:r>
              <a:rPr kumimoji="1" lang="ja-JP" altLang="en-US" sz="1400" dirty="0">
                <a:solidFill>
                  <a:schemeClr val="tx1"/>
                </a:solidFill>
              </a:rPr>
              <a:t>ない場合</a:t>
            </a:r>
            <a:r>
              <a:rPr kumimoji="1" lang="ja-JP" altLang="en-US" sz="1400" dirty="0" smtClean="0">
                <a:solidFill>
                  <a:schemeClr val="tx1"/>
                </a:solidFill>
              </a:rPr>
              <a:t>は「よろしいですか？」のみ</a:t>
            </a:r>
            <a:endParaRPr kumimoji="1" lang="ja-JP" altLang="en-US" sz="1400" dirty="0">
              <a:solidFill>
                <a:schemeClr val="tx1"/>
              </a:solidFill>
            </a:endParaRPr>
          </a:p>
        </p:txBody>
      </p:sp>
      <p:sp>
        <p:nvSpPr>
          <p:cNvPr id="29" name="右中かっこ 28"/>
          <p:cNvSpPr/>
          <p:nvPr/>
        </p:nvSpPr>
        <p:spPr>
          <a:xfrm>
            <a:off x="7449585" y="1886222"/>
            <a:ext cx="382324" cy="135253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6" name="テキスト ボックス 25"/>
          <p:cNvSpPr txBox="1"/>
          <p:nvPr/>
        </p:nvSpPr>
        <p:spPr>
          <a:xfrm>
            <a:off x="1526064" y="4494930"/>
            <a:ext cx="9265711" cy="1600438"/>
          </a:xfrm>
          <a:prstGeom prst="rect">
            <a:avLst/>
          </a:prstGeom>
          <a:noFill/>
        </p:spPr>
        <p:txBody>
          <a:bodyPr wrap="square" rtlCol="0">
            <a:spAutoFit/>
          </a:bodyPr>
          <a:lstStyle/>
          <a:p>
            <a:r>
              <a:rPr lang="ja-JP" altLang="en-US" sz="1400" dirty="0" smtClean="0">
                <a:latin typeface="メイリオ" panose="020B0604030504040204" pitchFamily="50" charset="-128"/>
                <a:ea typeface="メイリオ" panose="020B0604030504040204" pitchFamily="50" charset="-128"/>
              </a:rPr>
              <a:t>・一括登録するデータは、</a:t>
            </a:r>
            <a:r>
              <a:rPr lang="en-US" altLang="ja-JP" sz="1400" dirty="0" smtClean="0">
                <a:latin typeface="メイリオ" panose="020B0604030504040204" pitchFamily="50" charset="-128"/>
                <a:ea typeface="メイリオ" panose="020B0604030504040204" pitchFamily="50" charset="-128"/>
              </a:rPr>
              <a:t>csv</a:t>
            </a:r>
            <a:r>
              <a:rPr lang="ja-JP" altLang="en-US" sz="1400" dirty="0" smtClean="0">
                <a:latin typeface="メイリオ" panose="020B0604030504040204" pitchFamily="50" charset="-128"/>
                <a:ea typeface="メイリオ" panose="020B0604030504040204" pitchFamily="50" charset="-128"/>
              </a:rPr>
              <a:t>ファイルの上から順に、登録済みのデータの最後尾に追加する。</a:t>
            </a:r>
            <a:endParaRPr lang="en-US" altLang="ja-JP" sz="1400" dirty="0" smtClean="0">
              <a:latin typeface="メイリオ" panose="020B0604030504040204" pitchFamily="50" charset="-128"/>
              <a:ea typeface="メイリオ" panose="020B0604030504040204" pitchFamily="50" charset="-128"/>
            </a:endParaRPr>
          </a:p>
          <a:p>
            <a:endParaRPr lang="en-US" altLang="ja-JP" sz="1400" dirty="0" smtClean="0">
              <a:latin typeface="メイリオ" panose="020B0604030504040204" pitchFamily="50" charset="-128"/>
              <a:ea typeface="メイリオ" panose="020B0604030504040204" pitchFamily="50" charset="-128"/>
            </a:endParaRPr>
          </a:p>
          <a:p>
            <a:r>
              <a:rPr lang="ja-JP" altLang="en-US" sz="1400" dirty="0" smtClean="0">
                <a:latin typeface="メイリオ" panose="020B0604030504040204" pitchFamily="50" charset="-128"/>
                <a:ea typeface="メイリオ" panose="020B0604030504040204" pitchFamily="50" charset="-128"/>
              </a:rPr>
              <a:t>・緑チェックが</a:t>
            </a:r>
            <a:r>
              <a:rPr lang="en-US" altLang="ja-JP" sz="1400" dirty="0" smtClean="0">
                <a:latin typeface="メイリオ" panose="020B0604030504040204" pitchFamily="50" charset="-128"/>
                <a:ea typeface="メイリオ" panose="020B0604030504040204" pitchFamily="50" charset="-128"/>
              </a:rPr>
              <a:t>ON</a:t>
            </a:r>
            <a:r>
              <a:rPr lang="ja-JP" altLang="en-US" sz="1400" dirty="0" smtClean="0">
                <a:latin typeface="メイリオ" panose="020B0604030504040204" pitchFamily="50" charset="-128"/>
                <a:ea typeface="メイリオ" panose="020B0604030504040204" pitchFamily="50" charset="-128"/>
              </a:rPr>
              <a:t>の場合</a:t>
            </a:r>
            <a:r>
              <a:rPr lang="ja-JP" altLang="en-US" sz="1400" dirty="0">
                <a:latin typeface="メイリオ" panose="020B0604030504040204" pitchFamily="50" charset="-128"/>
                <a:ea typeface="メイリオ" panose="020B0604030504040204" pitchFamily="50" charset="-128"/>
              </a:rPr>
              <a:t>は、メールアドレスと社員</a:t>
            </a:r>
            <a:r>
              <a:rPr lang="en-US" altLang="ja-JP" sz="1400" dirty="0">
                <a:latin typeface="メイリオ" panose="020B0604030504040204" pitchFamily="50" charset="-128"/>
                <a:ea typeface="メイリオ" panose="020B0604030504040204" pitchFamily="50" charset="-128"/>
              </a:rPr>
              <a:t>ID</a:t>
            </a:r>
            <a:r>
              <a:rPr lang="ja-JP" altLang="en-US" sz="1400" dirty="0">
                <a:latin typeface="メイリオ" panose="020B0604030504040204" pitchFamily="50" charset="-128"/>
                <a:ea typeface="メイリオ" panose="020B0604030504040204" pitchFamily="50" charset="-128"/>
              </a:rPr>
              <a:t>が同じ</a:t>
            </a:r>
            <a:r>
              <a:rPr lang="ja-JP" altLang="en-US" sz="1400" dirty="0" smtClean="0">
                <a:latin typeface="メイリオ" panose="020B0604030504040204" pitchFamily="50" charset="-128"/>
                <a:ea typeface="メイリオ" panose="020B0604030504040204" pitchFamily="50" charset="-128"/>
              </a:rPr>
              <a:t>データを</a:t>
            </a:r>
            <a:r>
              <a:rPr lang="ja-JP" altLang="en-US" sz="1400" dirty="0">
                <a:latin typeface="メイリオ" panose="020B0604030504040204" pitchFamily="50" charset="-128"/>
                <a:ea typeface="メイリオ" panose="020B0604030504040204" pitchFamily="50" charset="-128"/>
              </a:rPr>
              <a:t>上書き</a:t>
            </a:r>
            <a:r>
              <a:rPr lang="ja-JP" altLang="en-US" sz="1400" dirty="0" smtClean="0">
                <a:latin typeface="メイリオ" panose="020B0604030504040204" pitchFamily="50" charset="-128"/>
                <a:ea typeface="メイリオ" panose="020B0604030504040204" pitchFamily="50" charset="-128"/>
              </a:rPr>
              <a:t>する</a:t>
            </a:r>
            <a:r>
              <a:rPr lang="ja-JP" altLang="en-US" sz="1400" dirty="0">
                <a:latin typeface="メイリオ" panose="020B0604030504040204" pitchFamily="50" charset="-128"/>
                <a:ea typeface="メイリオ" panose="020B0604030504040204" pitchFamily="50" charset="-128"/>
              </a:rPr>
              <a:t>。</a:t>
            </a:r>
            <a:r>
              <a:rPr lang="ja-JP" altLang="en-US" sz="1400" dirty="0" smtClean="0">
                <a:latin typeface="メイリオ" panose="020B0604030504040204" pitchFamily="50" charset="-128"/>
                <a:ea typeface="メイリオ" panose="020B0604030504040204" pitchFamily="50" charset="-128"/>
              </a:rPr>
              <a:t>（</a:t>
            </a:r>
            <a:r>
              <a:rPr lang="ja-JP" altLang="en-US" sz="1400" dirty="0" smtClean="0">
                <a:solidFill>
                  <a:srgbClr val="FF0000"/>
                </a:solidFill>
                <a:latin typeface="メイリオ" panose="020B0604030504040204" pitchFamily="50" charset="-128"/>
                <a:ea typeface="メイリオ" panose="020B0604030504040204" pitchFamily="50" charset="-128"/>
              </a:rPr>
              <a:t>検討中</a:t>
            </a:r>
            <a:r>
              <a:rPr lang="ja-JP" altLang="en-US" sz="1400" dirty="0" smtClean="0">
                <a:latin typeface="メイリオ" panose="020B0604030504040204" pitchFamily="50" charset="-128"/>
                <a:ea typeface="メイリオ" panose="020B0604030504040204" pitchFamily="50" charset="-128"/>
              </a:rPr>
              <a:t>）</a:t>
            </a:r>
            <a:endParaRPr lang="en-US" altLang="ja-JP" sz="1400" dirty="0" smtClean="0">
              <a:latin typeface="メイリオ" panose="020B0604030504040204" pitchFamily="50" charset="-128"/>
              <a:ea typeface="メイリオ" panose="020B0604030504040204" pitchFamily="50" charset="-128"/>
            </a:endParaRPr>
          </a:p>
          <a:p>
            <a:endParaRPr lang="en-US" altLang="ja-JP" sz="1400" dirty="0">
              <a:solidFill>
                <a:srgbClr val="FF0000"/>
              </a:solidFill>
              <a:latin typeface="メイリオ" panose="020B0604030504040204" pitchFamily="50" charset="-128"/>
              <a:ea typeface="メイリオ" panose="020B0604030504040204" pitchFamily="50" charset="-128"/>
            </a:endParaRPr>
          </a:p>
          <a:p>
            <a:r>
              <a:rPr lang="ja-JP" altLang="en-US" sz="1400" dirty="0" smtClean="0">
                <a:latin typeface="メイリオ" panose="020B0604030504040204" pitchFamily="50" charset="-128"/>
                <a:ea typeface="メイリオ" panose="020B0604030504040204" pitchFamily="50" charset="-128"/>
              </a:rPr>
              <a:t>・青チェックが</a:t>
            </a:r>
            <a:r>
              <a:rPr lang="en-US" altLang="ja-JP" sz="1400" dirty="0" smtClean="0">
                <a:latin typeface="メイリオ" panose="020B0604030504040204" pitchFamily="50" charset="-128"/>
                <a:ea typeface="メイリオ" panose="020B0604030504040204" pitchFamily="50" charset="-128"/>
              </a:rPr>
              <a:t>ON</a:t>
            </a:r>
            <a:r>
              <a:rPr lang="ja-JP" altLang="en-US" sz="1400" dirty="0" smtClean="0">
                <a:latin typeface="メイリオ" panose="020B0604030504040204" pitchFamily="50" charset="-128"/>
                <a:ea typeface="メイリオ" panose="020B0604030504040204" pitchFamily="50" charset="-128"/>
              </a:rPr>
              <a:t>の場合は、未登録の役職・拠点・所属名称を新規登録する。（</a:t>
            </a:r>
            <a:r>
              <a:rPr lang="ja-JP" altLang="en-US" sz="1400" dirty="0" smtClean="0">
                <a:solidFill>
                  <a:srgbClr val="FF0000"/>
                </a:solidFill>
                <a:latin typeface="メイリオ" panose="020B0604030504040204" pitchFamily="50" charset="-128"/>
                <a:ea typeface="メイリオ" panose="020B0604030504040204" pitchFamily="50" charset="-128"/>
              </a:rPr>
              <a:t>検討中</a:t>
            </a:r>
            <a:r>
              <a:rPr lang="ja-JP" altLang="en-US" sz="1400" dirty="0" smtClean="0">
                <a:latin typeface="メイリオ" panose="020B0604030504040204" pitchFamily="50" charset="-128"/>
                <a:ea typeface="メイリオ" panose="020B0604030504040204" pitchFamily="50" charset="-128"/>
              </a:rPr>
              <a:t>）</a:t>
            </a:r>
            <a:endParaRPr lang="en-US" altLang="ja-JP" sz="1400" dirty="0" smtClean="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rPr>
              <a:t>ID</a:t>
            </a:r>
            <a:r>
              <a:rPr lang="ja-JP" altLang="en-US" sz="1400" dirty="0">
                <a:latin typeface="メイリオ" panose="020B0604030504040204" pitchFamily="50" charset="-128"/>
                <a:ea typeface="メイリオ" panose="020B0604030504040204" pitchFamily="50" charset="-128"/>
              </a:rPr>
              <a:t>は登録済みの中で一番大きい番号＋１とする）</a:t>
            </a:r>
            <a:endParaRPr lang="en-US" altLang="ja-JP" sz="1400" dirty="0">
              <a:latin typeface="メイリオ" panose="020B0604030504040204" pitchFamily="50" charset="-128"/>
              <a:ea typeface="メイリオ" panose="020B0604030504040204" pitchFamily="50" charset="-128"/>
            </a:endParaRPr>
          </a:p>
          <a:p>
            <a:endParaRPr lang="en-US" altLang="ja-JP" sz="1400" dirty="0" smtClean="0">
              <a:latin typeface="メイリオ" panose="020B0604030504040204" pitchFamily="50" charset="-128"/>
              <a:ea typeface="メイリオ" panose="020B0604030504040204" pitchFamily="50" charset="-128"/>
            </a:endParaRPr>
          </a:p>
        </p:txBody>
      </p:sp>
      <p:pic>
        <p:nvPicPr>
          <p:cNvPr id="30" name="図 29"/>
          <p:cNvPicPr>
            <a:picLocks noChangeAspect="1"/>
          </p:cNvPicPr>
          <p:nvPr/>
        </p:nvPicPr>
        <p:blipFill>
          <a:blip r:embed="rId2"/>
          <a:stretch>
            <a:fillRect/>
          </a:stretch>
        </p:blipFill>
        <p:spPr>
          <a:xfrm>
            <a:off x="9676784" y="3350363"/>
            <a:ext cx="5610521" cy="2883913"/>
          </a:xfrm>
          <a:prstGeom prst="rect">
            <a:avLst/>
          </a:prstGeom>
        </p:spPr>
      </p:pic>
      <p:sp>
        <p:nvSpPr>
          <p:cNvPr id="31" name="テキスト ボックス 30"/>
          <p:cNvSpPr txBox="1"/>
          <p:nvPr/>
        </p:nvSpPr>
        <p:spPr>
          <a:xfrm>
            <a:off x="10108560" y="5032448"/>
            <a:ext cx="2988000" cy="215444"/>
          </a:xfrm>
          <a:prstGeom prst="rect">
            <a:avLst/>
          </a:prstGeom>
          <a:noFill/>
        </p:spPr>
        <p:txBody>
          <a:bodyPr wrap="square" rtlCol="0">
            <a:spAutoFit/>
          </a:bodyPr>
          <a:lstStyle/>
          <a:p>
            <a:r>
              <a:rPr lang="ja-JP" altLang="en-US" sz="800" dirty="0" smtClean="0">
                <a:latin typeface="メイリオ" panose="020B0604030504040204" pitchFamily="50" charset="-128"/>
                <a:ea typeface="メイリオ" panose="020B0604030504040204" pitchFamily="50" charset="-128"/>
              </a:rPr>
              <a:t>登録されていない役職・拠点・所属を新規追加する</a:t>
            </a:r>
            <a:endParaRPr kumimoji="1" lang="ja-JP" altLang="en-US" sz="800" dirty="0">
              <a:latin typeface="メイリオ" panose="020B0604030504040204" pitchFamily="50" charset="-128"/>
              <a:ea typeface="メイリオ" panose="020B0604030504040204" pitchFamily="50" charset="-128"/>
            </a:endParaRPr>
          </a:p>
        </p:txBody>
      </p:sp>
      <p:sp>
        <p:nvSpPr>
          <p:cNvPr id="32" name="角丸四角形 31"/>
          <p:cNvSpPr/>
          <p:nvPr/>
        </p:nvSpPr>
        <p:spPr>
          <a:xfrm>
            <a:off x="10021055" y="5056096"/>
            <a:ext cx="144000" cy="144000"/>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p:cNvSpPr txBox="1"/>
          <p:nvPr/>
        </p:nvSpPr>
        <p:spPr>
          <a:xfrm>
            <a:off x="9941073" y="5032981"/>
            <a:ext cx="348780" cy="230832"/>
          </a:xfrm>
          <a:prstGeom prst="rect">
            <a:avLst/>
          </a:prstGeom>
          <a:noFill/>
        </p:spPr>
        <p:txBody>
          <a:bodyPr wrap="square" rtlCol="0">
            <a:spAutoFit/>
          </a:bodyPr>
          <a:lstStyle/>
          <a:p>
            <a:r>
              <a:rPr kumimoji="1" lang="ja-JP" altLang="en-US" sz="900" b="1" dirty="0" smtClean="0">
                <a:solidFill>
                  <a:schemeClr val="bg1"/>
                </a:solidFill>
                <a:latin typeface="メイリオ" panose="020B0604030504040204" pitchFamily="50" charset="-128"/>
                <a:ea typeface="メイリオ" panose="020B0604030504040204" pitchFamily="50" charset="-128"/>
              </a:rPr>
              <a:t>✓</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34" name="テキスト ボックス 33"/>
          <p:cNvSpPr txBox="1"/>
          <p:nvPr/>
        </p:nvSpPr>
        <p:spPr>
          <a:xfrm>
            <a:off x="10108560" y="4502723"/>
            <a:ext cx="6832936" cy="215444"/>
          </a:xfrm>
          <a:prstGeom prst="rect">
            <a:avLst/>
          </a:prstGeom>
          <a:noFill/>
        </p:spPr>
        <p:txBody>
          <a:bodyPr wrap="square" rtlCol="0">
            <a:spAutoFit/>
          </a:bodyPr>
          <a:lstStyle/>
          <a:p>
            <a:r>
              <a:rPr lang="ja-JP" altLang="en-US" sz="800" dirty="0" smtClean="0">
                <a:latin typeface="メイリオ" panose="020B0604030504040204" pitchFamily="50" charset="-128"/>
                <a:ea typeface="メイリオ" panose="020B0604030504040204" pitchFamily="50" charset="-128"/>
              </a:rPr>
              <a:t>登録済みのユーザ（社員</a:t>
            </a:r>
            <a:r>
              <a:rPr lang="en-US" altLang="ja-JP" sz="800" dirty="0" smtClean="0">
                <a:latin typeface="メイリオ" panose="020B0604030504040204" pitchFamily="50" charset="-128"/>
                <a:ea typeface="メイリオ" panose="020B0604030504040204" pitchFamily="50" charset="-128"/>
              </a:rPr>
              <a:t>ID</a:t>
            </a:r>
            <a:r>
              <a:rPr lang="ja-JP" altLang="en-US" sz="800" dirty="0" err="1" smtClean="0">
                <a:latin typeface="メイリオ" panose="020B0604030504040204" pitchFamily="50" charset="-128"/>
                <a:ea typeface="メイリオ" panose="020B0604030504040204" pitchFamily="50" charset="-128"/>
              </a:rPr>
              <a:t>、</a:t>
            </a:r>
            <a:r>
              <a:rPr lang="ja-JP" altLang="en-US" sz="800" dirty="0" smtClean="0">
                <a:latin typeface="メイリオ" panose="020B0604030504040204" pitchFamily="50" charset="-128"/>
                <a:ea typeface="メイリオ" panose="020B0604030504040204" pitchFamily="50" charset="-128"/>
              </a:rPr>
              <a:t>メールアドレスが一致）</a:t>
            </a:r>
            <a:r>
              <a:rPr kumimoji="1" lang="ja-JP" altLang="en-US" sz="800" dirty="0" smtClean="0">
                <a:latin typeface="メイリオ" panose="020B0604030504040204" pitchFamily="50" charset="-128"/>
                <a:ea typeface="メイリオ" panose="020B0604030504040204" pitchFamily="50" charset="-128"/>
              </a:rPr>
              <a:t>のデータを、</a:t>
            </a:r>
            <a:r>
              <a:rPr kumimoji="1" lang="en-US" altLang="ja-JP" sz="800" dirty="0" smtClean="0">
                <a:latin typeface="メイリオ" panose="020B0604030504040204" pitchFamily="50" charset="-128"/>
                <a:ea typeface="メイリオ" panose="020B0604030504040204" pitchFamily="50" charset="-128"/>
              </a:rPr>
              <a:t>csv</a:t>
            </a:r>
            <a:r>
              <a:rPr kumimoji="1" lang="ja-JP" altLang="en-US" sz="800" dirty="0" smtClean="0">
                <a:latin typeface="メイリオ" panose="020B0604030504040204" pitchFamily="50" charset="-128"/>
                <a:ea typeface="メイリオ" panose="020B0604030504040204" pitchFamily="50" charset="-128"/>
              </a:rPr>
              <a:t>ファイルの内容で上書きする。</a:t>
            </a:r>
            <a:endParaRPr kumimoji="1" lang="ja-JP" altLang="en-US" sz="800" dirty="0">
              <a:latin typeface="メイリオ" panose="020B0604030504040204" pitchFamily="50" charset="-128"/>
              <a:ea typeface="メイリオ" panose="020B0604030504040204" pitchFamily="50" charset="-128"/>
            </a:endParaRPr>
          </a:p>
        </p:txBody>
      </p:sp>
      <p:sp>
        <p:nvSpPr>
          <p:cNvPr id="35" name="角丸四角形 34"/>
          <p:cNvSpPr/>
          <p:nvPr/>
        </p:nvSpPr>
        <p:spPr>
          <a:xfrm>
            <a:off x="10021055" y="4526371"/>
            <a:ext cx="144000" cy="144000"/>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p:cNvSpPr txBox="1"/>
          <p:nvPr/>
        </p:nvSpPr>
        <p:spPr>
          <a:xfrm>
            <a:off x="9941073" y="4503256"/>
            <a:ext cx="348780" cy="230832"/>
          </a:xfrm>
          <a:prstGeom prst="rect">
            <a:avLst/>
          </a:prstGeom>
          <a:noFill/>
        </p:spPr>
        <p:txBody>
          <a:bodyPr wrap="square" rtlCol="0">
            <a:spAutoFit/>
          </a:bodyPr>
          <a:lstStyle/>
          <a:p>
            <a:r>
              <a:rPr kumimoji="1" lang="ja-JP" altLang="en-US" sz="900" b="1" dirty="0" smtClean="0">
                <a:solidFill>
                  <a:schemeClr val="bg1"/>
                </a:solidFill>
                <a:latin typeface="メイリオ" panose="020B0604030504040204" pitchFamily="50" charset="-128"/>
                <a:ea typeface="メイリオ" panose="020B0604030504040204" pitchFamily="50" charset="-128"/>
              </a:rPr>
              <a:t>✓</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37" name="テキスト ボックス 36"/>
          <p:cNvSpPr txBox="1"/>
          <p:nvPr/>
        </p:nvSpPr>
        <p:spPr>
          <a:xfrm>
            <a:off x="9941073" y="3914510"/>
            <a:ext cx="5139384" cy="461665"/>
          </a:xfrm>
          <a:prstGeom prst="rect">
            <a:avLst/>
          </a:prstGeom>
          <a:noFill/>
        </p:spPr>
        <p:txBody>
          <a:bodyPr wrap="square" rtlCol="0">
            <a:spAutoFit/>
          </a:bodyPr>
          <a:lstStyle/>
          <a:p>
            <a:r>
              <a:rPr kumimoji="1" lang="ja-JP" altLang="en-US" sz="1200" dirty="0" smtClean="0">
                <a:latin typeface="メイリオ" panose="020B0604030504040204" pitchFamily="50" charset="-128"/>
                <a:ea typeface="メイリオ" panose="020B0604030504040204" pitchFamily="50" charset="-128"/>
              </a:rPr>
              <a:t>一括登録を行います。</a:t>
            </a:r>
            <a:endParaRPr kumimoji="1" lang="en-US" altLang="ja-JP" sz="1200" dirty="0" smtClean="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以下の内容</a:t>
            </a:r>
            <a:r>
              <a:rPr lang="ja-JP" altLang="en-US" sz="1200" dirty="0" smtClean="0">
                <a:latin typeface="メイリオ" panose="020B0604030504040204" pitchFamily="50" charset="-128"/>
                <a:ea typeface="メイリオ" panose="020B0604030504040204" pitchFamily="50" charset="-128"/>
              </a:rPr>
              <a:t>を確認して、「実行」ボタンをクリックしてください。</a:t>
            </a:r>
            <a:endParaRPr kumimoji="1" lang="ja-JP" altLang="en-US" sz="1200" dirty="0">
              <a:latin typeface="メイリオ" panose="020B0604030504040204" pitchFamily="50" charset="-128"/>
              <a:ea typeface="メイリオ" panose="020B0604030504040204" pitchFamily="50" charset="-128"/>
            </a:endParaRPr>
          </a:p>
        </p:txBody>
      </p:sp>
      <p:sp>
        <p:nvSpPr>
          <p:cNvPr id="38" name="正方形/長方形 37"/>
          <p:cNvSpPr/>
          <p:nvPr/>
        </p:nvSpPr>
        <p:spPr>
          <a:xfrm>
            <a:off x="11918160" y="5223211"/>
            <a:ext cx="383360" cy="173739"/>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p:cNvSpPr txBox="1"/>
          <p:nvPr/>
        </p:nvSpPr>
        <p:spPr>
          <a:xfrm>
            <a:off x="10093055" y="5237753"/>
            <a:ext cx="5156536" cy="218575"/>
          </a:xfrm>
          <a:prstGeom prst="rect">
            <a:avLst/>
          </a:prstGeom>
          <a:noFill/>
        </p:spPr>
        <p:txBody>
          <a:bodyPr wrap="square" rtlCol="0">
            <a:spAutoFit/>
          </a:bodyPr>
          <a:lstStyle/>
          <a:p>
            <a:r>
              <a:rPr lang="en-US" altLang="ja-JP" sz="800" dirty="0" smtClean="0">
                <a:latin typeface="メイリオ" panose="020B0604030504040204" pitchFamily="50" charset="-128"/>
                <a:ea typeface="メイリオ" panose="020B0604030504040204" pitchFamily="50" charset="-128"/>
              </a:rPr>
              <a:t>※</a:t>
            </a:r>
            <a:r>
              <a:rPr lang="ja-JP" altLang="en-US" sz="800" dirty="0" smtClean="0">
                <a:latin typeface="メイリオ" panose="020B0604030504040204" pitchFamily="50" charset="-128"/>
                <a:ea typeface="メイリオ" panose="020B0604030504040204" pitchFamily="50" charset="-128"/>
              </a:rPr>
              <a:t>チェックしない場合、「</a:t>
            </a:r>
            <a:r>
              <a:rPr lang="ja-JP" altLang="en-US" sz="800" dirty="0">
                <a:latin typeface="メイリオ" panose="020B0604030504040204" pitchFamily="50" charset="-128"/>
                <a:ea typeface="メイリオ" panose="020B0604030504040204" pitchFamily="50" charset="-128"/>
              </a:rPr>
              <a:t>結果</a:t>
            </a:r>
            <a:r>
              <a:rPr lang="ja-JP" altLang="en-US" sz="800" dirty="0" smtClean="0">
                <a:latin typeface="メイリオ" panose="020B0604030504040204" pitchFamily="50" charset="-128"/>
                <a:ea typeface="メイリオ" panose="020B0604030504040204" pitchFamily="50" charset="-128"/>
              </a:rPr>
              <a:t>」列が </a:t>
            </a:r>
            <a:r>
              <a:rPr lang="ja-JP" altLang="en-US" sz="800" dirty="0" smtClean="0">
                <a:solidFill>
                  <a:srgbClr val="0070C0"/>
                </a:solidFill>
                <a:latin typeface="メイリオ" panose="020B0604030504040204" pitchFamily="50" charset="-128"/>
                <a:ea typeface="メイリオ" panose="020B0604030504040204" pitchFamily="50" charset="-128"/>
              </a:rPr>
              <a:t>要確認</a:t>
            </a:r>
            <a:r>
              <a:rPr lang="ja-JP" altLang="en-US" sz="800" dirty="0" smtClean="0">
                <a:latin typeface="メイリオ" panose="020B0604030504040204" pitchFamily="50" charset="-128"/>
                <a:ea typeface="メイリオ" panose="020B0604030504040204" pitchFamily="50" charset="-128"/>
              </a:rPr>
              <a:t> になっているデータは登録されません。</a:t>
            </a:r>
            <a:endParaRPr kumimoji="1" lang="ja-JP" altLang="en-US" sz="800" dirty="0">
              <a:latin typeface="メイリオ" panose="020B0604030504040204" pitchFamily="50" charset="-128"/>
              <a:ea typeface="メイリオ" panose="020B0604030504040204" pitchFamily="50" charset="-128"/>
            </a:endParaRPr>
          </a:p>
        </p:txBody>
      </p:sp>
      <p:sp>
        <p:nvSpPr>
          <p:cNvPr id="40" name="正方形/長方形 39"/>
          <p:cNvSpPr/>
          <p:nvPr/>
        </p:nvSpPr>
        <p:spPr>
          <a:xfrm>
            <a:off x="11918160" y="4703755"/>
            <a:ext cx="383360" cy="173739"/>
          </a:xfrm>
          <a:prstGeom prst="rect">
            <a:avLst/>
          </a:prstGeom>
          <a:solidFill>
            <a:srgbClr val="CC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p:cNvSpPr txBox="1"/>
          <p:nvPr/>
        </p:nvSpPr>
        <p:spPr>
          <a:xfrm>
            <a:off x="10093055" y="4712589"/>
            <a:ext cx="5156536" cy="218575"/>
          </a:xfrm>
          <a:prstGeom prst="rect">
            <a:avLst/>
          </a:prstGeom>
          <a:noFill/>
        </p:spPr>
        <p:txBody>
          <a:bodyPr wrap="square" rtlCol="0">
            <a:spAutoFit/>
          </a:bodyPr>
          <a:lstStyle/>
          <a:p>
            <a:r>
              <a:rPr lang="en-US" altLang="ja-JP" sz="800" dirty="0" smtClean="0">
                <a:latin typeface="メイリオ" panose="020B0604030504040204" pitchFamily="50" charset="-128"/>
                <a:ea typeface="メイリオ" panose="020B0604030504040204" pitchFamily="50" charset="-128"/>
              </a:rPr>
              <a:t>※</a:t>
            </a:r>
            <a:r>
              <a:rPr lang="ja-JP" altLang="en-US" sz="800" dirty="0" smtClean="0">
                <a:latin typeface="メイリオ" panose="020B0604030504040204" pitchFamily="50" charset="-128"/>
                <a:ea typeface="メイリオ" panose="020B0604030504040204" pitchFamily="50" charset="-128"/>
              </a:rPr>
              <a:t>チェックしない場合、「</a:t>
            </a:r>
            <a:r>
              <a:rPr lang="ja-JP" altLang="en-US" sz="800" dirty="0">
                <a:latin typeface="メイリオ" panose="020B0604030504040204" pitchFamily="50" charset="-128"/>
                <a:ea typeface="メイリオ" panose="020B0604030504040204" pitchFamily="50" charset="-128"/>
              </a:rPr>
              <a:t>結果</a:t>
            </a:r>
            <a:r>
              <a:rPr lang="ja-JP" altLang="en-US" sz="800" dirty="0" smtClean="0">
                <a:latin typeface="メイリオ" panose="020B0604030504040204" pitchFamily="50" charset="-128"/>
                <a:ea typeface="メイリオ" panose="020B0604030504040204" pitchFamily="50" charset="-128"/>
              </a:rPr>
              <a:t>」列が </a:t>
            </a:r>
            <a:r>
              <a:rPr lang="ja-JP" altLang="en-US" sz="800" dirty="0" smtClean="0">
                <a:solidFill>
                  <a:srgbClr val="00B050"/>
                </a:solidFill>
                <a:latin typeface="メイリオ" panose="020B0604030504040204" pitchFamily="50" charset="-128"/>
                <a:ea typeface="メイリオ" panose="020B0604030504040204" pitchFamily="50" charset="-128"/>
              </a:rPr>
              <a:t>要確認</a:t>
            </a:r>
            <a:r>
              <a:rPr lang="ja-JP" altLang="en-US" sz="800" dirty="0" smtClean="0">
                <a:latin typeface="メイリオ" panose="020B0604030504040204" pitchFamily="50" charset="-128"/>
                <a:ea typeface="メイリオ" panose="020B0604030504040204" pitchFamily="50" charset="-128"/>
              </a:rPr>
              <a:t> になっているデータは登録されません。</a:t>
            </a:r>
            <a:endParaRPr kumimoji="1" lang="ja-JP" altLang="en-US" sz="800" dirty="0">
              <a:latin typeface="メイリオ" panose="020B0604030504040204" pitchFamily="50" charset="-128"/>
              <a:ea typeface="メイリオ" panose="020B0604030504040204" pitchFamily="50" charset="-128"/>
            </a:endParaRPr>
          </a:p>
        </p:txBody>
      </p:sp>
      <p:sp>
        <p:nvSpPr>
          <p:cNvPr id="42" name="テキスト ボックス 41"/>
          <p:cNvSpPr txBox="1"/>
          <p:nvPr/>
        </p:nvSpPr>
        <p:spPr>
          <a:xfrm>
            <a:off x="9793313" y="3451868"/>
            <a:ext cx="3984255" cy="261610"/>
          </a:xfrm>
          <a:prstGeom prst="rect">
            <a:avLst/>
          </a:prstGeom>
          <a:noFill/>
        </p:spPr>
        <p:txBody>
          <a:bodyPr wrap="square" rtlCol="0">
            <a:spAutoFit/>
          </a:bodyPr>
          <a:lstStyle/>
          <a:p>
            <a:r>
              <a:rPr kumimoji="1" lang="ja-JP" altLang="en-US" sz="1100" b="1" dirty="0" smtClean="0">
                <a:latin typeface="メイリオ" panose="020B0604030504040204" pitchFamily="50" charset="-128"/>
                <a:ea typeface="メイリオ" panose="020B0604030504040204" pitchFamily="50" charset="-128"/>
              </a:rPr>
              <a:t>確認</a:t>
            </a:r>
            <a:endParaRPr kumimoji="1" lang="ja-JP" altLang="en-US" sz="1100" b="1" dirty="0">
              <a:latin typeface="メイリオ" panose="020B0604030504040204" pitchFamily="50" charset="-128"/>
              <a:ea typeface="メイリオ" panose="020B0604030504040204" pitchFamily="50" charset="-128"/>
            </a:endParaRPr>
          </a:p>
        </p:txBody>
      </p:sp>
      <p:sp>
        <p:nvSpPr>
          <p:cNvPr id="43" name="正方形/長方形 42"/>
          <p:cNvSpPr/>
          <p:nvPr/>
        </p:nvSpPr>
        <p:spPr>
          <a:xfrm>
            <a:off x="14396119" y="5611282"/>
            <a:ext cx="540000" cy="288000"/>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テキスト ボックス 43"/>
          <p:cNvSpPr txBox="1"/>
          <p:nvPr/>
        </p:nvSpPr>
        <p:spPr>
          <a:xfrm>
            <a:off x="14436761" y="5624731"/>
            <a:ext cx="986010" cy="261610"/>
          </a:xfrm>
          <a:prstGeom prst="rect">
            <a:avLst/>
          </a:prstGeom>
          <a:noFill/>
        </p:spPr>
        <p:txBody>
          <a:bodyPr wrap="square" rtlCol="0">
            <a:spAutoFit/>
          </a:bodyPr>
          <a:lstStyle/>
          <a:p>
            <a:r>
              <a:rPr lang="ja-JP" altLang="en-US" sz="1100" b="1" dirty="0">
                <a:solidFill>
                  <a:schemeClr val="tx1">
                    <a:lumMod val="85000"/>
                    <a:lumOff val="15000"/>
                  </a:schemeClr>
                </a:solidFill>
              </a:rPr>
              <a:t>実行</a:t>
            </a:r>
            <a:endParaRPr kumimoji="1" lang="ja-JP" altLang="en-US" sz="1100" b="1" dirty="0">
              <a:solidFill>
                <a:schemeClr val="tx1">
                  <a:lumMod val="85000"/>
                  <a:lumOff val="15000"/>
                </a:schemeClr>
              </a:solidFill>
            </a:endParaRPr>
          </a:p>
        </p:txBody>
      </p:sp>
      <p:sp>
        <p:nvSpPr>
          <p:cNvPr id="45" name="正方形/長方形 44"/>
          <p:cNvSpPr/>
          <p:nvPr/>
        </p:nvSpPr>
        <p:spPr>
          <a:xfrm>
            <a:off x="13371200" y="5625004"/>
            <a:ext cx="936000" cy="288000"/>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p:cNvSpPr txBox="1"/>
          <p:nvPr/>
        </p:nvSpPr>
        <p:spPr>
          <a:xfrm>
            <a:off x="13411842" y="5638453"/>
            <a:ext cx="986010" cy="261610"/>
          </a:xfrm>
          <a:prstGeom prst="rect">
            <a:avLst/>
          </a:prstGeom>
          <a:noFill/>
        </p:spPr>
        <p:txBody>
          <a:bodyPr wrap="square" rtlCol="0">
            <a:spAutoFit/>
          </a:bodyPr>
          <a:lstStyle/>
          <a:p>
            <a:r>
              <a:rPr lang="ja-JP" altLang="en-US" sz="1100" b="1" dirty="0">
                <a:solidFill>
                  <a:schemeClr val="tx1">
                    <a:lumMod val="85000"/>
                    <a:lumOff val="15000"/>
                  </a:schemeClr>
                </a:solidFill>
              </a:rPr>
              <a:t>キャンセル</a:t>
            </a:r>
            <a:endParaRPr kumimoji="1" lang="ja-JP" altLang="en-US" sz="1100" b="1" dirty="0">
              <a:solidFill>
                <a:schemeClr val="tx1">
                  <a:lumMod val="85000"/>
                  <a:lumOff val="15000"/>
                </a:schemeClr>
              </a:solidFill>
            </a:endParaRPr>
          </a:p>
        </p:txBody>
      </p:sp>
      <p:sp>
        <p:nvSpPr>
          <p:cNvPr id="48" name="正方形/長方形 47"/>
          <p:cNvSpPr/>
          <p:nvPr/>
        </p:nvSpPr>
        <p:spPr>
          <a:xfrm>
            <a:off x="2763350" y="2303339"/>
            <a:ext cx="383360" cy="173739"/>
          </a:xfrm>
          <a:prstGeom prst="rect">
            <a:avLst/>
          </a:prstGeom>
          <a:solidFill>
            <a:srgbClr val="CC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p:cNvSpPr txBox="1"/>
          <p:nvPr/>
        </p:nvSpPr>
        <p:spPr>
          <a:xfrm>
            <a:off x="2675373" y="2303197"/>
            <a:ext cx="6832936" cy="215444"/>
          </a:xfrm>
          <a:prstGeom prst="rect">
            <a:avLst/>
          </a:prstGeom>
          <a:noFill/>
        </p:spPr>
        <p:txBody>
          <a:bodyPr wrap="square" rtlCol="0">
            <a:spAutoFit/>
          </a:bodyPr>
          <a:lstStyle/>
          <a:p>
            <a:r>
              <a:rPr lang="ja-JP" altLang="en-US" sz="800" dirty="0" smtClean="0">
                <a:latin typeface="メイリオ" panose="020B0604030504040204" pitchFamily="50" charset="-128"/>
                <a:ea typeface="メイリオ" panose="020B0604030504040204" pitchFamily="50" charset="-128"/>
              </a:rPr>
              <a:t> </a:t>
            </a:r>
            <a:r>
              <a:rPr lang="ja-JP" altLang="en-US" sz="800" dirty="0" smtClean="0">
                <a:solidFill>
                  <a:srgbClr val="00B050"/>
                </a:solidFill>
                <a:latin typeface="メイリオ" panose="020B0604030504040204" pitchFamily="50" charset="-128"/>
                <a:ea typeface="メイリオ" panose="020B0604030504040204" pitchFamily="50" charset="-128"/>
              </a:rPr>
              <a:t>要確認</a:t>
            </a:r>
            <a:r>
              <a:rPr lang="ja-JP" altLang="en-US" sz="800" dirty="0" smtClean="0">
                <a:latin typeface="メイリオ" panose="020B0604030504040204" pitchFamily="50" charset="-128"/>
                <a:ea typeface="メイリオ" panose="020B0604030504040204" pitchFamily="50" charset="-128"/>
              </a:rPr>
              <a:t> の項目を登録します</a:t>
            </a:r>
            <a:r>
              <a:rPr kumimoji="1" lang="ja-JP" altLang="en-US" sz="800" dirty="0" smtClean="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 </a:t>
            </a:r>
            <a:r>
              <a:rPr lang="ja-JP" altLang="en-US" sz="800" dirty="0" smtClean="0">
                <a:latin typeface="メイリオ" panose="020B0604030504040204" pitchFamily="50" charset="-128"/>
                <a:ea typeface="メイリオ" panose="020B0604030504040204" pitchFamily="50" charset="-128"/>
              </a:rPr>
              <a:t>社員</a:t>
            </a:r>
            <a:r>
              <a:rPr lang="en-US" altLang="ja-JP" sz="800" dirty="0" smtClean="0">
                <a:latin typeface="メイリオ" panose="020B0604030504040204" pitchFamily="50" charset="-128"/>
                <a:ea typeface="メイリオ" panose="020B0604030504040204" pitchFamily="50" charset="-128"/>
              </a:rPr>
              <a:t>ID</a:t>
            </a:r>
            <a:r>
              <a:rPr lang="ja-JP" altLang="en-US" sz="800" dirty="0" smtClean="0">
                <a:latin typeface="メイリオ" panose="020B0604030504040204" pitchFamily="50" charset="-128"/>
                <a:ea typeface="メイリオ" panose="020B0604030504040204" pitchFamily="50" charset="-128"/>
              </a:rPr>
              <a:t>・メールアドレス</a:t>
            </a:r>
            <a:r>
              <a:rPr lang="ja-JP" altLang="en-US" sz="800" dirty="0">
                <a:latin typeface="メイリオ" panose="020B0604030504040204" pitchFamily="50" charset="-128"/>
                <a:ea typeface="メイリオ" panose="020B0604030504040204" pitchFamily="50" charset="-128"/>
              </a:rPr>
              <a:t>が重複する</a:t>
            </a:r>
            <a:r>
              <a:rPr lang="ja-JP" altLang="en-US" sz="800" dirty="0" smtClean="0">
                <a:latin typeface="メイリオ" panose="020B0604030504040204" pitchFamily="50" charset="-128"/>
                <a:ea typeface="メイリオ" panose="020B0604030504040204" pitchFamily="50" charset="-128"/>
              </a:rPr>
              <a:t>データを上書きします。）</a:t>
            </a:r>
            <a:endParaRPr kumimoji="1" lang="ja-JP" altLang="en-US" sz="800" dirty="0">
              <a:latin typeface="メイリオ" panose="020B0604030504040204" pitchFamily="50" charset="-128"/>
              <a:ea typeface="メイリオ" panose="020B0604030504040204" pitchFamily="50" charset="-128"/>
            </a:endParaRPr>
          </a:p>
        </p:txBody>
      </p:sp>
      <p:sp>
        <p:nvSpPr>
          <p:cNvPr id="49" name="正方形/長方形 48"/>
          <p:cNvSpPr/>
          <p:nvPr/>
        </p:nvSpPr>
        <p:spPr>
          <a:xfrm>
            <a:off x="2771463" y="2829907"/>
            <a:ext cx="383360" cy="173739"/>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p:cNvSpPr txBox="1"/>
          <p:nvPr/>
        </p:nvSpPr>
        <p:spPr>
          <a:xfrm>
            <a:off x="2675372" y="2832922"/>
            <a:ext cx="4955506" cy="215444"/>
          </a:xfrm>
          <a:prstGeom prst="rect">
            <a:avLst/>
          </a:prstGeom>
          <a:noFill/>
        </p:spPr>
        <p:txBody>
          <a:bodyPr wrap="square" rtlCol="0">
            <a:spAutoFit/>
          </a:bodyPr>
          <a:lstStyle/>
          <a:p>
            <a:r>
              <a:rPr kumimoji="1" lang="ja-JP" altLang="en-US" sz="800" dirty="0" smtClean="0">
                <a:latin typeface="メイリオ" panose="020B0604030504040204" pitchFamily="50" charset="-128"/>
                <a:ea typeface="メイリオ" panose="020B0604030504040204" pitchFamily="50" charset="-128"/>
              </a:rPr>
              <a:t> </a:t>
            </a:r>
            <a:r>
              <a:rPr kumimoji="1" lang="ja-JP" altLang="en-US" sz="800" dirty="0" smtClean="0">
                <a:solidFill>
                  <a:srgbClr val="0070C0"/>
                </a:solidFill>
                <a:latin typeface="メイリオ" panose="020B0604030504040204" pitchFamily="50" charset="-128"/>
                <a:ea typeface="メイリオ" panose="020B0604030504040204" pitchFamily="50" charset="-128"/>
              </a:rPr>
              <a:t>要確認</a:t>
            </a:r>
            <a:r>
              <a:rPr kumimoji="1" lang="ja-JP" altLang="en-US" sz="800" dirty="0" smtClean="0">
                <a:latin typeface="メイリオ" panose="020B0604030504040204" pitchFamily="50" charset="-128"/>
                <a:ea typeface="メイリオ" panose="020B0604030504040204" pitchFamily="50" charset="-128"/>
              </a:rPr>
              <a:t> の項目を登録します。（未登録の情報を新しく</a:t>
            </a:r>
            <a:r>
              <a:rPr lang="ja-JP" altLang="en-US" sz="800" dirty="0" smtClean="0">
                <a:latin typeface="メイリオ" panose="020B0604030504040204" pitchFamily="50" charset="-128"/>
                <a:ea typeface="メイリオ" panose="020B0604030504040204" pitchFamily="50" charset="-128"/>
              </a:rPr>
              <a:t>追加して、ユーザー情報を登録します。）</a:t>
            </a:r>
            <a:endParaRPr kumimoji="1" lang="ja-JP" altLang="en-US" sz="800" dirty="0">
              <a:latin typeface="メイリオ" panose="020B0604030504040204" pitchFamily="50" charset="-128"/>
              <a:ea typeface="メイリオ" panose="020B0604030504040204" pitchFamily="50" charset="-128"/>
            </a:endParaRPr>
          </a:p>
        </p:txBody>
      </p:sp>
      <p:cxnSp>
        <p:nvCxnSpPr>
          <p:cNvPr id="3" name="直線コネクタ 2"/>
          <p:cNvCxnSpPr/>
          <p:nvPr/>
        </p:nvCxnSpPr>
        <p:spPr>
          <a:xfrm>
            <a:off x="1387366" y="420414"/>
            <a:ext cx="9501351" cy="6096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flipH="1">
            <a:off x="1303283" y="695354"/>
            <a:ext cx="9953928" cy="553892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6684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751556451"/>
              </p:ext>
            </p:extLst>
          </p:nvPr>
        </p:nvGraphicFramePr>
        <p:xfrm>
          <a:off x="457750" y="468644"/>
          <a:ext cx="11330058" cy="6497320"/>
        </p:xfrm>
        <a:graphic>
          <a:graphicData uri="http://schemas.openxmlformats.org/drawingml/2006/table">
            <a:tbl>
              <a:tblPr>
                <a:tableStyleId>{5C22544A-7EE6-4342-B048-85BDC9FD1C3A}</a:tableStyleId>
              </a:tblPr>
              <a:tblGrid>
                <a:gridCol w="824398">
                  <a:extLst>
                    <a:ext uri="{9D8B030D-6E8A-4147-A177-3AD203B41FA5}">
                      <a16:colId xmlns:a16="http://schemas.microsoft.com/office/drawing/2014/main" val="945898118"/>
                    </a:ext>
                  </a:extLst>
                </a:gridCol>
                <a:gridCol w="1351722">
                  <a:extLst>
                    <a:ext uri="{9D8B030D-6E8A-4147-A177-3AD203B41FA5}">
                      <a16:colId xmlns:a16="http://schemas.microsoft.com/office/drawing/2014/main" val="3068041432"/>
                    </a:ext>
                  </a:extLst>
                </a:gridCol>
                <a:gridCol w="4820478">
                  <a:extLst>
                    <a:ext uri="{9D8B030D-6E8A-4147-A177-3AD203B41FA5}">
                      <a16:colId xmlns:a16="http://schemas.microsoft.com/office/drawing/2014/main" val="329255546"/>
                    </a:ext>
                  </a:extLst>
                </a:gridCol>
                <a:gridCol w="3848316">
                  <a:extLst>
                    <a:ext uri="{9D8B030D-6E8A-4147-A177-3AD203B41FA5}">
                      <a16:colId xmlns:a16="http://schemas.microsoft.com/office/drawing/2014/main" val="188072014"/>
                    </a:ext>
                  </a:extLst>
                </a:gridCol>
                <a:gridCol w="485144">
                  <a:extLst>
                    <a:ext uri="{9D8B030D-6E8A-4147-A177-3AD203B41FA5}">
                      <a16:colId xmlns:a16="http://schemas.microsoft.com/office/drawing/2014/main" val="3496264192"/>
                    </a:ext>
                  </a:extLst>
                </a:gridCol>
              </a:tblGrid>
              <a:tr h="271156">
                <a:tc rowSpan="8">
                  <a:txBody>
                    <a:bodyPr/>
                    <a:lstStyle/>
                    <a:p>
                      <a:r>
                        <a:rPr kumimoji="1" lang="ja-JP" altLang="en-US" sz="1200" dirty="0" smtClean="0"/>
                        <a:t>エクセル</a:t>
                      </a:r>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grid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smtClean="0"/>
                        <a:t>登録済みの役職などをもとにリストボックスから選択できるようにしたフォーマットを</a:t>
                      </a:r>
                      <a:r>
                        <a:rPr kumimoji="1" lang="en-US" altLang="ja-JP" sz="1200" dirty="0" smtClean="0"/>
                        <a:t>DL</a:t>
                      </a:r>
                      <a:r>
                        <a:rPr kumimoji="1" lang="ja-JP" altLang="en-US" sz="1200" dirty="0" smtClean="0"/>
                        <a:t>してデータを作る</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934695096"/>
                  </a:ext>
                </a:extLst>
              </a:tr>
              <a:tr h="370840">
                <a:tc vMerge="1">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smtClean="0"/>
                        <a:t>【</a:t>
                      </a:r>
                      <a:r>
                        <a:rPr kumimoji="1" lang="ja-JP" altLang="en-US" sz="1200" dirty="0" smtClean="0"/>
                        <a:t>メリット</a:t>
                      </a:r>
                      <a:r>
                        <a:rPr kumimoji="1" lang="en-US" altLang="ja-JP" sz="1200" dirty="0" smtClean="0"/>
                        <a:t>】</a:t>
                      </a:r>
                      <a:endParaRPr kumimoji="1" lang="ja-JP" altLang="en-US"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r>
                        <a:rPr kumimoji="1" lang="ja-JP" altLang="en-US" sz="1200" dirty="0" smtClean="0"/>
                        <a:t>役職などの入力ミスが発生しにくくなる。</a:t>
                      </a:r>
                      <a:endParaRPr kumimoji="1" lang="en-US" altLang="ja-JP" sz="1200" dirty="0" smtClean="0"/>
                    </a:p>
                    <a:p>
                      <a:r>
                        <a:rPr kumimoji="1" lang="en-US" altLang="ja-JP" sz="1200" dirty="0" smtClean="0"/>
                        <a:t>CSV</a:t>
                      </a:r>
                      <a:r>
                        <a:rPr kumimoji="1" lang="ja-JP" altLang="en-US" sz="1200" dirty="0" smtClean="0"/>
                        <a:t>に比べると記入しやすい</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kumimoji="1" lang="ja-JP" altLang="en-US" sz="1200" b="1" dirty="0" smtClean="0">
                          <a:solidFill>
                            <a:srgbClr val="00B050"/>
                          </a:solidFill>
                        </a:rPr>
                        <a:t>大</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70159899"/>
                  </a:ext>
                </a:extLst>
              </a:tr>
              <a:tr h="221132">
                <a:tc vMerge="1">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row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smtClean="0"/>
                        <a:t>【</a:t>
                      </a:r>
                      <a:r>
                        <a:rPr kumimoji="1" lang="ja-JP" altLang="en-US" sz="1200" dirty="0" smtClean="0"/>
                        <a:t>デメリット</a:t>
                      </a:r>
                      <a:r>
                        <a:rPr kumimoji="1" lang="en-US" altLang="ja-JP" sz="1200" dirty="0" smtClean="0"/>
                        <a:t>】</a:t>
                      </a:r>
                      <a:endParaRPr kumimoji="1" lang="ja-JP" altLang="en-US"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r>
                        <a:rPr kumimoji="1" lang="ja-JP" altLang="en-US" sz="1200" dirty="0" smtClean="0"/>
                        <a:t>１つずつ選択する手間がある。</a:t>
                      </a:r>
                      <a:endParaRPr kumimoji="1" lang="en-US" altLang="ja-JP"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tc>
                  <a:txBody>
                    <a:bodyPr/>
                    <a:lstStyle/>
                    <a:p>
                      <a:r>
                        <a:rPr lang="ja-JP" altLang="en-US" sz="1200" dirty="0" smtClean="0"/>
                        <a:t>利用者側で、同じ部署に対してセルのコピペする。</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tc>
                  <a:txBody>
                    <a:bodyPr/>
                    <a:lstStyle/>
                    <a:p>
                      <a:pPr algn="ctr"/>
                      <a:r>
                        <a:rPr kumimoji="1" lang="ja-JP" altLang="en-US" sz="1200" dirty="0" smtClean="0"/>
                        <a:t>中</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extLst>
                  <a:ext uri="{0D108BD9-81ED-4DB2-BD59-A6C34878D82A}">
                    <a16:rowId xmlns:a16="http://schemas.microsoft.com/office/drawing/2014/main" val="465227257"/>
                  </a:ext>
                </a:extLst>
              </a:tr>
              <a:tr h="370840">
                <a:tc vMerge="1">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kumimoji="1" lang="ja-JP" altLang="en-US"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r>
                        <a:rPr kumimoji="1" lang="ja-JP" altLang="en-US" sz="1200" dirty="0" smtClean="0"/>
                        <a:t>未登録の役職などは、先に手入力で登録しなければならない。</a:t>
                      </a:r>
                      <a:endParaRPr kumimoji="1" lang="en-US" altLang="ja-JP"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smtClean="0"/>
                        <a:t>誤字のリスクに比べると手間はさほどないかも？</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tc>
                  <a:txBody>
                    <a:bodyPr/>
                    <a:lstStyle/>
                    <a:p>
                      <a:pPr algn="ctr"/>
                      <a:r>
                        <a:rPr kumimoji="1" lang="ja-JP" altLang="en-US" sz="1200" dirty="0" smtClean="0"/>
                        <a:t>中</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extLst>
                  <a:ext uri="{0D108BD9-81ED-4DB2-BD59-A6C34878D82A}">
                    <a16:rowId xmlns:a16="http://schemas.microsoft.com/office/drawing/2014/main" val="786826878"/>
                  </a:ext>
                </a:extLst>
              </a:tr>
              <a:tr h="370840">
                <a:tc vMerge="1">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kumimoji="1" lang="ja-JP" altLang="en-US"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r>
                        <a:rPr kumimoji="1" lang="en-US" altLang="ja-JP" sz="1200" dirty="0" err="1" smtClean="0"/>
                        <a:t>Javascript</a:t>
                      </a:r>
                      <a:r>
                        <a:rPr kumimoji="1" lang="ja-JP" altLang="en-US" sz="1200" dirty="0" smtClean="0"/>
                        <a:t>でライブラリを入れなければならず、実装が難しそう。</a:t>
                      </a:r>
                      <a:endParaRPr kumimoji="1" lang="en-US" altLang="ja-JP" sz="1200" dirty="0" smtClean="0"/>
                    </a:p>
                    <a:p>
                      <a:r>
                        <a:rPr kumimoji="1" lang="ja-JP" altLang="en-US" sz="1200" dirty="0" smtClean="0"/>
                        <a:t>リストの作成など</a:t>
                      </a:r>
                      <a:r>
                        <a:rPr kumimoji="1" lang="en-US" altLang="ja-JP" sz="1200" dirty="0" smtClean="0"/>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err="1" smtClean="0"/>
                        <a:t>Javascript</a:t>
                      </a:r>
                      <a:r>
                        <a:rPr kumimoji="1" lang="ja-JP" altLang="en-US" sz="1200" dirty="0" smtClean="0"/>
                        <a:t>でエクセルを扱うライブラリが必要。</a:t>
                      </a:r>
                    </a:p>
                    <a:p>
                      <a:endParaRPr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kumimoji="1" lang="ja-JP" altLang="en-US" sz="1200" b="1" dirty="0" smtClean="0">
                          <a:solidFill>
                            <a:srgbClr val="FF0000"/>
                          </a:solidFill>
                        </a:rPr>
                        <a:t>大</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16649220"/>
                  </a:ext>
                </a:extLst>
              </a:tr>
              <a:tr h="253985">
                <a:tc vMerge="1">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grid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strike="sngStrike" dirty="0" smtClean="0"/>
                        <a:t>上記のリスト選択機能はないが、エクセル形式でデータを作る（役職などを自動登録するかどうかは、②</a:t>
                      </a:r>
                      <a:r>
                        <a:rPr kumimoji="1" lang="en-US" altLang="ja-JP" sz="1200" strike="sngStrike" dirty="0" smtClean="0"/>
                        <a:t>CSV</a:t>
                      </a:r>
                      <a:r>
                        <a:rPr kumimoji="1" lang="ja-JP" altLang="en-US" sz="1200" strike="sngStrike" dirty="0" smtClean="0"/>
                        <a:t>と同じ考え方）</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535832468"/>
                  </a:ext>
                </a:extLst>
              </a:tr>
              <a:tr h="139631">
                <a:tc vMerge="1">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smtClean="0"/>
                        <a:t>【</a:t>
                      </a:r>
                      <a:r>
                        <a:rPr kumimoji="1" lang="ja-JP" altLang="en-US" sz="1200" dirty="0" smtClean="0"/>
                        <a:t>メリット</a:t>
                      </a:r>
                      <a:r>
                        <a:rPr kumimoji="1" lang="en-US" altLang="ja-JP" sz="1200" dirty="0" smtClean="0"/>
                        <a:t>】</a:t>
                      </a:r>
                      <a:endParaRPr kumimoji="1" lang="ja-JP" altLang="en-US"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r>
                        <a:rPr kumimoji="1" lang="en-US" altLang="ja-JP" sz="1200" dirty="0" smtClean="0"/>
                        <a:t>CSV</a:t>
                      </a:r>
                      <a:r>
                        <a:rPr kumimoji="1" lang="ja-JP" altLang="en-US" sz="1200" dirty="0" smtClean="0"/>
                        <a:t>に比べると記入しやすい</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a:r>
                        <a:rPr kumimoji="1" lang="ja-JP" altLang="en-US" sz="1200" dirty="0" smtClean="0"/>
                        <a:t>中</a:t>
                      </a:r>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13863973"/>
                  </a:ext>
                </a:extLst>
              </a:tr>
              <a:tr h="163485">
                <a:tc vMerge="1">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smtClean="0"/>
                        <a:t>【</a:t>
                      </a:r>
                      <a:r>
                        <a:rPr kumimoji="1" lang="ja-JP" altLang="en-US" sz="1200" dirty="0" smtClean="0"/>
                        <a:t>デメリット</a:t>
                      </a:r>
                      <a:r>
                        <a:rPr kumimoji="1" lang="en-US" altLang="ja-JP" sz="1200" dirty="0" smtClean="0"/>
                        <a:t>】</a:t>
                      </a:r>
                      <a:endParaRPr kumimoji="1" lang="ja-JP" altLang="en-US"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r>
                        <a:rPr kumimoji="1" lang="en-US" altLang="ja-JP" sz="1200" dirty="0" err="1" smtClean="0"/>
                        <a:t>Javascript</a:t>
                      </a:r>
                      <a:r>
                        <a:rPr kumimoji="1" lang="ja-JP" altLang="en-US" sz="1200" dirty="0" smtClean="0"/>
                        <a:t>でライブラリを入れなければならず、実装が難しそう。</a:t>
                      </a:r>
                      <a:endParaRPr kumimoji="1" lang="en-US" altLang="ja-JP"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err="1" smtClean="0"/>
                        <a:t>Javascript</a:t>
                      </a:r>
                      <a:r>
                        <a:rPr kumimoji="1" lang="ja-JP" altLang="en-US" sz="1200" dirty="0" smtClean="0"/>
                        <a:t>でエクセルファイルを扱うライブラリが必要</a:t>
                      </a:r>
                      <a:endParaRPr lang="ja-JP" altLang="en-US"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a:r>
                        <a:rPr kumimoji="1" lang="ja-JP" altLang="en-US" sz="1200" b="1" dirty="0" smtClean="0">
                          <a:solidFill>
                            <a:srgbClr val="FF0000"/>
                          </a:solidFill>
                        </a:rPr>
                        <a:t>大</a:t>
                      </a:r>
                      <a:endParaRPr kumimoji="1" lang="ja-JP" altLang="en-US" sz="1200" b="1" dirty="0">
                        <a:solidFill>
                          <a:srgbClr val="FF0000"/>
                        </a:solidFill>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67155881"/>
                  </a:ext>
                </a:extLst>
              </a:tr>
              <a:tr h="205173">
                <a:tc rowSpan="10">
                  <a:txBody>
                    <a:bodyPr/>
                    <a:lstStyle/>
                    <a:p>
                      <a:r>
                        <a:rPr kumimoji="1" lang="en-US" altLang="ja-JP" sz="1200" dirty="0" smtClean="0"/>
                        <a:t>CSV</a:t>
                      </a:r>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gridSpan="4">
                  <a:txBody>
                    <a:bodyPr/>
                    <a:lstStyle/>
                    <a:p>
                      <a:r>
                        <a:rPr kumimoji="1" lang="ja-JP" altLang="en-US" sz="1200" dirty="0" smtClean="0"/>
                        <a:t>未登録の役職などが入力されている場合は登録する</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747086543"/>
                  </a:ext>
                </a:extLst>
              </a:tr>
              <a:tr h="190210">
                <a:tc vMerge="1">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smtClean="0"/>
                        <a:t>【</a:t>
                      </a:r>
                      <a:r>
                        <a:rPr kumimoji="1" lang="ja-JP" altLang="en-US" sz="1200" dirty="0" smtClean="0"/>
                        <a:t>メリット</a:t>
                      </a:r>
                      <a:r>
                        <a:rPr kumimoji="1" lang="en-US" altLang="ja-JP" sz="1200" dirty="0" smtClean="0"/>
                        <a:t>】</a:t>
                      </a:r>
                      <a:endParaRPr kumimoji="1" lang="ja-JP" altLang="en-US"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smtClean="0"/>
                        <a:t>イーストックで類似機能を実装済みなので、実装が比較的楽。</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tc>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tc>
                  <a:txBody>
                    <a:bodyPr/>
                    <a:lstStyle/>
                    <a:p>
                      <a:pPr algn="ctr"/>
                      <a:r>
                        <a:rPr kumimoji="1" lang="ja-JP" altLang="en-US" sz="1200" dirty="0" smtClean="0"/>
                        <a:t>中</a:t>
                      </a:r>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extLst>
                  <a:ext uri="{0D108BD9-81ED-4DB2-BD59-A6C34878D82A}">
                    <a16:rowId xmlns:a16="http://schemas.microsoft.com/office/drawing/2014/main" val="536267927"/>
                  </a:ext>
                </a:extLst>
              </a:tr>
              <a:tr h="237034">
                <a:tc vMerge="1">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kumimoji="1" lang="ja-JP" altLang="en-US"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smtClean="0"/>
                        <a:t>利用者があちこちで操作する手間が省ける。</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kumimoji="1" lang="ja-JP" altLang="en-US" sz="1200" b="1" dirty="0" smtClean="0">
                          <a:solidFill>
                            <a:srgbClr val="00B050"/>
                          </a:solidFill>
                        </a:rPr>
                        <a:t>大</a:t>
                      </a:r>
                      <a:endParaRPr kumimoji="1" lang="ja-JP" altLang="en-US" sz="1200" b="1" dirty="0">
                        <a:solidFill>
                          <a:srgbClr val="00B050"/>
                        </a:solidFill>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17238"/>
                  </a:ext>
                </a:extLst>
              </a:tr>
              <a:tr h="257796">
                <a:tc vMerge="1">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smtClean="0"/>
                        <a:t>【</a:t>
                      </a:r>
                      <a:r>
                        <a:rPr kumimoji="1" lang="ja-JP" altLang="en-US" sz="1200" dirty="0" smtClean="0"/>
                        <a:t>デメリット</a:t>
                      </a:r>
                      <a:r>
                        <a:rPr kumimoji="1" lang="en-US" altLang="ja-JP" sz="1200" dirty="0" smtClean="0"/>
                        <a:t>】</a:t>
                      </a:r>
                      <a:endParaRPr kumimoji="1" lang="ja-JP" altLang="en-US" sz="1200" dirty="0" smtClean="0"/>
                    </a:p>
                    <a:p>
                      <a:endParaRPr kumimoji="1" lang="ja-JP" altLang="en-US"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r>
                        <a:rPr kumimoji="1" lang="ja-JP" altLang="en-US" sz="1200" dirty="0" smtClean="0"/>
                        <a:t>利用者が</a:t>
                      </a:r>
                      <a:r>
                        <a:rPr kumimoji="1" lang="en-US" altLang="ja-JP" sz="1200" dirty="0" smtClean="0"/>
                        <a:t>CSV</a:t>
                      </a:r>
                      <a:r>
                        <a:rPr kumimoji="1" lang="ja-JP" altLang="en-US" sz="1200" dirty="0" smtClean="0"/>
                        <a:t>ファイルをテキストファイルとして編集するのが大変。</a:t>
                      </a:r>
                      <a:endParaRPr kumimoji="1" lang="en-US" altLang="ja-JP"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smtClean="0"/>
                        <a:t>エクセルで編集することも考慮して実装</a:t>
                      </a:r>
                      <a:endParaRPr kumimoji="1" lang="en-US" altLang="ja-JP"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smtClean="0"/>
                        <a:t>（「</a:t>
                      </a:r>
                      <a:r>
                        <a:rPr kumimoji="1" lang="en-US" altLang="ja-JP" sz="1200" dirty="0" smtClean="0"/>
                        <a:t>”</a:t>
                      </a:r>
                      <a:r>
                        <a:rPr kumimoji="1" lang="ja-JP" altLang="en-US" sz="1200" dirty="0" smtClean="0"/>
                        <a:t>」で括られている、先頭に「</a:t>
                      </a:r>
                      <a:r>
                        <a:rPr kumimoji="1" lang="en-US" altLang="ja-JP" sz="1200" dirty="0" smtClean="0"/>
                        <a:t>’</a:t>
                      </a:r>
                      <a:r>
                        <a:rPr kumimoji="1" lang="ja-JP" altLang="en-US" sz="1200" dirty="0" smtClean="0"/>
                        <a:t>」など</a:t>
                      </a:r>
                      <a:r>
                        <a:rPr kumimoji="1" lang="en-US" altLang="ja-JP" sz="1200" dirty="0" smtClean="0"/>
                        <a:t>…</a:t>
                      </a:r>
                      <a:r>
                        <a:rPr kumimoji="1" lang="ja-JP" altLang="en-US" sz="1200" dirty="0" smtClean="0"/>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tc>
                  <a:txBody>
                    <a:bodyPr/>
                    <a:lstStyle/>
                    <a:p>
                      <a:pPr algn="ctr"/>
                      <a:r>
                        <a:rPr kumimoji="1" lang="ja-JP" altLang="en-US" sz="1200" dirty="0" smtClean="0"/>
                        <a:t>中</a:t>
                      </a:r>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extLst>
                  <a:ext uri="{0D108BD9-81ED-4DB2-BD59-A6C34878D82A}">
                    <a16:rowId xmlns:a16="http://schemas.microsoft.com/office/drawing/2014/main" val="696678060"/>
                  </a:ext>
                </a:extLst>
              </a:tr>
              <a:tr h="370840">
                <a:tc vMerge="1">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kumimoji="1" lang="ja-JP" altLang="en-US"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r>
                        <a:rPr kumimoji="1" lang="ja-JP" altLang="en-US" sz="1200" dirty="0" smtClean="0"/>
                        <a:t>役職などが誤字で未登録であるとみなされた場合、新しいデータとして登録してしまう。</a:t>
                      </a:r>
                      <a:endParaRPr kumimoji="1" lang="en-US" altLang="ja-JP"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r>
                        <a:rPr kumimoji="1" lang="ja-JP" altLang="en-US" sz="1200" dirty="0" smtClean="0"/>
                        <a:t>利用者に気を付けてもらうしか</a:t>
                      </a:r>
                      <a:r>
                        <a:rPr kumimoji="1" lang="en-US" altLang="ja-JP" sz="1200" dirty="0" smtClean="0"/>
                        <a:t>…</a:t>
                      </a:r>
                      <a:endParaRPr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kumimoji="1" lang="ja-JP" altLang="en-US" sz="1200" b="1" dirty="0" smtClean="0">
                          <a:solidFill>
                            <a:srgbClr val="FF0000"/>
                          </a:solidFill>
                        </a:rPr>
                        <a:t>大</a:t>
                      </a:r>
                      <a:endParaRPr kumimoji="1" lang="ja-JP" altLang="en-US" sz="1200" b="1" dirty="0">
                        <a:solidFill>
                          <a:srgbClr val="FF0000"/>
                        </a:solidFill>
                      </a:endParaRP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41248815"/>
                  </a:ext>
                </a:extLst>
              </a:tr>
              <a:tr h="231677">
                <a:tc vMerge="1">
                  <a:txBody>
                    <a:bodyPr/>
                    <a:lstStyle/>
                    <a:p>
                      <a:endParaRPr lang="ja-JP" altLang="en-US"/>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gridSpan="4">
                  <a:txBody>
                    <a:bodyPr/>
                    <a:lstStyle/>
                    <a:p>
                      <a:r>
                        <a:rPr kumimoji="1" lang="ja-JP" altLang="en-US" sz="1200" dirty="0" smtClean="0"/>
                        <a:t>未登録の役職などが入力されている場合はエラーとする</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511751957"/>
                  </a:ext>
                </a:extLst>
              </a:tr>
              <a:tr h="175412">
                <a:tc vMerge="1">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rowSpan="2">
                  <a:txBody>
                    <a:bodyPr/>
                    <a:lstStyle/>
                    <a:p>
                      <a:r>
                        <a:rPr kumimoji="1" lang="en-US" altLang="ja-JP" sz="1200" dirty="0" smtClean="0"/>
                        <a:t>【</a:t>
                      </a:r>
                      <a:r>
                        <a:rPr kumimoji="1" lang="ja-JP" altLang="en-US" sz="1200" dirty="0" smtClean="0"/>
                        <a:t>メリット</a:t>
                      </a:r>
                      <a:r>
                        <a:rPr kumimoji="1" lang="en-US" altLang="ja-JP" sz="1200" dirty="0" smtClean="0"/>
                        <a:t>】</a:t>
                      </a:r>
                      <a:endParaRPr kumimoji="1" lang="ja-JP" altLang="en-US"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smtClean="0"/>
                        <a:t>イーストックで類似機能を実装済みなので、実装が比較的楽。</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tc>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tc>
                  <a:txBody>
                    <a:bodyPr/>
                    <a:lstStyle/>
                    <a:p>
                      <a:pPr algn="ctr"/>
                      <a:r>
                        <a:rPr kumimoji="1" lang="ja-JP" altLang="en-US" sz="1200" dirty="0" smtClean="0"/>
                        <a:t>中</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extLst>
                  <a:ext uri="{0D108BD9-81ED-4DB2-BD59-A6C34878D82A}">
                    <a16:rowId xmlns:a16="http://schemas.microsoft.com/office/drawing/2014/main" val="4277676847"/>
                  </a:ext>
                </a:extLst>
              </a:tr>
              <a:tr h="370840">
                <a:tc vMerge="1">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kumimoji="1" lang="ja-JP" altLang="en-US"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smtClean="0"/>
                        <a:t>チェック結果として表示されたものはすべて解消する、という理解になるため分かりやすい。</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kumimoji="1" lang="ja-JP" altLang="en-US" sz="1200" b="1" dirty="0" smtClean="0">
                          <a:solidFill>
                            <a:srgbClr val="00B050"/>
                          </a:solidFill>
                        </a:rPr>
                        <a:t>大</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38937635"/>
                  </a:ext>
                </a:extLst>
              </a:tr>
              <a:tr h="206113">
                <a:tc vMerge="1">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smtClean="0"/>
                        <a:t>【</a:t>
                      </a:r>
                      <a:r>
                        <a:rPr kumimoji="1" lang="ja-JP" altLang="en-US" sz="1200" dirty="0" smtClean="0"/>
                        <a:t>デメリット</a:t>
                      </a:r>
                      <a:r>
                        <a:rPr kumimoji="1" lang="en-US" altLang="ja-JP" sz="1200" dirty="0" smtClean="0"/>
                        <a:t>】</a:t>
                      </a:r>
                      <a:endParaRPr kumimoji="1" lang="ja-JP" altLang="en-US"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smtClean="0"/>
                        <a:t>利用者が</a:t>
                      </a:r>
                      <a:r>
                        <a:rPr kumimoji="1" lang="en-US" altLang="ja-JP" sz="1200" dirty="0" smtClean="0"/>
                        <a:t>CSV</a:t>
                      </a:r>
                      <a:r>
                        <a:rPr kumimoji="1" lang="ja-JP" altLang="en-US" sz="1200" dirty="0" smtClean="0"/>
                        <a:t>ファイルをテキストファイルとして編集するのが大変</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smtClean="0"/>
                        <a:t>エクセルで編集することも考慮して実装</a:t>
                      </a:r>
                      <a:endParaRPr kumimoji="1" lang="en-US" altLang="ja-JP"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smtClean="0"/>
                        <a:t>（「</a:t>
                      </a:r>
                      <a:r>
                        <a:rPr kumimoji="1" lang="en-US" altLang="ja-JP" sz="1200" dirty="0" smtClean="0"/>
                        <a:t>”</a:t>
                      </a:r>
                      <a:r>
                        <a:rPr kumimoji="1" lang="ja-JP" altLang="en-US" sz="1200" dirty="0" smtClean="0"/>
                        <a:t>」で括られている、先頭に「</a:t>
                      </a:r>
                      <a:r>
                        <a:rPr kumimoji="1" lang="en-US" altLang="ja-JP" sz="1200" dirty="0" smtClean="0"/>
                        <a:t>’</a:t>
                      </a:r>
                      <a:r>
                        <a:rPr kumimoji="1" lang="ja-JP" altLang="en-US" sz="1200" dirty="0" smtClean="0"/>
                        <a:t>」など</a:t>
                      </a:r>
                      <a:r>
                        <a:rPr kumimoji="1" lang="en-US" altLang="ja-JP" sz="1200" dirty="0" smtClean="0"/>
                        <a:t>…</a:t>
                      </a:r>
                      <a:r>
                        <a:rPr kumimoji="1" lang="ja-JP" altLang="en-US" sz="1200" dirty="0" smtClean="0"/>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tc>
                  <a:txBody>
                    <a:bodyPr/>
                    <a:lstStyle/>
                    <a:p>
                      <a:pPr algn="ctr"/>
                      <a:r>
                        <a:rPr kumimoji="1" lang="ja-JP" altLang="en-US" sz="1200" dirty="0" smtClean="0"/>
                        <a:t>中</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dot"/>
                      <a:round/>
                      <a:headEnd type="none" w="med" len="med"/>
                      <a:tailEnd type="none" w="med" len="med"/>
                    </a:lnB>
                    <a:solidFill>
                      <a:schemeClr val="bg1"/>
                    </a:solidFill>
                  </a:tcPr>
                </a:tc>
                <a:extLst>
                  <a:ext uri="{0D108BD9-81ED-4DB2-BD59-A6C34878D82A}">
                    <a16:rowId xmlns:a16="http://schemas.microsoft.com/office/drawing/2014/main" val="2524408535"/>
                  </a:ext>
                </a:extLst>
              </a:tr>
              <a:tr h="370840">
                <a:tc vMerge="1">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kumimoji="1" lang="ja-JP" altLang="en-US" sz="1200" dirty="0" smtClean="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smtClean="0"/>
                        <a:t>未登録エラーがある場合は、一旦別の画面に移動してデータ登録をしてからもう一度チェックからやり直す必要がある。</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endParaRPr kumimoji="1" lang="ja-JP" altLang="en-US" sz="1200"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kumimoji="1" lang="ja-JP" altLang="en-US" sz="1200" b="1" dirty="0" smtClean="0">
                          <a:solidFill>
                            <a:srgbClr val="FF0000"/>
                          </a:solidFill>
                        </a:rPr>
                        <a:t>大</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dot"/>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27250092"/>
                  </a:ext>
                </a:extLst>
              </a:tr>
            </a:tbl>
          </a:graphicData>
        </a:graphic>
      </p:graphicFrame>
      <p:sp>
        <p:nvSpPr>
          <p:cNvPr id="5" name="テキスト ボックス 4"/>
          <p:cNvSpPr txBox="1"/>
          <p:nvPr/>
        </p:nvSpPr>
        <p:spPr>
          <a:xfrm>
            <a:off x="457751" y="99312"/>
            <a:ext cx="3458265" cy="369332"/>
          </a:xfrm>
          <a:prstGeom prst="rect">
            <a:avLst/>
          </a:prstGeom>
          <a:noFill/>
        </p:spPr>
        <p:txBody>
          <a:bodyPr wrap="square" rtlCol="0">
            <a:spAutoFit/>
          </a:bodyPr>
          <a:lstStyle/>
          <a:p>
            <a:r>
              <a:rPr kumimoji="1"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入力フォーマットについて</a:t>
            </a:r>
            <a:endParaRPr kumimoji="1" lang="ja-JP" altLang="en-US"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6799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p:cNvGraphicFramePr>
            <a:graphicFrameLocks noGrp="1"/>
          </p:cNvGraphicFramePr>
          <p:nvPr>
            <p:extLst>
              <p:ext uri="{D42A27DB-BD31-4B8C-83A1-F6EECF244321}">
                <p14:modId xmlns:p14="http://schemas.microsoft.com/office/powerpoint/2010/main" val="1818659315"/>
              </p:ext>
            </p:extLst>
          </p:nvPr>
        </p:nvGraphicFramePr>
        <p:xfrm>
          <a:off x="1459267" y="1414431"/>
          <a:ext cx="8440113" cy="3870906"/>
        </p:xfrm>
        <a:graphic>
          <a:graphicData uri="http://schemas.openxmlformats.org/drawingml/2006/table">
            <a:tbl>
              <a:tblPr>
                <a:tableStyleId>{5C22544A-7EE6-4342-B048-85BDC9FD1C3A}</a:tableStyleId>
              </a:tblPr>
              <a:tblGrid>
                <a:gridCol w="1509922">
                  <a:extLst>
                    <a:ext uri="{9D8B030D-6E8A-4147-A177-3AD203B41FA5}">
                      <a16:colId xmlns:a16="http://schemas.microsoft.com/office/drawing/2014/main" val="3992671608"/>
                    </a:ext>
                  </a:extLst>
                </a:gridCol>
                <a:gridCol w="673769">
                  <a:extLst>
                    <a:ext uri="{9D8B030D-6E8A-4147-A177-3AD203B41FA5}">
                      <a16:colId xmlns:a16="http://schemas.microsoft.com/office/drawing/2014/main" val="3443262818"/>
                    </a:ext>
                  </a:extLst>
                </a:gridCol>
                <a:gridCol w="6256422">
                  <a:extLst>
                    <a:ext uri="{9D8B030D-6E8A-4147-A177-3AD203B41FA5}">
                      <a16:colId xmlns:a16="http://schemas.microsoft.com/office/drawing/2014/main" val="1089123399"/>
                    </a:ext>
                  </a:extLst>
                </a:gridCol>
              </a:tblGrid>
              <a:tr h="335274">
                <a:tc>
                  <a:txBody>
                    <a:bodyPr/>
                    <a:lstStyle/>
                    <a:p>
                      <a:pPr algn="ctr"/>
                      <a:r>
                        <a:rPr kumimoji="1" lang="ja-JP" altLang="en-US" sz="1100" dirty="0" smtClean="0"/>
                        <a:t>項目名</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1100" dirty="0" smtClean="0"/>
                        <a:t>必須</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1100" dirty="0" smtClean="0"/>
                        <a:t>入力条件</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31110139"/>
                  </a:ext>
                </a:extLst>
              </a:tr>
              <a:tr h="335274">
                <a:tc>
                  <a:txBody>
                    <a:bodyPr/>
                    <a:lstStyle/>
                    <a:p>
                      <a:r>
                        <a:rPr kumimoji="1" lang="ja-JP" altLang="en-US" sz="1100" dirty="0" smtClean="0"/>
                        <a:t>社員</a:t>
                      </a:r>
                      <a:r>
                        <a:rPr kumimoji="1" lang="en-US" altLang="ja-JP" sz="1100" dirty="0" smtClean="0"/>
                        <a:t>ID</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1100" dirty="0" smtClean="0"/>
                        <a:t>○</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1100" dirty="0" smtClean="0"/>
                        <a:t>他の社員と重複しない番号（半角数字）</a:t>
                      </a:r>
                      <a:r>
                        <a:rPr kumimoji="1" lang="en-US" altLang="ja-JP" sz="1100" dirty="0" smtClean="0"/>
                        <a:t>(</a:t>
                      </a:r>
                      <a:r>
                        <a:rPr kumimoji="1" lang="ja-JP" altLang="en-US" sz="1100" dirty="0" smtClean="0"/>
                        <a:t>☆</a:t>
                      </a:r>
                      <a:r>
                        <a:rPr kumimoji="1" lang="en-US" altLang="ja-JP" sz="1100" dirty="0" smtClean="0"/>
                        <a:t>)</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58365184"/>
                  </a:ext>
                </a:extLst>
              </a:tr>
              <a:tr h="335274">
                <a:tc>
                  <a:txBody>
                    <a:bodyPr/>
                    <a:lstStyle/>
                    <a:p>
                      <a:r>
                        <a:rPr kumimoji="1" lang="ja-JP" altLang="en-US" sz="1100" dirty="0" smtClean="0"/>
                        <a:t>氏名</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1100" dirty="0" smtClean="0"/>
                        <a:t>○</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27216154"/>
                  </a:ext>
                </a:extLst>
              </a:tr>
              <a:tr h="335274">
                <a:tc>
                  <a:txBody>
                    <a:bodyPr/>
                    <a:lstStyle/>
                    <a:p>
                      <a:r>
                        <a:rPr kumimoji="1" lang="ja-JP" altLang="en-US" sz="1100" dirty="0" smtClean="0"/>
                        <a:t>氏名</a:t>
                      </a:r>
                      <a:r>
                        <a:rPr kumimoji="1" lang="en-US" altLang="ja-JP" sz="1100" dirty="0" smtClean="0"/>
                        <a:t>(</a:t>
                      </a:r>
                      <a:r>
                        <a:rPr kumimoji="1" lang="ja-JP" altLang="en-US" sz="1100" dirty="0" smtClean="0"/>
                        <a:t>ふりがな</a:t>
                      </a:r>
                      <a:r>
                        <a:rPr kumimoji="1" lang="en-US" altLang="ja-JP" sz="1100" dirty="0" smtClean="0"/>
                        <a:t>)</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90544792"/>
                  </a:ext>
                </a:extLst>
              </a:tr>
              <a:tr h="335274">
                <a:tc>
                  <a:txBody>
                    <a:bodyPr/>
                    <a:lstStyle/>
                    <a:p>
                      <a:r>
                        <a:rPr kumimoji="1" lang="ja-JP" altLang="en-US" sz="1100" dirty="0" smtClean="0"/>
                        <a:t>役職</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1100" dirty="0" smtClean="0"/>
                        <a:t>○</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1100" dirty="0" smtClean="0"/>
                        <a:t>登録済みの役職名称 </a:t>
                      </a:r>
                      <a:r>
                        <a:rPr kumimoji="1" lang="en-US" altLang="ja-JP" sz="1100" dirty="0" smtClean="0"/>
                        <a:t>(</a:t>
                      </a:r>
                      <a:r>
                        <a:rPr kumimoji="1" lang="ja-JP" altLang="en-US" sz="1100" dirty="0" smtClean="0"/>
                        <a:t>★</a:t>
                      </a:r>
                      <a:r>
                        <a:rPr kumimoji="1" lang="en-US" altLang="ja-JP" sz="1100" dirty="0" smtClean="0"/>
                        <a:t>)</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59721823"/>
                  </a:ext>
                </a:extLst>
              </a:tr>
              <a:tr h="335274">
                <a:tc>
                  <a:txBody>
                    <a:bodyPr/>
                    <a:lstStyle/>
                    <a:p>
                      <a:r>
                        <a:rPr kumimoji="1" lang="ja-JP" altLang="en-US" sz="1100" dirty="0" smtClean="0"/>
                        <a:t>拠点</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1100" dirty="0" smtClean="0"/>
                        <a:t>○</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1100" dirty="0" smtClean="0"/>
                        <a:t>登録済みの拠点名称 </a:t>
                      </a:r>
                      <a:r>
                        <a:rPr kumimoji="1" lang="en-US" altLang="ja-JP" sz="1100" dirty="0" smtClean="0"/>
                        <a:t>(</a:t>
                      </a:r>
                      <a:r>
                        <a:rPr kumimoji="1" lang="ja-JP" altLang="en-US" sz="1100" dirty="0" smtClean="0"/>
                        <a:t>★</a:t>
                      </a:r>
                      <a:r>
                        <a:rPr kumimoji="1" lang="en-US" altLang="ja-JP" sz="1100" dirty="0" smtClean="0"/>
                        <a:t>)</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42496763"/>
                  </a:ext>
                </a:extLst>
              </a:tr>
              <a:tr h="335274">
                <a:tc>
                  <a:txBody>
                    <a:bodyPr/>
                    <a:lstStyle/>
                    <a:p>
                      <a:r>
                        <a:rPr kumimoji="1" lang="ja-JP" altLang="en-US" sz="1100" dirty="0" smtClean="0"/>
                        <a:t>所属</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1100" dirty="0" smtClean="0"/>
                        <a:t>○</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1100" dirty="0" smtClean="0"/>
                        <a:t>登録済みの所属名称 </a:t>
                      </a:r>
                      <a:r>
                        <a:rPr kumimoji="1" lang="en-US" altLang="ja-JP" sz="1100" dirty="0" smtClean="0"/>
                        <a:t>(</a:t>
                      </a:r>
                      <a:r>
                        <a:rPr kumimoji="1" lang="ja-JP" altLang="en-US" sz="1100" dirty="0" smtClean="0"/>
                        <a:t>★</a:t>
                      </a:r>
                      <a:r>
                        <a:rPr kumimoji="1" lang="en-US" altLang="ja-JP" sz="1100" dirty="0" smtClean="0"/>
                        <a:t>)</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13131807"/>
                  </a:ext>
                </a:extLst>
              </a:tr>
              <a:tr h="335274">
                <a:tc>
                  <a:txBody>
                    <a:bodyPr/>
                    <a:lstStyle/>
                    <a:p>
                      <a:r>
                        <a:rPr kumimoji="1" lang="ja-JP" altLang="en-US" sz="1100" dirty="0" smtClean="0"/>
                        <a:t>メールアドレス</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1100" dirty="0" smtClean="0"/>
                        <a:t>○</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en-US" altLang="ja-JP" sz="1100" dirty="0" smtClean="0"/>
                        <a:t>(</a:t>
                      </a:r>
                      <a:r>
                        <a:rPr kumimoji="1" lang="ja-JP" altLang="en-US" sz="1100" dirty="0" smtClean="0"/>
                        <a:t>☆</a:t>
                      </a:r>
                      <a:r>
                        <a:rPr kumimoji="1" lang="en-US" altLang="ja-JP" sz="1100" dirty="0" smtClean="0"/>
                        <a:t>)</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33486492"/>
                  </a:ext>
                </a:extLst>
              </a:tr>
              <a:tr h="335274">
                <a:tc>
                  <a:txBody>
                    <a:bodyPr/>
                    <a:lstStyle/>
                    <a:p>
                      <a:r>
                        <a:rPr kumimoji="1" lang="ja-JP" altLang="en-US" sz="1100" dirty="0" smtClean="0"/>
                        <a:t>パスワード</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ja-JP" altLang="en-US" sz="1100" dirty="0" smtClean="0"/>
                        <a:t>○</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1100" dirty="0" smtClean="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31243470"/>
                  </a:ext>
                </a:extLst>
              </a:tr>
              <a:tr h="410388">
                <a:tc>
                  <a:txBody>
                    <a:bodyPr/>
                    <a:lstStyle/>
                    <a:p>
                      <a:r>
                        <a:rPr kumimoji="1" lang="ja-JP" altLang="en-US" sz="1100" dirty="0" smtClean="0"/>
                        <a:t>管理者</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en-US" altLang="ja-JP" sz="1100" dirty="0" smtClean="0"/>
                        <a:t>0</a:t>
                      </a:r>
                      <a:r>
                        <a:rPr kumimoji="1" lang="ja-JP" altLang="en-US" sz="1100" dirty="0" smtClean="0"/>
                        <a:t>：管理者ではない、</a:t>
                      </a:r>
                      <a:r>
                        <a:rPr kumimoji="1" lang="en-US" altLang="ja-JP" sz="1100" dirty="0" smtClean="0"/>
                        <a:t>1</a:t>
                      </a:r>
                      <a:r>
                        <a:rPr kumimoji="1" lang="ja-JP" altLang="en-US" sz="1100" dirty="0" smtClean="0"/>
                        <a:t>：管理者権限を有効にする</a:t>
                      </a:r>
                      <a:endParaRPr kumimoji="1" lang="en-US" altLang="ja-JP" sz="1100" dirty="0" smtClean="0"/>
                    </a:p>
                    <a:p>
                      <a:r>
                        <a:rPr kumimoji="1" lang="ja-JP" altLang="en-US" sz="1100" dirty="0" smtClean="0"/>
                        <a:t>未入力の場合は</a:t>
                      </a:r>
                      <a:r>
                        <a:rPr kumimoji="1" lang="en-US" altLang="ja-JP" sz="1100" dirty="0" smtClean="0"/>
                        <a:t>0</a:t>
                      </a:r>
                      <a:r>
                        <a:rPr kumimoji="1" lang="ja-JP" altLang="en-US" sz="1100" dirty="0" smtClean="0"/>
                        <a:t>とする</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38681067"/>
                  </a:ext>
                </a:extLst>
              </a:tr>
              <a:tr h="410388">
                <a:tc>
                  <a:txBody>
                    <a:bodyPr/>
                    <a:lstStyle/>
                    <a:p>
                      <a:r>
                        <a:rPr kumimoji="1" lang="ja-JP" altLang="en-US" sz="1100" dirty="0" smtClean="0"/>
                        <a:t>勤怠管理</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en-US" altLang="ja-JP" sz="1100" dirty="0" smtClean="0"/>
                        <a:t>0</a:t>
                      </a:r>
                      <a:r>
                        <a:rPr kumimoji="1" lang="ja-JP" altLang="en-US" sz="1100" dirty="0" smtClean="0"/>
                        <a:t>：勤怠管理機能を利用しない、</a:t>
                      </a:r>
                      <a:r>
                        <a:rPr kumimoji="1" lang="en-US" altLang="ja-JP" sz="1100" dirty="0" smtClean="0"/>
                        <a:t>1</a:t>
                      </a:r>
                      <a:r>
                        <a:rPr kumimoji="1" lang="ja-JP" altLang="en-US" sz="1100" dirty="0" smtClean="0"/>
                        <a:t>：勤怠管理機能を利用する</a:t>
                      </a:r>
                      <a:endParaRPr kumimoji="1" lang="en-US" altLang="ja-JP" sz="1100" dirty="0" smtClean="0"/>
                    </a:p>
                    <a:p>
                      <a:r>
                        <a:rPr kumimoji="1" lang="ja-JP" altLang="en-US" sz="1100" dirty="0" smtClean="0"/>
                        <a:t>未入力の場合は</a:t>
                      </a:r>
                      <a:r>
                        <a:rPr kumimoji="1" lang="en-US" altLang="ja-JP" sz="1100" dirty="0" smtClean="0"/>
                        <a:t>0</a:t>
                      </a:r>
                      <a:r>
                        <a:rPr kumimoji="1" lang="ja-JP" altLang="en-US" sz="1100" dirty="0" smtClean="0"/>
                        <a:t>とする</a:t>
                      </a:r>
                      <a:endParaRPr kumimoji="1" lang="ja-JP" altLang="en-US" sz="11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99726366"/>
                  </a:ext>
                </a:extLst>
              </a:tr>
            </a:tbl>
          </a:graphicData>
        </a:graphic>
      </p:graphicFrame>
      <p:sp>
        <p:nvSpPr>
          <p:cNvPr id="5" name="テキスト ボックス 4"/>
          <p:cNvSpPr txBox="1"/>
          <p:nvPr/>
        </p:nvSpPr>
        <p:spPr>
          <a:xfrm>
            <a:off x="1181934" y="347489"/>
            <a:ext cx="4299003" cy="369332"/>
          </a:xfrm>
          <a:prstGeom prst="rect">
            <a:avLst/>
          </a:prstGeom>
          <a:noFill/>
        </p:spPr>
        <p:txBody>
          <a:bodyPr wrap="square" rtlCol="0">
            <a:spAutoFit/>
          </a:bodyPr>
          <a:lstStyle/>
          <a:p>
            <a:r>
              <a:rPr kumimoji="1"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チェック内容</a:t>
            </a:r>
            <a:endParaRPr kumimoji="1" lang="ja-JP" altLang="en-US"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6" name="テキスト ボックス 5"/>
          <p:cNvSpPr txBox="1"/>
          <p:nvPr/>
        </p:nvSpPr>
        <p:spPr>
          <a:xfrm>
            <a:off x="1320413" y="5377670"/>
            <a:ext cx="10450455" cy="461665"/>
          </a:xfrm>
          <a:prstGeom prst="rect">
            <a:avLst/>
          </a:prstGeom>
          <a:noFill/>
        </p:spPr>
        <p:txBody>
          <a:bodyPr wrap="square" rtlCol="0">
            <a:spAutoFit/>
          </a:bodyPr>
          <a:lstStyle/>
          <a:p>
            <a:r>
              <a:rPr lang="en-US" altLang="ja-JP" sz="1200" dirty="0" smtClean="0">
                <a:latin typeface="メイリオ" panose="020B0604030504040204" pitchFamily="50" charset="-128"/>
                <a:ea typeface="メイリオ" panose="020B0604030504040204" pitchFamily="50" charset="-128"/>
              </a:rPr>
              <a:t>(</a:t>
            </a:r>
            <a:r>
              <a:rPr lang="ja-JP" altLang="en-US" sz="1200" dirty="0" smtClean="0">
                <a:latin typeface="メイリオ" panose="020B0604030504040204" pitchFamily="50" charset="-128"/>
                <a:ea typeface="メイリオ" panose="020B0604030504040204" pitchFamily="50" charset="-128"/>
              </a:rPr>
              <a:t>★</a:t>
            </a:r>
            <a:r>
              <a:rPr lang="en-US" altLang="ja-JP" sz="1200" dirty="0" smtClean="0">
                <a:latin typeface="メイリオ" panose="020B0604030504040204" pitchFamily="50" charset="-128"/>
                <a:ea typeface="メイリオ" panose="020B0604030504040204" pitchFamily="50" charset="-128"/>
              </a:rPr>
              <a:t>)</a:t>
            </a:r>
            <a:r>
              <a:rPr lang="ja-JP" altLang="en-US" sz="1200" dirty="0" smtClean="0">
                <a:latin typeface="メイリオ" panose="020B0604030504040204" pitchFamily="50" charset="-128"/>
                <a:ea typeface="メイリオ" panose="020B0604030504040204" pitchFamily="50" charset="-128"/>
              </a:rPr>
              <a:t>役職・拠点・所属は、登録済みの名称を設定するのを基本とするが、未登録の名称がある場合は要確認（青字）のメッセージを表示</a:t>
            </a:r>
            <a:r>
              <a:rPr lang="ja-JP" altLang="en-US" sz="1200" dirty="0" smtClean="0">
                <a:latin typeface="メイリオ" panose="020B0604030504040204" pitchFamily="50" charset="-128"/>
                <a:ea typeface="メイリオ" panose="020B0604030504040204" pitchFamily="50" charset="-128"/>
              </a:rPr>
              <a:t>。</a:t>
            </a:r>
            <a:endParaRPr lang="en-US" altLang="ja-JP" sz="1200" dirty="0">
              <a:latin typeface="メイリオ" panose="020B0604030504040204" pitchFamily="50" charset="-128"/>
              <a:ea typeface="メイリオ" panose="020B0604030504040204" pitchFamily="50" charset="-128"/>
            </a:endParaRPr>
          </a:p>
          <a:p>
            <a:r>
              <a:rPr lang="en-US" altLang="ja-JP" sz="1200" dirty="0" smtClean="0">
                <a:latin typeface="メイリオ" panose="020B0604030504040204" pitchFamily="50" charset="-128"/>
                <a:ea typeface="メイリオ" panose="020B0604030504040204" pitchFamily="50" charset="-128"/>
              </a:rPr>
              <a:t>(</a:t>
            </a:r>
            <a:r>
              <a:rPr lang="ja-JP" altLang="en-US" sz="1200" dirty="0" smtClean="0">
                <a:latin typeface="メイリオ" panose="020B0604030504040204" pitchFamily="50" charset="-128"/>
                <a:ea typeface="メイリオ" panose="020B0604030504040204" pitchFamily="50" charset="-128"/>
              </a:rPr>
              <a:t>☆</a:t>
            </a:r>
            <a:r>
              <a:rPr lang="en-US" altLang="ja-JP" sz="1200" dirty="0" smtClean="0">
                <a:latin typeface="メイリオ" panose="020B0604030504040204" pitchFamily="50" charset="-128"/>
                <a:ea typeface="メイリオ" panose="020B0604030504040204" pitchFamily="50" charset="-128"/>
              </a:rPr>
              <a:t>)</a:t>
            </a:r>
            <a:r>
              <a:rPr lang="ja-JP" altLang="en-US" sz="1200" dirty="0" smtClean="0">
                <a:latin typeface="メイリオ" panose="020B0604030504040204" pitchFamily="50" charset="-128"/>
                <a:ea typeface="メイリオ" panose="020B0604030504040204" pitchFamily="50" charset="-128"/>
              </a:rPr>
              <a:t>社員</a:t>
            </a:r>
            <a:r>
              <a:rPr lang="en-US" altLang="ja-JP" sz="1200" dirty="0" smtClean="0">
                <a:latin typeface="メイリオ" panose="020B0604030504040204" pitchFamily="50" charset="-128"/>
                <a:ea typeface="メイリオ" panose="020B0604030504040204" pitchFamily="50" charset="-128"/>
              </a:rPr>
              <a:t>ID</a:t>
            </a:r>
            <a:r>
              <a:rPr lang="ja-JP" altLang="en-US" sz="1200" dirty="0" err="1" smtClean="0">
                <a:latin typeface="メイリオ" panose="020B0604030504040204" pitchFamily="50" charset="-128"/>
                <a:ea typeface="メイリオ" panose="020B0604030504040204" pitchFamily="50" charset="-128"/>
              </a:rPr>
              <a:t>、</a:t>
            </a:r>
            <a:r>
              <a:rPr lang="ja-JP" altLang="en-US" sz="1200" dirty="0" smtClean="0">
                <a:latin typeface="メイリオ" panose="020B0604030504040204" pitchFamily="50" charset="-128"/>
                <a:ea typeface="メイリオ" panose="020B0604030504040204" pitchFamily="50" charset="-128"/>
              </a:rPr>
              <a:t>メールアドレスともに、すでに登録されているデータと重複する場合は要確認</a:t>
            </a:r>
            <a:r>
              <a:rPr lang="ja-JP" altLang="en-US" sz="1200" dirty="0" smtClean="0">
                <a:latin typeface="メイリオ" panose="020B0604030504040204" pitchFamily="50" charset="-128"/>
                <a:ea typeface="メイリオ" panose="020B0604030504040204" pitchFamily="50" charset="-128"/>
              </a:rPr>
              <a:t>（青字</a:t>
            </a:r>
            <a:r>
              <a:rPr lang="ja-JP" altLang="en-US" sz="1200" dirty="0" smtClean="0">
                <a:latin typeface="メイリオ" panose="020B0604030504040204" pitchFamily="50" charset="-128"/>
                <a:ea typeface="メイリオ" panose="020B0604030504040204" pitchFamily="50" charset="-128"/>
              </a:rPr>
              <a:t>）のメッセージを表示</a:t>
            </a:r>
            <a:r>
              <a:rPr lang="ja-JP" altLang="en-US" sz="1200" dirty="0" smtClean="0">
                <a:latin typeface="メイリオ" panose="020B0604030504040204" pitchFamily="50" charset="-128"/>
                <a:ea typeface="メイリオ" panose="020B0604030504040204" pitchFamily="50" charset="-128"/>
              </a:rPr>
              <a:t>。</a:t>
            </a:r>
            <a:endParaRPr lang="en-US" altLang="ja-JP" sz="1200" dirty="0" smtClean="0">
              <a:latin typeface="メイリオ" panose="020B0604030504040204" pitchFamily="50" charset="-128"/>
              <a:ea typeface="メイリオ" panose="020B0604030504040204" pitchFamily="50" charset="-128"/>
            </a:endParaRPr>
          </a:p>
        </p:txBody>
      </p:sp>
      <p:sp>
        <p:nvSpPr>
          <p:cNvPr id="7" name="テキスト ボックス 6"/>
          <p:cNvSpPr txBox="1"/>
          <p:nvPr/>
        </p:nvSpPr>
        <p:spPr>
          <a:xfrm>
            <a:off x="1172310" y="675767"/>
            <a:ext cx="9265711" cy="738664"/>
          </a:xfrm>
          <a:prstGeom prst="rect">
            <a:avLst/>
          </a:prstGeom>
          <a:noFill/>
        </p:spPr>
        <p:txBody>
          <a:bodyPr wrap="square" rtlCol="0">
            <a:spAutoFit/>
          </a:bodyPr>
          <a:lstStyle/>
          <a:p>
            <a:r>
              <a:rPr lang="ja-JP" altLang="en-US" sz="1400" dirty="0" smtClean="0">
                <a:latin typeface="メイリオ" panose="020B0604030504040204" pitchFamily="50" charset="-128"/>
                <a:ea typeface="メイリオ" panose="020B0604030504040204" pitchFamily="50" charset="-128"/>
              </a:rPr>
              <a:t>・登録済みのユーザ数 ＋ </a:t>
            </a:r>
            <a:r>
              <a:rPr lang="en-US" altLang="ja-JP" sz="1400" dirty="0" smtClean="0">
                <a:latin typeface="メイリオ" panose="020B0604030504040204" pitchFamily="50" charset="-128"/>
                <a:ea typeface="メイリオ" panose="020B0604030504040204" pitchFamily="50" charset="-128"/>
              </a:rPr>
              <a:t>CSV</a:t>
            </a:r>
            <a:r>
              <a:rPr lang="ja-JP" altLang="en-US" sz="1400" dirty="0" smtClean="0">
                <a:latin typeface="メイリオ" panose="020B0604030504040204" pitchFamily="50" charset="-128"/>
                <a:ea typeface="メイリオ" panose="020B0604030504040204" pitchFamily="50" charset="-128"/>
              </a:rPr>
              <a:t>に記述されているユーザ数 が、登録可能ユーザ数を超過する場合はエラーとする。</a:t>
            </a:r>
            <a:endParaRPr lang="en-US" altLang="ja-JP" sz="1400" dirty="0" smtClean="0">
              <a:latin typeface="メイリオ" panose="020B0604030504040204" pitchFamily="50" charset="-128"/>
              <a:ea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endParaRPr>
          </a:p>
          <a:p>
            <a:r>
              <a:rPr lang="ja-JP" altLang="en-US" sz="1400" dirty="0" smtClean="0">
                <a:latin typeface="メイリオ" panose="020B0604030504040204" pitchFamily="50" charset="-128"/>
                <a:ea typeface="メイリオ" panose="020B0604030504040204" pitchFamily="50" charset="-128"/>
              </a:rPr>
              <a:t>・以下の条件で入力データチェックを行う。</a:t>
            </a:r>
            <a:endParaRPr lang="en-US" altLang="ja-JP" sz="1400" dirty="0" smtClean="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17154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2"/>
          <a:stretch>
            <a:fillRect/>
          </a:stretch>
        </p:blipFill>
        <p:spPr>
          <a:xfrm>
            <a:off x="1664954" y="1064686"/>
            <a:ext cx="8756144" cy="5364000"/>
          </a:xfrm>
          <a:prstGeom prst="rect">
            <a:avLst/>
          </a:prstGeom>
        </p:spPr>
      </p:pic>
      <p:sp>
        <p:nvSpPr>
          <p:cNvPr id="5" name="テキスト ボックス 4"/>
          <p:cNvSpPr txBox="1"/>
          <p:nvPr/>
        </p:nvSpPr>
        <p:spPr>
          <a:xfrm>
            <a:off x="1727443" y="4573483"/>
            <a:ext cx="875899" cy="230832"/>
          </a:xfrm>
          <a:prstGeom prst="rect">
            <a:avLst/>
          </a:prstGeom>
          <a:noFill/>
        </p:spPr>
        <p:txBody>
          <a:bodyPr wrap="square" rtlCol="0">
            <a:spAutoFit/>
          </a:bodyPr>
          <a:lstStyle/>
          <a:p>
            <a:r>
              <a:rPr kumimoji="1" lang="ja-JP" altLang="en-US" sz="900" b="1" dirty="0" smtClean="0">
                <a:solidFill>
                  <a:schemeClr val="bg1"/>
                </a:solidFill>
                <a:latin typeface="メイリオ" panose="020B0604030504040204" pitchFamily="50" charset="-128"/>
                <a:ea typeface="メイリオ" panose="020B0604030504040204" pitchFamily="50" charset="-128"/>
              </a:rPr>
              <a:t>設定</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6" name="テキスト ボックス 5"/>
          <p:cNvSpPr txBox="1"/>
          <p:nvPr/>
        </p:nvSpPr>
        <p:spPr>
          <a:xfrm>
            <a:off x="1707437" y="5075287"/>
            <a:ext cx="1318164" cy="230832"/>
          </a:xfrm>
          <a:prstGeom prst="rect">
            <a:avLst/>
          </a:prstGeom>
          <a:noFill/>
        </p:spPr>
        <p:txBody>
          <a:bodyPr wrap="square" rtlCol="0">
            <a:spAutoFit/>
          </a:bodyPr>
          <a:lstStyle/>
          <a:p>
            <a:r>
              <a:rPr kumimoji="1" lang="ja-JP" altLang="en-US" sz="900" b="1" dirty="0" smtClean="0">
                <a:solidFill>
                  <a:schemeClr val="tx1">
                    <a:lumMod val="65000"/>
                    <a:lumOff val="35000"/>
                  </a:schemeClr>
                </a:solidFill>
                <a:latin typeface="メイリオ" panose="020B0604030504040204" pitchFamily="50" charset="-128"/>
                <a:ea typeface="メイリオ" panose="020B0604030504040204" pitchFamily="50" charset="-128"/>
              </a:rPr>
              <a:t>セキュリティ</a:t>
            </a:r>
            <a:endPar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 name="正方形/長方形 6"/>
          <p:cNvSpPr/>
          <p:nvPr/>
        </p:nvSpPr>
        <p:spPr>
          <a:xfrm>
            <a:off x="4065177" y="2158427"/>
            <a:ext cx="5475510" cy="2069725"/>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p:cNvSpPr txBox="1"/>
          <p:nvPr/>
        </p:nvSpPr>
        <p:spPr>
          <a:xfrm>
            <a:off x="4065177" y="1912206"/>
            <a:ext cx="1318164" cy="276999"/>
          </a:xfrm>
          <a:prstGeom prst="rect">
            <a:avLst/>
          </a:prstGeom>
          <a:noFill/>
        </p:spPr>
        <p:txBody>
          <a:bodyPr wrap="square" rtlCol="0">
            <a:spAutoFit/>
          </a:bodyPr>
          <a:lstStyle/>
          <a:p>
            <a:r>
              <a:rPr kumimoji="1" lang="en-US" altLang="ja-JP" sz="1200" b="1" dirty="0" smtClean="0">
                <a:solidFill>
                  <a:schemeClr val="tx1">
                    <a:lumMod val="65000"/>
                    <a:lumOff val="35000"/>
                  </a:schemeClr>
                </a:solidFill>
                <a:latin typeface="メイリオ" panose="020B0604030504040204" pitchFamily="50" charset="-128"/>
                <a:ea typeface="メイリオ" panose="020B0604030504040204" pitchFamily="50" charset="-128"/>
              </a:rPr>
              <a:t>IP</a:t>
            </a:r>
            <a:r>
              <a:rPr kumimoji="1" lang="ja-JP" altLang="en-US" sz="1200" b="1" dirty="0" smtClean="0">
                <a:solidFill>
                  <a:schemeClr val="tx1">
                    <a:lumMod val="65000"/>
                    <a:lumOff val="35000"/>
                  </a:schemeClr>
                </a:solidFill>
                <a:latin typeface="メイリオ" panose="020B0604030504040204" pitchFamily="50" charset="-128"/>
                <a:ea typeface="メイリオ" panose="020B0604030504040204" pitchFamily="50" charset="-128"/>
              </a:rPr>
              <a:t>アドレス制限</a:t>
            </a:r>
            <a:endParaRPr kumimoji="1" lang="ja-JP" altLang="en-US" sz="12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9" name="テキスト ボックス 8"/>
          <p:cNvSpPr txBox="1"/>
          <p:nvPr/>
        </p:nvSpPr>
        <p:spPr>
          <a:xfrm>
            <a:off x="1526064" y="695354"/>
            <a:ext cx="2864130" cy="369332"/>
          </a:xfrm>
          <a:prstGeom prst="rect">
            <a:avLst/>
          </a:prstGeom>
          <a:noFill/>
        </p:spPr>
        <p:txBody>
          <a:bodyPr wrap="square" rtlCol="0">
            <a:spAutoFit/>
          </a:bodyPr>
          <a:lstStyle/>
          <a:p>
            <a:r>
              <a:rPr kumimoji="1"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管理ツール</a:t>
            </a:r>
            <a:endParaRPr kumimoji="1" lang="ja-JP" altLang="en-US"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0" name="テキスト ボックス 9"/>
          <p:cNvSpPr txBox="1"/>
          <p:nvPr/>
        </p:nvSpPr>
        <p:spPr>
          <a:xfrm>
            <a:off x="110056" y="97108"/>
            <a:ext cx="3928544" cy="461665"/>
          </a:xfrm>
          <a:prstGeom prst="rect">
            <a:avLst/>
          </a:prstGeom>
          <a:noFill/>
        </p:spPr>
        <p:txBody>
          <a:bodyPr wrap="square" rtlCol="0">
            <a:spAutoFit/>
          </a:bodyPr>
          <a:lstStyle/>
          <a:p>
            <a:r>
              <a:rPr kumimoji="1" lang="ja-JP" altLang="en-US" sz="2400" b="1" dirty="0" smtClean="0">
                <a:solidFill>
                  <a:schemeClr val="tx1">
                    <a:lumMod val="65000"/>
                    <a:lumOff val="35000"/>
                  </a:schemeClr>
                </a:solidFill>
                <a:latin typeface="メイリオ" panose="020B0604030504040204" pitchFamily="50" charset="-128"/>
                <a:ea typeface="メイリオ" panose="020B0604030504040204" pitchFamily="50" charset="-128"/>
              </a:rPr>
              <a:t>位置情報機能</a:t>
            </a:r>
            <a:r>
              <a:rPr kumimoji="1" lang="en-US" altLang="ja-JP" sz="2400" b="1" dirty="0" smtClean="0">
                <a:solidFill>
                  <a:schemeClr val="tx1">
                    <a:lumMod val="65000"/>
                    <a:lumOff val="35000"/>
                  </a:schemeClr>
                </a:solidFill>
                <a:latin typeface="メイリオ" panose="020B0604030504040204" pitchFamily="50" charset="-128"/>
                <a:ea typeface="メイリオ" panose="020B0604030504040204" pitchFamily="50" charset="-128"/>
              </a:rPr>
              <a:t>OFF</a:t>
            </a:r>
            <a:r>
              <a:rPr kumimoji="1" lang="ja-JP" altLang="en-US" sz="2400" b="1" dirty="0" smtClean="0">
                <a:solidFill>
                  <a:schemeClr val="tx1">
                    <a:lumMod val="65000"/>
                    <a:lumOff val="35000"/>
                  </a:schemeClr>
                </a:solidFill>
                <a:latin typeface="メイリオ" panose="020B0604030504040204" pitchFamily="50" charset="-128"/>
                <a:ea typeface="メイリオ" panose="020B0604030504040204" pitchFamily="50" charset="-128"/>
              </a:rPr>
              <a:t>設定</a:t>
            </a:r>
            <a:endParaRPr kumimoji="1" lang="ja-JP" altLang="en-US" sz="24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1" name="正方形/長方形 10"/>
          <p:cNvSpPr/>
          <p:nvPr/>
        </p:nvSpPr>
        <p:spPr>
          <a:xfrm>
            <a:off x="4079689" y="4695194"/>
            <a:ext cx="5475510" cy="1062139"/>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p:cNvSpPr txBox="1"/>
          <p:nvPr/>
        </p:nvSpPr>
        <p:spPr>
          <a:xfrm>
            <a:off x="4079689" y="4445498"/>
            <a:ext cx="1318164" cy="276999"/>
          </a:xfrm>
          <a:prstGeom prst="rect">
            <a:avLst/>
          </a:prstGeom>
          <a:noFill/>
        </p:spPr>
        <p:txBody>
          <a:bodyPr wrap="square" rtlCol="0">
            <a:spAutoFit/>
          </a:bodyPr>
          <a:lstStyle/>
          <a:p>
            <a:r>
              <a:rPr lang="ja-JP" altLang="en-US" sz="1200" b="1" dirty="0">
                <a:solidFill>
                  <a:schemeClr val="tx1">
                    <a:lumMod val="65000"/>
                    <a:lumOff val="35000"/>
                  </a:schemeClr>
                </a:solidFill>
                <a:latin typeface="メイリオ" panose="020B0604030504040204" pitchFamily="50" charset="-128"/>
                <a:ea typeface="メイリオ" panose="020B0604030504040204" pitchFamily="50" charset="-128"/>
              </a:rPr>
              <a:t>位置情報</a:t>
            </a:r>
            <a:endParaRPr kumimoji="1" lang="ja-JP" altLang="en-US" sz="12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p:cNvSpPr txBox="1"/>
          <p:nvPr/>
        </p:nvSpPr>
        <p:spPr>
          <a:xfrm>
            <a:off x="4327646" y="4829066"/>
            <a:ext cx="2988000" cy="246221"/>
          </a:xfrm>
          <a:prstGeom prst="rect">
            <a:avLst/>
          </a:prstGeom>
          <a:noFill/>
        </p:spPr>
        <p:txBody>
          <a:bodyPr wrap="square" rtlCol="0">
            <a:spAutoFit/>
          </a:bodyPr>
          <a:lstStyle/>
          <a:p>
            <a:r>
              <a:rPr lang="ja-JP" altLang="en-US" sz="1000" dirty="0" smtClean="0">
                <a:latin typeface="メイリオ" panose="020B0604030504040204" pitchFamily="50" charset="-128"/>
                <a:ea typeface="メイリオ" panose="020B0604030504040204" pitchFamily="50" charset="-128"/>
              </a:rPr>
              <a:t>位置情報を送信する機能を利用する</a:t>
            </a:r>
            <a:endParaRPr kumimoji="1" lang="ja-JP" altLang="en-US" sz="1000" dirty="0">
              <a:latin typeface="メイリオ" panose="020B0604030504040204" pitchFamily="50" charset="-128"/>
              <a:ea typeface="メイリオ" panose="020B0604030504040204" pitchFamily="50" charset="-128"/>
            </a:endParaRPr>
          </a:p>
        </p:txBody>
      </p:sp>
      <p:sp>
        <p:nvSpPr>
          <p:cNvPr id="14" name="角丸四角形 13"/>
          <p:cNvSpPr/>
          <p:nvPr/>
        </p:nvSpPr>
        <p:spPr>
          <a:xfrm>
            <a:off x="4238318" y="4885209"/>
            <a:ext cx="108000" cy="108000"/>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p:cNvSpPr txBox="1"/>
          <p:nvPr/>
        </p:nvSpPr>
        <p:spPr>
          <a:xfrm>
            <a:off x="4153256" y="4841774"/>
            <a:ext cx="348780" cy="215444"/>
          </a:xfrm>
          <a:prstGeom prst="rect">
            <a:avLst/>
          </a:prstGeom>
          <a:noFill/>
        </p:spPr>
        <p:txBody>
          <a:bodyPr wrap="square" rtlCol="0">
            <a:spAutoFit/>
          </a:bodyPr>
          <a:lstStyle/>
          <a:p>
            <a:r>
              <a:rPr kumimoji="1" lang="ja-JP" altLang="en-US" sz="800" b="1" dirty="0" smtClean="0">
                <a:solidFill>
                  <a:schemeClr val="bg1"/>
                </a:solidFill>
                <a:latin typeface="メイリオ" panose="020B0604030504040204" pitchFamily="50" charset="-128"/>
                <a:ea typeface="メイリオ" panose="020B0604030504040204" pitchFamily="50" charset="-128"/>
              </a:rPr>
              <a:t>✓</a:t>
            </a:r>
            <a:endParaRPr kumimoji="1" lang="ja-JP" altLang="en-US" sz="800" b="1" dirty="0">
              <a:solidFill>
                <a:schemeClr val="bg1"/>
              </a:solidFill>
              <a:latin typeface="メイリオ" panose="020B0604030504040204" pitchFamily="50" charset="-128"/>
              <a:ea typeface="メイリオ" panose="020B0604030504040204" pitchFamily="50" charset="-128"/>
            </a:endParaRPr>
          </a:p>
        </p:txBody>
      </p:sp>
      <p:sp>
        <p:nvSpPr>
          <p:cNvPr id="16" name="テキスト ボックス 15"/>
          <p:cNvSpPr txBox="1"/>
          <p:nvPr/>
        </p:nvSpPr>
        <p:spPr>
          <a:xfrm>
            <a:off x="4346318" y="5081492"/>
            <a:ext cx="4990866" cy="507831"/>
          </a:xfrm>
          <a:prstGeom prst="rect">
            <a:avLst/>
          </a:prstGeom>
          <a:noFill/>
        </p:spPr>
        <p:txBody>
          <a:bodyPr wrap="square" rtlCol="0">
            <a:spAutoFit/>
          </a:bodyPr>
          <a:lstStyle/>
          <a:p>
            <a:r>
              <a:rPr kumimoji="1" lang="ja-JP" altLang="en-US" sz="900" dirty="0" smtClean="0"/>
              <a:t>チェックを</a:t>
            </a:r>
            <a:r>
              <a:rPr kumimoji="1" lang="en-US" altLang="ja-JP" sz="900" dirty="0" smtClean="0"/>
              <a:t>ON</a:t>
            </a:r>
            <a:r>
              <a:rPr kumimoji="1" lang="ja-JP" altLang="en-US" sz="900" dirty="0" smtClean="0"/>
              <a:t>にした場合、以下の機能が利用できます。</a:t>
            </a:r>
            <a:endParaRPr kumimoji="1" lang="en-US" altLang="ja-JP" sz="900" dirty="0" smtClean="0"/>
          </a:p>
          <a:p>
            <a:r>
              <a:rPr kumimoji="1" lang="ja-JP" altLang="en-US" sz="900" dirty="0" smtClean="0"/>
              <a:t>・勤怠データ送信時に位置情報を保存</a:t>
            </a:r>
            <a:endParaRPr kumimoji="1" lang="en-US" altLang="ja-JP" sz="900" dirty="0" smtClean="0"/>
          </a:p>
          <a:p>
            <a:r>
              <a:rPr lang="ja-JP" altLang="en-US" sz="900" dirty="0" smtClean="0"/>
              <a:t>・ヒアーズミー メニュー「位置情報」の機能（位置情報送信、</a:t>
            </a:r>
            <a:r>
              <a:rPr lang="en-US" altLang="ja-JP" sz="900" dirty="0" smtClean="0"/>
              <a:t>Map</a:t>
            </a:r>
            <a:r>
              <a:rPr lang="ja-JP" altLang="en-US" sz="900" dirty="0" smtClean="0"/>
              <a:t>位置情報一覧）</a:t>
            </a:r>
            <a:endParaRPr kumimoji="1" lang="ja-JP" altLang="en-US" sz="900" dirty="0"/>
          </a:p>
        </p:txBody>
      </p:sp>
      <p:sp>
        <p:nvSpPr>
          <p:cNvPr id="17" name="四角形吹き出し 16"/>
          <p:cNvSpPr/>
          <p:nvPr/>
        </p:nvSpPr>
        <p:spPr>
          <a:xfrm>
            <a:off x="7843684" y="4261180"/>
            <a:ext cx="3315588" cy="817209"/>
          </a:xfrm>
          <a:prstGeom prst="wedgeRectCallout">
            <a:avLst>
              <a:gd name="adj1" fmla="val -86272"/>
              <a:gd name="adj2" fmla="val 2761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1"/>
                </a:solidFill>
              </a:rPr>
              <a:t>アカウント作成ツール</a:t>
            </a:r>
            <a:r>
              <a:rPr lang="ja-JP" altLang="en-US" sz="1400" dirty="0" smtClean="0">
                <a:solidFill>
                  <a:schemeClr val="tx1"/>
                </a:solidFill>
              </a:rPr>
              <a:t>で企業アカウントを作成した時のデフォルト設定は</a:t>
            </a:r>
            <a:r>
              <a:rPr lang="en-US" altLang="ja-JP" sz="1400" dirty="0" smtClean="0">
                <a:solidFill>
                  <a:schemeClr val="tx1"/>
                </a:solidFill>
              </a:rPr>
              <a:t>ON</a:t>
            </a:r>
            <a:endParaRPr kumimoji="1" lang="ja-JP" altLang="en-US" sz="1400" dirty="0">
              <a:solidFill>
                <a:schemeClr val="tx1"/>
              </a:solidFill>
            </a:endParaRPr>
          </a:p>
        </p:txBody>
      </p:sp>
      <p:sp>
        <p:nvSpPr>
          <p:cNvPr id="18" name="四角形吹き出し 17"/>
          <p:cNvSpPr/>
          <p:nvPr/>
        </p:nvSpPr>
        <p:spPr>
          <a:xfrm>
            <a:off x="3725547" y="194193"/>
            <a:ext cx="3315588" cy="702484"/>
          </a:xfrm>
          <a:prstGeom prst="wedgeRectCallout">
            <a:avLst>
              <a:gd name="adj1" fmla="val -14261"/>
              <a:gd name="adj2" fmla="val -363"/>
            </a:avLst>
          </a:prstGeom>
          <a:solidFill>
            <a:srgbClr val="FF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dirty="0" smtClean="0">
                <a:solidFill>
                  <a:schemeClr val="tx1"/>
                </a:solidFill>
              </a:rPr>
              <a:t>開発期間に余力があれば対応</a:t>
            </a:r>
            <a:endParaRPr kumimoji="1" lang="ja-JP" altLang="en-US" sz="1400" dirty="0">
              <a:solidFill>
                <a:schemeClr val="tx1"/>
              </a:solidFill>
            </a:endParaRPr>
          </a:p>
        </p:txBody>
      </p:sp>
    </p:spTree>
    <p:extLst>
      <p:ext uri="{BB962C8B-B14F-4D97-AF65-F5344CB8AC3E}">
        <p14:creationId xmlns:p14="http://schemas.microsoft.com/office/powerpoint/2010/main" val="3378517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526063" y="695354"/>
            <a:ext cx="3816403" cy="369332"/>
          </a:xfrm>
          <a:prstGeom prst="rect">
            <a:avLst/>
          </a:prstGeom>
          <a:noFill/>
        </p:spPr>
        <p:txBody>
          <a:bodyPr wrap="square" rtlCol="0">
            <a:spAutoFit/>
          </a:bodyPr>
          <a:lstStyle/>
          <a:p>
            <a:r>
              <a:rPr kumimoji="1"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管理ツール（勤怠データ詳細）</a:t>
            </a:r>
            <a:endParaRPr kumimoji="1" lang="ja-JP" altLang="en-US"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 name="テキスト ボックス 4"/>
          <p:cNvSpPr txBox="1"/>
          <p:nvPr/>
        </p:nvSpPr>
        <p:spPr>
          <a:xfrm>
            <a:off x="110056" y="97108"/>
            <a:ext cx="3928544" cy="461665"/>
          </a:xfrm>
          <a:prstGeom prst="rect">
            <a:avLst/>
          </a:prstGeom>
          <a:noFill/>
        </p:spPr>
        <p:txBody>
          <a:bodyPr wrap="square" rtlCol="0">
            <a:spAutoFit/>
          </a:bodyPr>
          <a:lstStyle/>
          <a:p>
            <a:r>
              <a:rPr kumimoji="1" lang="ja-JP" altLang="en-US" sz="2400" b="1" dirty="0" smtClean="0">
                <a:solidFill>
                  <a:schemeClr val="tx1">
                    <a:lumMod val="65000"/>
                    <a:lumOff val="35000"/>
                  </a:schemeClr>
                </a:solidFill>
                <a:latin typeface="メイリオ" panose="020B0604030504040204" pitchFamily="50" charset="-128"/>
                <a:ea typeface="メイリオ" panose="020B0604030504040204" pitchFamily="50" charset="-128"/>
              </a:rPr>
              <a:t>位置情報機能</a:t>
            </a:r>
            <a:r>
              <a:rPr kumimoji="1" lang="en-US" altLang="ja-JP" sz="2400" b="1" dirty="0" smtClean="0">
                <a:solidFill>
                  <a:schemeClr val="tx1">
                    <a:lumMod val="65000"/>
                    <a:lumOff val="35000"/>
                  </a:schemeClr>
                </a:solidFill>
                <a:latin typeface="メイリオ" panose="020B0604030504040204" pitchFamily="50" charset="-128"/>
                <a:ea typeface="メイリオ" panose="020B0604030504040204" pitchFamily="50" charset="-128"/>
              </a:rPr>
              <a:t>OFF</a:t>
            </a:r>
            <a:r>
              <a:rPr kumimoji="1" lang="ja-JP" altLang="en-US" sz="2400" b="1" dirty="0" smtClean="0">
                <a:solidFill>
                  <a:schemeClr val="tx1">
                    <a:lumMod val="65000"/>
                    <a:lumOff val="35000"/>
                  </a:schemeClr>
                </a:solidFill>
                <a:latin typeface="メイリオ" panose="020B0604030504040204" pitchFamily="50" charset="-128"/>
                <a:ea typeface="メイリオ" panose="020B0604030504040204" pitchFamily="50" charset="-128"/>
              </a:rPr>
              <a:t>設定</a:t>
            </a:r>
            <a:endParaRPr kumimoji="1" lang="ja-JP" altLang="en-US" sz="24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 name="テキスト ボックス 6"/>
          <p:cNvSpPr txBox="1"/>
          <p:nvPr/>
        </p:nvSpPr>
        <p:spPr>
          <a:xfrm>
            <a:off x="1671072" y="1127438"/>
            <a:ext cx="2988000" cy="307777"/>
          </a:xfrm>
          <a:prstGeom prst="rect">
            <a:avLst/>
          </a:prstGeom>
          <a:noFill/>
        </p:spPr>
        <p:txBody>
          <a:bodyPr wrap="square" rtlCol="0">
            <a:spAutoFit/>
          </a:bodyPr>
          <a:lstStyle/>
          <a:p>
            <a:r>
              <a:rPr lang="ja-JP" altLang="en-US" sz="1400" dirty="0" smtClean="0">
                <a:latin typeface="メイリオ" panose="020B0604030504040204" pitchFamily="50" charset="-128"/>
                <a:ea typeface="メイリオ" panose="020B0604030504040204" pitchFamily="50" charset="-128"/>
              </a:rPr>
              <a:t>位置情報機能</a:t>
            </a:r>
            <a:r>
              <a:rPr lang="en-US" altLang="ja-JP" sz="1400" dirty="0" smtClean="0">
                <a:latin typeface="メイリオ" panose="020B0604030504040204" pitchFamily="50" charset="-128"/>
                <a:ea typeface="メイリオ" panose="020B0604030504040204" pitchFamily="50" charset="-128"/>
              </a:rPr>
              <a:t>ON</a:t>
            </a:r>
            <a:r>
              <a:rPr lang="ja-JP" altLang="en-US" sz="1400" dirty="0" smtClean="0">
                <a:latin typeface="メイリオ" panose="020B0604030504040204" pitchFamily="50" charset="-128"/>
                <a:ea typeface="メイリオ" panose="020B0604030504040204" pitchFamily="50" charset="-128"/>
              </a:rPr>
              <a:t>（既存のまま）</a:t>
            </a:r>
            <a:endParaRPr kumimoji="1" lang="ja-JP" altLang="en-US" sz="1400" dirty="0">
              <a:latin typeface="メイリオ" panose="020B0604030504040204" pitchFamily="50" charset="-128"/>
              <a:ea typeface="メイリオ" panose="020B0604030504040204" pitchFamily="50" charset="-128"/>
            </a:endParaRPr>
          </a:p>
        </p:txBody>
      </p:sp>
      <p:sp>
        <p:nvSpPr>
          <p:cNvPr id="8" name="テキスト ボックス 7"/>
          <p:cNvSpPr txBox="1"/>
          <p:nvPr/>
        </p:nvSpPr>
        <p:spPr>
          <a:xfrm>
            <a:off x="6417815" y="1127438"/>
            <a:ext cx="2988000" cy="307777"/>
          </a:xfrm>
          <a:prstGeom prst="rect">
            <a:avLst/>
          </a:prstGeom>
          <a:noFill/>
        </p:spPr>
        <p:txBody>
          <a:bodyPr wrap="square" rtlCol="0">
            <a:spAutoFit/>
          </a:bodyPr>
          <a:lstStyle/>
          <a:p>
            <a:r>
              <a:rPr lang="ja-JP" altLang="en-US" sz="1400" dirty="0" smtClean="0">
                <a:latin typeface="メイリオ" panose="020B0604030504040204" pitchFamily="50" charset="-128"/>
                <a:ea typeface="メイリオ" panose="020B0604030504040204" pitchFamily="50" charset="-128"/>
              </a:rPr>
              <a:t>位置情報機能</a:t>
            </a:r>
            <a:r>
              <a:rPr lang="en-US" altLang="ja-JP" sz="1400" dirty="0" smtClean="0">
                <a:latin typeface="メイリオ" panose="020B0604030504040204" pitchFamily="50" charset="-128"/>
                <a:ea typeface="メイリオ" panose="020B0604030504040204" pitchFamily="50" charset="-128"/>
              </a:rPr>
              <a:t>OFF</a:t>
            </a:r>
            <a:r>
              <a:rPr lang="ja-JP" altLang="en-US" sz="1400" dirty="0" smtClean="0">
                <a:latin typeface="メイリオ" panose="020B0604030504040204" pitchFamily="50" charset="-128"/>
                <a:ea typeface="メイリオ" panose="020B0604030504040204" pitchFamily="50" charset="-128"/>
              </a:rPr>
              <a:t>（新規）</a:t>
            </a:r>
            <a:endParaRPr kumimoji="1" lang="ja-JP" altLang="en-US" sz="1400" dirty="0">
              <a:latin typeface="メイリオ" panose="020B0604030504040204" pitchFamily="50" charset="-128"/>
              <a:ea typeface="メイリオ" panose="020B0604030504040204" pitchFamily="50" charset="-128"/>
            </a:endParaRPr>
          </a:p>
        </p:txBody>
      </p:sp>
      <p:pic>
        <p:nvPicPr>
          <p:cNvPr id="9" name="図 8"/>
          <p:cNvPicPr>
            <a:picLocks noChangeAspect="1"/>
          </p:cNvPicPr>
          <p:nvPr/>
        </p:nvPicPr>
        <p:blipFill>
          <a:blip r:embed="rId2"/>
          <a:stretch>
            <a:fillRect/>
          </a:stretch>
        </p:blipFill>
        <p:spPr>
          <a:xfrm>
            <a:off x="1752793" y="1435215"/>
            <a:ext cx="3362941" cy="3724310"/>
          </a:xfrm>
          <a:prstGeom prst="rect">
            <a:avLst/>
          </a:prstGeom>
        </p:spPr>
      </p:pic>
      <p:sp>
        <p:nvSpPr>
          <p:cNvPr id="10" name="テキスト ボックス 9"/>
          <p:cNvSpPr txBox="1"/>
          <p:nvPr/>
        </p:nvSpPr>
        <p:spPr>
          <a:xfrm>
            <a:off x="1671072" y="5376165"/>
            <a:ext cx="4027084" cy="307777"/>
          </a:xfrm>
          <a:prstGeom prst="rect">
            <a:avLst/>
          </a:prstGeom>
          <a:noFill/>
        </p:spPr>
        <p:txBody>
          <a:bodyPr wrap="square" rtlCol="0">
            <a:spAutoFit/>
          </a:bodyPr>
          <a:lstStyle/>
          <a:p>
            <a:r>
              <a:rPr lang="ja-JP" altLang="en-US" sz="1400" dirty="0" smtClean="0">
                <a:latin typeface="メイリオ" panose="020B0604030504040204" pitchFamily="50" charset="-128"/>
                <a:ea typeface="メイリオ" panose="020B0604030504040204" pitchFamily="50" charset="-128"/>
              </a:rPr>
              <a:t>位置情報機能</a:t>
            </a:r>
            <a:r>
              <a:rPr lang="en-US" altLang="ja-JP" sz="1400" dirty="0" smtClean="0">
                <a:latin typeface="メイリオ" panose="020B0604030504040204" pitchFamily="50" charset="-128"/>
                <a:ea typeface="メイリオ" panose="020B0604030504040204" pitchFamily="50" charset="-128"/>
              </a:rPr>
              <a:t>ON</a:t>
            </a:r>
            <a:r>
              <a:rPr lang="ja-JP" altLang="en-US" sz="1400" dirty="0" smtClean="0">
                <a:latin typeface="メイリオ" panose="020B0604030504040204" pitchFamily="50" charset="-128"/>
                <a:ea typeface="メイリオ" panose="020B0604030504040204" pitchFamily="50" charset="-128"/>
              </a:rPr>
              <a:t>・位置情報なし（既存のまま）</a:t>
            </a:r>
            <a:endParaRPr kumimoji="1" lang="ja-JP" altLang="en-US" sz="1400" dirty="0">
              <a:latin typeface="メイリオ" panose="020B0604030504040204" pitchFamily="50" charset="-128"/>
              <a:ea typeface="メイリオ" panose="020B0604030504040204" pitchFamily="50" charset="-128"/>
            </a:endParaRPr>
          </a:p>
        </p:txBody>
      </p:sp>
      <p:sp>
        <p:nvSpPr>
          <p:cNvPr id="12" name="四角形吹き出し 11"/>
          <p:cNvSpPr/>
          <p:nvPr/>
        </p:nvSpPr>
        <p:spPr>
          <a:xfrm>
            <a:off x="7174167" y="5053263"/>
            <a:ext cx="4626405" cy="1713297"/>
          </a:xfrm>
          <a:prstGeom prst="wedgeRectCallout">
            <a:avLst>
              <a:gd name="adj1" fmla="val -19212"/>
              <a:gd name="adj2" fmla="val 1112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400" dirty="0" smtClean="0">
                <a:solidFill>
                  <a:schemeClr val="tx1"/>
                </a:solidFill>
              </a:rPr>
              <a:t>【</a:t>
            </a:r>
            <a:r>
              <a:rPr lang="ja-JP" altLang="en-US" sz="1400" dirty="0" smtClean="0">
                <a:solidFill>
                  <a:schemeClr val="tx1"/>
                </a:solidFill>
              </a:rPr>
              <a:t>既存不具合修正</a:t>
            </a:r>
            <a:r>
              <a:rPr lang="en-US" altLang="ja-JP" sz="1400" dirty="0" smtClean="0">
                <a:solidFill>
                  <a:schemeClr val="tx1"/>
                </a:solidFill>
              </a:rPr>
              <a:t>】</a:t>
            </a:r>
          </a:p>
          <a:p>
            <a:r>
              <a:rPr lang="ja-JP" altLang="en-US" sz="1400" dirty="0">
                <a:solidFill>
                  <a:schemeClr val="tx1"/>
                </a:solidFill>
              </a:rPr>
              <a:t>未更新</a:t>
            </a:r>
            <a:r>
              <a:rPr lang="en-US" altLang="ja-JP" sz="1400" dirty="0">
                <a:solidFill>
                  <a:schemeClr val="tx1"/>
                </a:solidFill>
              </a:rPr>
              <a:t>(</a:t>
            </a:r>
            <a:r>
              <a:rPr lang="ja-JP" altLang="en-US" sz="1400" dirty="0">
                <a:solidFill>
                  <a:schemeClr val="tx1"/>
                </a:solidFill>
              </a:rPr>
              <a:t>青字になっていない</a:t>
            </a:r>
            <a:r>
              <a:rPr lang="en-US" altLang="ja-JP" sz="1400" dirty="0">
                <a:solidFill>
                  <a:schemeClr val="tx1"/>
                </a:solidFill>
              </a:rPr>
              <a:t>)</a:t>
            </a:r>
            <a:r>
              <a:rPr lang="ja-JP" altLang="en-US" sz="1400" dirty="0">
                <a:solidFill>
                  <a:schemeClr val="tx1"/>
                </a:solidFill>
              </a:rPr>
              <a:t>のデータをクリックすると、更新日時が表示されないはずだが、いったん更新済み</a:t>
            </a:r>
            <a:r>
              <a:rPr lang="en-US" altLang="ja-JP" sz="1400" dirty="0">
                <a:solidFill>
                  <a:schemeClr val="tx1"/>
                </a:solidFill>
              </a:rPr>
              <a:t>(</a:t>
            </a:r>
            <a:r>
              <a:rPr lang="ja-JP" altLang="en-US" sz="1400" dirty="0">
                <a:solidFill>
                  <a:schemeClr val="tx1"/>
                </a:solidFill>
              </a:rPr>
              <a:t>青字になっている</a:t>
            </a:r>
            <a:r>
              <a:rPr lang="en-US" altLang="ja-JP" sz="1400" dirty="0">
                <a:solidFill>
                  <a:schemeClr val="tx1"/>
                </a:solidFill>
              </a:rPr>
              <a:t>)</a:t>
            </a:r>
            <a:r>
              <a:rPr lang="ja-JP" altLang="en-US" sz="1400" dirty="0" err="1">
                <a:solidFill>
                  <a:schemeClr val="tx1"/>
                </a:solidFill>
              </a:rPr>
              <a:t>のを</a:t>
            </a:r>
            <a:r>
              <a:rPr lang="ja-JP" altLang="en-US" sz="1400" dirty="0">
                <a:solidFill>
                  <a:schemeClr val="tx1"/>
                </a:solidFill>
              </a:rPr>
              <a:t>開いて、その後未更新を開くと、表示されないはずの更新日時が表示されている</a:t>
            </a:r>
            <a:r>
              <a:rPr lang="ja-JP" altLang="en-US" sz="1400" dirty="0" smtClean="0">
                <a:solidFill>
                  <a:schemeClr val="tx1"/>
                </a:solidFill>
              </a:rPr>
              <a:t>。</a:t>
            </a:r>
            <a:endParaRPr lang="en-US" altLang="ja-JP" sz="1400" dirty="0" smtClean="0">
              <a:solidFill>
                <a:schemeClr val="tx1"/>
              </a:solidFill>
            </a:endParaRPr>
          </a:p>
          <a:p>
            <a:r>
              <a:rPr lang="ja-JP" altLang="en-US" sz="1400" dirty="0" smtClean="0">
                <a:solidFill>
                  <a:schemeClr val="tx1"/>
                </a:solidFill>
              </a:rPr>
              <a:t>（</a:t>
            </a:r>
            <a:r>
              <a:rPr lang="ja-JP" altLang="en-US" sz="1400" dirty="0">
                <a:solidFill>
                  <a:schemeClr val="tx1"/>
                </a:solidFill>
              </a:rPr>
              <a:t>前に開いたデータの更新</a:t>
            </a:r>
            <a:r>
              <a:rPr lang="ja-JP" altLang="en-US" sz="1400" dirty="0" smtClean="0">
                <a:solidFill>
                  <a:schemeClr val="tx1"/>
                </a:solidFill>
              </a:rPr>
              <a:t>日時？</a:t>
            </a:r>
            <a:r>
              <a:rPr lang="ja-JP" altLang="en-US" sz="1400" dirty="0">
                <a:solidFill>
                  <a:schemeClr val="tx1"/>
                </a:solidFill>
              </a:rPr>
              <a:t>）</a:t>
            </a:r>
            <a:endParaRPr kumimoji="1" lang="ja-JP" altLang="en-US" sz="1400" dirty="0">
              <a:solidFill>
                <a:schemeClr val="tx1"/>
              </a:solidFill>
            </a:endParaRPr>
          </a:p>
        </p:txBody>
      </p:sp>
      <p:pic>
        <p:nvPicPr>
          <p:cNvPr id="13" name="図 12"/>
          <p:cNvPicPr>
            <a:picLocks noChangeAspect="1"/>
          </p:cNvPicPr>
          <p:nvPr/>
        </p:nvPicPr>
        <p:blipFill>
          <a:blip r:embed="rId3"/>
          <a:stretch>
            <a:fillRect/>
          </a:stretch>
        </p:blipFill>
        <p:spPr>
          <a:xfrm>
            <a:off x="6417815" y="1435215"/>
            <a:ext cx="4218100" cy="1957612"/>
          </a:xfrm>
          <a:prstGeom prst="rect">
            <a:avLst/>
          </a:prstGeom>
        </p:spPr>
      </p:pic>
      <p:pic>
        <p:nvPicPr>
          <p:cNvPr id="14" name="図 13"/>
          <p:cNvPicPr>
            <a:picLocks noChangeAspect="1"/>
          </p:cNvPicPr>
          <p:nvPr/>
        </p:nvPicPr>
        <p:blipFill>
          <a:blip r:embed="rId4"/>
          <a:stretch>
            <a:fillRect/>
          </a:stretch>
        </p:blipFill>
        <p:spPr>
          <a:xfrm>
            <a:off x="1839365" y="5683943"/>
            <a:ext cx="3276369" cy="1520556"/>
          </a:xfrm>
          <a:prstGeom prst="rect">
            <a:avLst/>
          </a:prstGeom>
        </p:spPr>
      </p:pic>
      <p:sp>
        <p:nvSpPr>
          <p:cNvPr id="15" name="四角形吹き出し 14"/>
          <p:cNvSpPr/>
          <p:nvPr/>
        </p:nvSpPr>
        <p:spPr>
          <a:xfrm>
            <a:off x="9405816" y="2414022"/>
            <a:ext cx="4059928" cy="978806"/>
          </a:xfrm>
          <a:prstGeom prst="wedgeRectCallout">
            <a:avLst>
              <a:gd name="adj1" fmla="val -72555"/>
              <a:gd name="adj2" fmla="val 12103"/>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smtClean="0">
                <a:solidFill>
                  <a:schemeClr val="tx1"/>
                </a:solidFill>
              </a:rPr>
              <a:t>更新データ（青字）の場合は更新時刻を表示、</a:t>
            </a:r>
            <a:endParaRPr kumimoji="1" lang="en-US" altLang="ja-JP" sz="1400" dirty="0" smtClean="0">
              <a:solidFill>
                <a:schemeClr val="tx1"/>
              </a:solidFill>
            </a:endParaRPr>
          </a:p>
          <a:p>
            <a:r>
              <a:rPr kumimoji="1" lang="ja-JP" altLang="en-US" sz="1400" dirty="0" smtClean="0">
                <a:solidFill>
                  <a:schemeClr val="tx1"/>
                </a:solidFill>
              </a:rPr>
              <a:t>未更新データ（黒字の場合は更新時刻欄を非表示にする</a:t>
            </a:r>
            <a:endParaRPr kumimoji="1" lang="ja-JP" altLang="en-US" sz="1400" dirty="0">
              <a:solidFill>
                <a:schemeClr val="tx1"/>
              </a:solidFill>
            </a:endParaRPr>
          </a:p>
        </p:txBody>
      </p:sp>
    </p:spTree>
    <p:extLst>
      <p:ext uri="{BB962C8B-B14F-4D97-AF65-F5344CB8AC3E}">
        <p14:creationId xmlns:p14="http://schemas.microsoft.com/office/powerpoint/2010/main" val="2243905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p:cNvSpPr txBox="1"/>
          <p:nvPr/>
        </p:nvSpPr>
        <p:spPr>
          <a:xfrm>
            <a:off x="1118295" y="780280"/>
            <a:ext cx="3816403" cy="369332"/>
          </a:xfrm>
          <a:prstGeom prst="rect">
            <a:avLst/>
          </a:prstGeom>
          <a:noFill/>
        </p:spPr>
        <p:txBody>
          <a:bodyPr wrap="square" rtlCol="0">
            <a:spAutoFit/>
          </a:bodyPr>
          <a:lstStyle/>
          <a:p>
            <a:r>
              <a:rPr kumimoji="1" lang="ja-JP" altLang="en-US" b="1" dirty="0" smtClean="0">
                <a:solidFill>
                  <a:schemeClr val="tx1">
                    <a:lumMod val="65000"/>
                    <a:lumOff val="35000"/>
                  </a:schemeClr>
                </a:solidFill>
                <a:latin typeface="メイリオ" panose="020B0604030504040204" pitchFamily="50" charset="-128"/>
                <a:ea typeface="メイリオ" panose="020B0604030504040204" pitchFamily="50" charset="-128"/>
              </a:rPr>
              <a:t>ヒアーズミー</a:t>
            </a:r>
            <a:endParaRPr kumimoji="1" lang="ja-JP" altLang="en-US"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6" name="テキスト ボックス 5"/>
          <p:cNvSpPr txBox="1"/>
          <p:nvPr/>
        </p:nvSpPr>
        <p:spPr>
          <a:xfrm>
            <a:off x="110056" y="97108"/>
            <a:ext cx="3928544" cy="461665"/>
          </a:xfrm>
          <a:prstGeom prst="rect">
            <a:avLst/>
          </a:prstGeom>
          <a:noFill/>
        </p:spPr>
        <p:txBody>
          <a:bodyPr wrap="square" rtlCol="0">
            <a:spAutoFit/>
          </a:bodyPr>
          <a:lstStyle/>
          <a:p>
            <a:r>
              <a:rPr kumimoji="1" lang="ja-JP" altLang="en-US" sz="2400" b="1" dirty="0" smtClean="0">
                <a:solidFill>
                  <a:schemeClr val="tx1">
                    <a:lumMod val="65000"/>
                    <a:lumOff val="35000"/>
                  </a:schemeClr>
                </a:solidFill>
                <a:latin typeface="メイリオ" panose="020B0604030504040204" pitchFamily="50" charset="-128"/>
                <a:ea typeface="メイリオ" panose="020B0604030504040204" pitchFamily="50" charset="-128"/>
              </a:rPr>
              <a:t>位置情報機能</a:t>
            </a:r>
            <a:r>
              <a:rPr kumimoji="1" lang="en-US" altLang="ja-JP" sz="2400" b="1" dirty="0" smtClean="0">
                <a:solidFill>
                  <a:schemeClr val="tx1">
                    <a:lumMod val="65000"/>
                    <a:lumOff val="35000"/>
                  </a:schemeClr>
                </a:solidFill>
                <a:latin typeface="メイリオ" panose="020B0604030504040204" pitchFamily="50" charset="-128"/>
                <a:ea typeface="メイリオ" panose="020B0604030504040204" pitchFamily="50" charset="-128"/>
              </a:rPr>
              <a:t>OFF</a:t>
            </a:r>
            <a:r>
              <a:rPr kumimoji="1" lang="ja-JP" altLang="en-US" sz="2400" b="1" dirty="0" smtClean="0">
                <a:solidFill>
                  <a:schemeClr val="tx1">
                    <a:lumMod val="65000"/>
                    <a:lumOff val="35000"/>
                  </a:schemeClr>
                </a:solidFill>
                <a:latin typeface="メイリオ" panose="020B0604030504040204" pitchFamily="50" charset="-128"/>
                <a:ea typeface="メイリオ" panose="020B0604030504040204" pitchFamily="50" charset="-128"/>
              </a:rPr>
              <a:t>設定</a:t>
            </a:r>
            <a:endParaRPr kumimoji="1" lang="ja-JP" altLang="en-US" sz="24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 name="テキスト ボックス 6"/>
          <p:cNvSpPr txBox="1"/>
          <p:nvPr/>
        </p:nvSpPr>
        <p:spPr>
          <a:xfrm>
            <a:off x="1243426" y="1217230"/>
            <a:ext cx="2988000" cy="307777"/>
          </a:xfrm>
          <a:prstGeom prst="rect">
            <a:avLst/>
          </a:prstGeom>
          <a:noFill/>
        </p:spPr>
        <p:txBody>
          <a:bodyPr wrap="square" rtlCol="0">
            <a:spAutoFit/>
          </a:bodyPr>
          <a:lstStyle/>
          <a:p>
            <a:r>
              <a:rPr lang="ja-JP" altLang="en-US" sz="1400" dirty="0" smtClean="0">
                <a:latin typeface="メイリオ" panose="020B0604030504040204" pitchFamily="50" charset="-128"/>
                <a:ea typeface="メイリオ" panose="020B0604030504040204" pitchFamily="50" charset="-128"/>
              </a:rPr>
              <a:t>位置情報機能</a:t>
            </a:r>
            <a:r>
              <a:rPr lang="en-US" altLang="ja-JP" sz="1400" dirty="0" smtClean="0">
                <a:latin typeface="メイリオ" panose="020B0604030504040204" pitchFamily="50" charset="-128"/>
                <a:ea typeface="メイリオ" panose="020B0604030504040204" pitchFamily="50" charset="-128"/>
              </a:rPr>
              <a:t>ON</a:t>
            </a:r>
            <a:r>
              <a:rPr lang="ja-JP" altLang="en-US" sz="1400" dirty="0" smtClean="0">
                <a:latin typeface="メイリオ" panose="020B0604030504040204" pitchFamily="50" charset="-128"/>
                <a:ea typeface="メイリオ" panose="020B0604030504040204" pitchFamily="50" charset="-128"/>
              </a:rPr>
              <a:t>（既存のまま）</a:t>
            </a:r>
            <a:endParaRPr kumimoji="1" lang="ja-JP" altLang="en-US" sz="1400" dirty="0">
              <a:latin typeface="メイリオ" panose="020B0604030504040204" pitchFamily="50" charset="-128"/>
              <a:ea typeface="メイリオ" panose="020B0604030504040204" pitchFamily="50" charset="-128"/>
            </a:endParaRPr>
          </a:p>
        </p:txBody>
      </p:sp>
      <p:sp>
        <p:nvSpPr>
          <p:cNvPr id="9" name="テキスト ボックス 8"/>
          <p:cNvSpPr txBox="1"/>
          <p:nvPr/>
        </p:nvSpPr>
        <p:spPr>
          <a:xfrm>
            <a:off x="6189863" y="1217230"/>
            <a:ext cx="2988000" cy="307777"/>
          </a:xfrm>
          <a:prstGeom prst="rect">
            <a:avLst/>
          </a:prstGeom>
          <a:noFill/>
        </p:spPr>
        <p:txBody>
          <a:bodyPr wrap="square" rtlCol="0">
            <a:spAutoFit/>
          </a:bodyPr>
          <a:lstStyle/>
          <a:p>
            <a:r>
              <a:rPr lang="ja-JP" altLang="en-US" sz="1400" dirty="0" smtClean="0">
                <a:latin typeface="メイリオ" panose="020B0604030504040204" pitchFamily="50" charset="-128"/>
                <a:ea typeface="メイリオ" panose="020B0604030504040204" pitchFamily="50" charset="-128"/>
              </a:rPr>
              <a:t>位置情報機能</a:t>
            </a:r>
            <a:r>
              <a:rPr lang="en-US" altLang="ja-JP" sz="1400" dirty="0" smtClean="0">
                <a:latin typeface="メイリオ" panose="020B0604030504040204" pitchFamily="50" charset="-128"/>
                <a:ea typeface="メイリオ" panose="020B0604030504040204" pitchFamily="50" charset="-128"/>
              </a:rPr>
              <a:t>ON</a:t>
            </a:r>
            <a:r>
              <a:rPr lang="ja-JP" altLang="en-US" sz="1400" dirty="0" smtClean="0">
                <a:latin typeface="メイリオ" panose="020B0604030504040204" pitchFamily="50" charset="-128"/>
                <a:ea typeface="メイリオ" panose="020B0604030504040204" pitchFamily="50" charset="-128"/>
              </a:rPr>
              <a:t>（新規）</a:t>
            </a:r>
            <a:endParaRPr kumimoji="1" lang="ja-JP" altLang="en-US" sz="1400" dirty="0">
              <a:latin typeface="メイリオ" panose="020B0604030504040204" pitchFamily="50" charset="-128"/>
              <a:ea typeface="メイリオ" panose="020B0604030504040204" pitchFamily="50" charset="-128"/>
            </a:endParaRPr>
          </a:p>
        </p:txBody>
      </p:sp>
      <p:pic>
        <p:nvPicPr>
          <p:cNvPr id="10" name="図 9"/>
          <p:cNvPicPr>
            <a:picLocks noChangeAspect="1"/>
          </p:cNvPicPr>
          <p:nvPr/>
        </p:nvPicPr>
        <p:blipFill>
          <a:blip r:embed="rId2"/>
          <a:stretch>
            <a:fillRect/>
          </a:stretch>
        </p:blipFill>
        <p:spPr>
          <a:xfrm>
            <a:off x="6290334" y="1525007"/>
            <a:ext cx="3191320" cy="3839111"/>
          </a:xfrm>
          <a:prstGeom prst="rect">
            <a:avLst/>
          </a:prstGeom>
        </p:spPr>
      </p:pic>
      <p:pic>
        <p:nvPicPr>
          <p:cNvPr id="11" name="図 10"/>
          <p:cNvPicPr>
            <a:picLocks noChangeAspect="1"/>
          </p:cNvPicPr>
          <p:nvPr/>
        </p:nvPicPr>
        <p:blipFill>
          <a:blip r:embed="rId3"/>
          <a:stretch>
            <a:fillRect/>
          </a:stretch>
        </p:blipFill>
        <p:spPr>
          <a:xfrm>
            <a:off x="1353091" y="1525006"/>
            <a:ext cx="3258005" cy="3839111"/>
          </a:xfrm>
          <a:prstGeom prst="rect">
            <a:avLst/>
          </a:prstGeom>
        </p:spPr>
      </p:pic>
      <p:sp>
        <p:nvSpPr>
          <p:cNvPr id="12" name="四角形吹き出し 11"/>
          <p:cNvSpPr/>
          <p:nvPr/>
        </p:nvSpPr>
        <p:spPr>
          <a:xfrm>
            <a:off x="8799424" y="2702780"/>
            <a:ext cx="2197838" cy="897068"/>
          </a:xfrm>
          <a:prstGeom prst="wedgeRectCallout">
            <a:avLst>
              <a:gd name="adj1" fmla="val -72555"/>
              <a:gd name="adj2" fmla="val 12103"/>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smtClean="0">
                <a:solidFill>
                  <a:schemeClr val="tx1"/>
                </a:solidFill>
              </a:rPr>
              <a:t>メニュー</a:t>
            </a:r>
            <a:r>
              <a:rPr lang="ja-JP" altLang="en-US" sz="1400" dirty="0" smtClean="0">
                <a:solidFill>
                  <a:schemeClr val="tx1"/>
                </a:solidFill>
              </a:rPr>
              <a:t>「位置情報」を非表示にする</a:t>
            </a:r>
            <a:endParaRPr kumimoji="1" lang="en-US" altLang="ja-JP" sz="1400" dirty="0" smtClean="0">
              <a:solidFill>
                <a:schemeClr val="tx1"/>
              </a:solidFill>
            </a:endParaRPr>
          </a:p>
        </p:txBody>
      </p:sp>
    </p:spTree>
    <p:extLst>
      <p:ext uri="{BB962C8B-B14F-4D97-AF65-F5344CB8AC3E}">
        <p14:creationId xmlns:p14="http://schemas.microsoft.com/office/powerpoint/2010/main" val="290211365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1586EC5222D8DD4EA9380A9586B0DF37" ma:contentTypeVersion="14" ma:contentTypeDescription="新しいドキュメントを作成します。" ma:contentTypeScope="" ma:versionID="b2cc92d8f4beea44e3d609bb5924ec6f">
  <xsd:schema xmlns:xsd="http://www.w3.org/2001/XMLSchema" xmlns:xs="http://www.w3.org/2001/XMLSchema" xmlns:p="http://schemas.microsoft.com/office/2006/metadata/properties" xmlns:ns2="ea6db904-263b-43e2-ab7f-db7ee886b0e2" xmlns:ns3="c3a2110b-ae3e-426d-848d-3155ad29998e" targetNamespace="http://schemas.microsoft.com/office/2006/metadata/properties" ma:root="true" ma:fieldsID="1a3a1fc7835d1b2878e057f6608fc1c3" ns2:_="" ns3:_="">
    <xsd:import namespace="ea6db904-263b-43e2-ab7f-db7ee886b0e2"/>
    <xsd:import namespace="c3a2110b-ae3e-426d-848d-3155ad29998e"/>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6db904-263b-43e2-ab7f-db7ee886b0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画像タグ" ma:readOnly="false" ma:fieldId="{5cf76f15-5ced-4ddc-b409-7134ff3c332f}" ma:taxonomyMulti="true" ma:sspId="3984b59b-ce53-431a-bd0a-b30cdfa1a7f3"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3a2110b-ae3e-426d-848d-3155ad29998e"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d368ebfd-76cc-4ef6-b811-ebbdbf3aaaad}" ma:internalName="TaxCatchAll" ma:showField="CatchAllData" ma:web="c3a2110b-ae3e-426d-848d-3155ad29998e">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3a2110b-ae3e-426d-848d-3155ad29998e" xsi:nil="true"/>
    <lcf76f155ced4ddcb4097134ff3c332f xmlns="ea6db904-263b-43e2-ab7f-db7ee886b0e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5DC0B6B-F68F-4726-BC75-E85C053636C5}"/>
</file>

<file path=customXml/itemProps2.xml><?xml version="1.0" encoding="utf-8"?>
<ds:datastoreItem xmlns:ds="http://schemas.openxmlformats.org/officeDocument/2006/customXml" ds:itemID="{CCEAE051-251F-407E-834D-CA07A374E663}"/>
</file>

<file path=customXml/itemProps3.xml><?xml version="1.0" encoding="utf-8"?>
<ds:datastoreItem xmlns:ds="http://schemas.openxmlformats.org/officeDocument/2006/customXml" ds:itemID="{682C1007-81EF-4E2A-AA5F-CDEA862C2982}"/>
</file>

<file path=docProps/app.xml><?xml version="1.0" encoding="utf-8"?>
<Properties xmlns="http://schemas.openxmlformats.org/officeDocument/2006/extended-properties" xmlns:vt="http://schemas.openxmlformats.org/officeDocument/2006/docPropsVTypes">
  <TotalTime>2279</TotalTime>
  <Words>2124</Words>
  <Application>Microsoft Office PowerPoint</Application>
  <PresentationFormat>ワイド画面</PresentationFormat>
  <Paragraphs>319</Paragraphs>
  <Slides>13</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13</vt:i4>
      </vt:variant>
    </vt:vector>
  </HeadingPairs>
  <TitlesOfParts>
    <vt:vector size="18" baseType="lpstr">
      <vt:lpstr>メイリオ</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神 洋子</dc:creator>
  <cp:lastModifiedBy>神 洋子</cp:lastModifiedBy>
  <cp:revision>232</cp:revision>
  <dcterms:created xsi:type="dcterms:W3CDTF">2022-11-22T01:27:18Z</dcterms:created>
  <dcterms:modified xsi:type="dcterms:W3CDTF">2022-12-01T03:04:40Z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0x0101001586EC5222D8DD4EA9380A9586B0DF37</vt:lpwstr>
  </property>
</Properties>
</file>